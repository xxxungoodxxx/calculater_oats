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2.xml" ContentType="application/vnd.openxmlformats-officedocument.presentationml.tag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4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5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6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7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8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9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4" r:id="rId1"/>
    <p:sldMasterId id="2147483786" r:id="rId2"/>
  </p:sldMasterIdLst>
  <p:notesMasterIdLst>
    <p:notesMasterId r:id="rId19"/>
  </p:notesMasterIdLst>
  <p:handoutMasterIdLst>
    <p:handoutMasterId r:id="rId20"/>
  </p:handoutMasterIdLst>
  <p:sldIdLst>
    <p:sldId id="1066" r:id="rId3"/>
    <p:sldId id="1067" r:id="rId4"/>
    <p:sldId id="1076" r:id="rId5"/>
    <p:sldId id="1073" r:id="rId6"/>
    <p:sldId id="1071" r:id="rId7"/>
    <p:sldId id="1086" r:id="rId8"/>
    <p:sldId id="1087" r:id="rId9"/>
    <p:sldId id="1088" r:id="rId10"/>
    <p:sldId id="1074" r:id="rId11"/>
    <p:sldId id="1078" r:id="rId12"/>
    <p:sldId id="1079" r:id="rId13"/>
    <p:sldId id="1080" r:id="rId14"/>
    <p:sldId id="1082" r:id="rId15"/>
    <p:sldId id="1083" r:id="rId16"/>
    <p:sldId id="1084" r:id="rId17"/>
    <p:sldId id="1085" r:id="rId18"/>
  </p:sldIdLst>
  <p:sldSz cx="11522075" cy="6480175"/>
  <p:notesSz cx="6858000" cy="9144000"/>
  <p:custDataLst>
    <p:tags r:id="rId21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athegory" id="{B7C98238-44AB-EF42-B47C-E38BF1E5A2B1}">
          <p14:sldIdLst>
            <p14:sldId id="1066"/>
            <p14:sldId id="1067"/>
            <p14:sldId id="1076"/>
            <p14:sldId id="1073"/>
            <p14:sldId id="1071"/>
            <p14:sldId id="1086"/>
            <p14:sldId id="1087"/>
            <p14:sldId id="1088"/>
            <p14:sldId id="1074"/>
            <p14:sldId id="1078"/>
            <p14:sldId id="1079"/>
            <p14:sldId id="1080"/>
            <p14:sldId id="1082"/>
            <p14:sldId id="1083"/>
            <p14:sldId id="1084"/>
            <p14:sldId id="10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99" userDrawn="1">
          <p15:clr>
            <a:srgbClr val="A4A3A4"/>
          </p15:clr>
        </p15:guide>
        <p15:guide id="2" orient="horz" pos="3719" userDrawn="1">
          <p15:clr>
            <a:srgbClr val="A4A3A4"/>
          </p15:clr>
        </p15:guide>
        <p15:guide id="3" pos="362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Винокурова Вероника Викторовна" initials="ВВВ" lastIdx="2" clrIdx="0">
    <p:extLst>
      <p:ext uri="{19B8F6BF-5375-455C-9EA6-DF929625EA0E}">
        <p15:presenceInfo xmlns:p15="http://schemas.microsoft.com/office/powerpoint/2012/main" userId="S-1-5-21-1034887424-1308305834-632688529-858355" providerId="AD"/>
      </p:ext>
    </p:extLst>
  </p:cmAuthor>
  <p:cmAuthor id="2" name="Русакова Ольга Геннадьевна" initials="РОГ" lastIdx="3" clrIdx="1">
    <p:extLst>
      <p:ext uri="{19B8F6BF-5375-455C-9EA6-DF929625EA0E}">
        <p15:presenceInfo xmlns:p15="http://schemas.microsoft.com/office/powerpoint/2012/main" userId="S-1-5-21-1034887424-1308305834-632688529-777577" providerId="AD"/>
      </p:ext>
    </p:extLst>
  </p:cmAuthor>
  <p:cmAuthor id="3" name="Чалых Елена Александровна" initials="ЧЕА" lastIdx="3" clrIdx="2">
    <p:extLst>
      <p:ext uri="{19B8F6BF-5375-455C-9EA6-DF929625EA0E}">
        <p15:presenceInfo xmlns:p15="http://schemas.microsoft.com/office/powerpoint/2012/main" userId="S-1-5-21-1034887424-1308305834-632688529-53970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DFF"/>
    <a:srgbClr val="7700FF"/>
    <a:srgbClr val="FD661B"/>
    <a:srgbClr val="E30611"/>
    <a:srgbClr val="000000"/>
    <a:srgbClr val="F3F3F3"/>
    <a:srgbClr val="00AEEF"/>
    <a:srgbClr val="02B956"/>
    <a:srgbClr val="434856"/>
    <a:srgbClr val="E500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Светлый стиль 2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136" autoAdjust="0"/>
    <p:restoredTop sz="93979" autoAdjust="0"/>
  </p:normalViewPr>
  <p:slideViewPr>
    <p:cSldViewPr snapToGrid="0" snapToObjects="1">
      <p:cViewPr varScale="1">
        <p:scale>
          <a:sx n="93" d="100"/>
          <a:sy n="93" d="100"/>
        </p:scale>
        <p:origin x="720" y="67"/>
      </p:cViewPr>
      <p:guideLst>
        <p:guide orient="horz" pos="499"/>
        <p:guide orient="horz" pos="3719"/>
        <p:guide pos="3629"/>
      </p:guideLst>
    </p:cSldViewPr>
  </p:slideViewPr>
  <p:outlineViewPr>
    <p:cViewPr>
      <p:scale>
        <a:sx n="33" d="100"/>
        <a:sy n="33" d="100"/>
      </p:scale>
      <p:origin x="0" y="-146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 showGuides="1">
      <p:cViewPr varScale="1">
        <p:scale>
          <a:sx n="64" d="100"/>
          <a:sy n="64" d="100"/>
        </p:scale>
        <p:origin x="3077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tags" Target="tags/tag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commentAuthors" Target="commentAuthor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23D633E-E06E-4AE4-AF2B-8F4E3EBC60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145BAF-4D81-4B56-9849-EBEFED93F4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368E04-49E3-4A44-B050-955DB03B8849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EABD4E-7DAA-452C-8876-A6FD15FBBB4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DDD148-7325-456E-B206-4D021E8E42E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B94602-C6AE-4B73-B748-62ABF558E36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02764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C2EC30-7318-4140-AB7E-7A453A13E346}" type="datetimeFigureOut">
              <a:rPr lang="ru-RU" smtClean="0"/>
              <a:t>15.06.2026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9DBB27-19F2-BA47-9626-C091B64D84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2192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12109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54595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64367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52102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15943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77362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60071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97023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73021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9DBB27-19F2-BA47-9626-C091B64D8442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081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>
            <a:extLst>
              <a:ext uri="{FF2B5EF4-FFF2-40B4-BE49-F238E27FC236}">
                <a16:creationId xmlns:a16="http://schemas.microsoft.com/office/drawing/2014/main" id="{490C8D43-3FA8-2B48-8312-43A6F346A4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363" y="6150673"/>
            <a:ext cx="1844676" cy="69707"/>
          </a:xfrm>
        </p:spPr>
        <p:txBody>
          <a:bodyPr>
            <a:noAutofit/>
          </a:bodyPr>
          <a:lstStyle>
            <a:lvl1pPr>
              <a:defRPr b="0" i="0">
                <a:latin typeface="+mn-lt"/>
              </a:defRPr>
            </a:lvl1pPr>
          </a:lstStyle>
          <a:p>
            <a:fld id="{E39BC1EF-BDDC-4CA5-BA0E-A682A518AD33}" type="datetime1">
              <a:rPr lang="ru-RU" smtClean="0"/>
              <a:pPr/>
              <a:t>15.06.2026</a:t>
            </a:fld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B3E068-9F85-DF45-908E-1D900384E1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 b="0" i="0"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39E5E1A-065B-BF4C-877F-63197AEC21E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</p:txBody>
      </p:sp>
      <p:sp>
        <p:nvSpPr>
          <p:cNvPr id="7" name="Текст 13">
            <a:extLst>
              <a:ext uri="{FF2B5EF4-FFF2-40B4-BE49-F238E27FC236}">
                <a16:creationId xmlns:a16="http://schemas.microsoft.com/office/drawing/2014/main" id="{CFEB7EF8-C4F7-9342-AA26-FADE6D20E7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363" y="2906311"/>
            <a:ext cx="5761037" cy="57659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800">
                <a:latin typeface="+mn-lt"/>
              </a:defRPr>
            </a:lvl1pPr>
            <a:lvl2pPr marL="457200" indent="0">
              <a:buFontTx/>
              <a:buNone/>
              <a:defRPr sz="1800">
                <a:latin typeface="Beeline Sans V0.3 Regular" pitchFamily="2" charset="0"/>
              </a:defRPr>
            </a:lvl2pPr>
            <a:lvl3pPr marL="914400" indent="0">
              <a:buFontTx/>
              <a:buNone/>
              <a:defRPr sz="1800">
                <a:latin typeface="Beeline Sans V0.3 Regular" pitchFamily="2" charset="0"/>
              </a:defRPr>
            </a:lvl3pPr>
            <a:lvl4pPr marL="1371600" indent="0">
              <a:buFontTx/>
              <a:buNone/>
              <a:defRPr sz="1800">
                <a:latin typeface="Beeline Sans V0.3 Regular" pitchFamily="2" charset="0"/>
              </a:defRPr>
            </a:lvl4pPr>
            <a:lvl5pPr marL="1828800" indent="0">
              <a:buFontTx/>
              <a:buNone/>
              <a:defRPr sz="1800">
                <a:latin typeface="Beeline Sans V0.3 Regular" pitchFamily="2" charset="0"/>
              </a:defRPr>
            </a:lvl5pPr>
          </a:lstStyle>
          <a:p>
            <a:r>
              <a:rPr lang="en-US" dirty="0" err="1"/>
              <a:t>а</a:t>
            </a:r>
            <a:r>
              <a:rPr lang="ru-RU" dirty="0"/>
              <a:t>втор презентации.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18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8" name="Текст 10">
            <a:extLst>
              <a:ext uri="{FF2B5EF4-FFF2-40B4-BE49-F238E27FC236}">
                <a16:creationId xmlns:a16="http://schemas.microsoft.com/office/drawing/2014/main" id="{BF7E606F-094E-D049-BDAC-6D6CB07043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1832251"/>
            <a:ext cx="5761037" cy="57497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800" b="0" i="0">
                <a:latin typeface="+mn-lt"/>
              </a:defRPr>
            </a:lvl1pPr>
            <a:lvl2pPr marL="457200" indent="0">
              <a:buFontTx/>
              <a:buNone/>
              <a:defRPr>
                <a:latin typeface="Beeline Sans V0.3 Regular" pitchFamily="2" charset="0"/>
              </a:defRPr>
            </a:lvl2pPr>
            <a:lvl3pPr marL="914400" indent="0">
              <a:buFontTx/>
              <a:buNone/>
              <a:defRPr>
                <a:latin typeface="Beeline Sans V0.3 Regular" pitchFamily="2" charset="0"/>
              </a:defRPr>
            </a:lvl3pPr>
            <a:lvl4pPr marL="1371600" indent="0">
              <a:buFontTx/>
              <a:buNone/>
              <a:defRPr>
                <a:latin typeface="Beeline Sans V0.3 Regular" pitchFamily="2" charset="0"/>
              </a:defRPr>
            </a:lvl4pPr>
            <a:lvl5pPr marL="1828800" indent="0">
              <a:buFontTx/>
              <a:buNone/>
              <a:defRPr>
                <a:latin typeface="Beeline Sans V0.3 Regular" pitchFamily="2" charset="0"/>
              </a:defRPr>
            </a:lvl5pPr>
          </a:lstStyle>
          <a:p>
            <a:r>
              <a:rPr lang="ru-RU" dirty="0"/>
              <a:t>подзаголовок презентации.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beeline sans. 28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32D3A8B9-4EA7-8442-9EE1-8B6242FDD5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363" y="360363"/>
            <a:ext cx="8640762" cy="1471888"/>
          </a:xfrm>
          <a:ln>
            <a:noFill/>
          </a:ln>
        </p:spPr>
        <p:txBody>
          <a:bodyPr wrap="square" bIns="0" anchor="t">
            <a:noAutofit/>
          </a:bodyPr>
          <a:lstStyle>
            <a:lvl1pPr>
              <a:lnSpc>
                <a:spcPts val="5100"/>
              </a:lnSpc>
              <a:defRPr sz="5100">
                <a:latin typeface="+mn-lt"/>
              </a:defRPr>
            </a:lvl1pPr>
          </a:lstStyle>
          <a:p>
            <a:r>
              <a:rPr lang="en-US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презентации.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51pt</a:t>
            </a:r>
            <a:endParaRPr lang="ru-RU" dirty="0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2F3D450-B9E8-6944-87F3-55709960598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722564" y="4647924"/>
            <a:ext cx="8439149" cy="1216599"/>
            <a:chOff x="-6416384" y="251406"/>
            <a:chExt cx="17747920" cy="2558564"/>
          </a:xfrm>
        </p:grpSpPr>
        <p:grpSp>
          <p:nvGrpSpPr>
            <p:cNvPr id="68" name="Graphic 5">
              <a:extLst>
                <a:ext uri="{FF2B5EF4-FFF2-40B4-BE49-F238E27FC236}">
                  <a16:creationId xmlns:a16="http://schemas.microsoft.com/office/drawing/2014/main" id="{F0435426-4848-AF46-891B-9AAAB785917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016924" y="594048"/>
              <a:ext cx="7314612" cy="1695600"/>
              <a:chOff x="6035237" y="3068380"/>
              <a:chExt cx="1367580" cy="317019"/>
            </a:xfrm>
            <a:solidFill>
              <a:srgbClr val="FFCA05"/>
            </a:solidFill>
          </p:grpSpPr>
          <p:sp>
            <p:nvSpPr>
              <p:cNvPr id="83" name="Freeform 82">
                <a:extLst>
                  <a:ext uri="{FF2B5EF4-FFF2-40B4-BE49-F238E27FC236}">
                    <a16:creationId xmlns:a16="http://schemas.microsoft.com/office/drawing/2014/main" id="{4C9A3E80-BB7B-554E-A38A-7D14FD27DCBE}"/>
                  </a:ext>
                </a:extLst>
              </p:cNvPr>
              <p:cNvSpPr/>
              <p:nvPr/>
            </p:nvSpPr>
            <p:spPr>
              <a:xfrm>
                <a:off x="6035237" y="3068380"/>
                <a:ext cx="217915" cy="317019"/>
              </a:xfrm>
              <a:custGeom>
                <a:avLst/>
                <a:gdLst>
                  <a:gd name="connsiteX0" fmla="*/ 217915 w 217915"/>
                  <a:gd name="connsiteY0" fmla="*/ 205164 h 317020"/>
                  <a:gd name="connsiteX1" fmla="*/ 109433 w 217915"/>
                  <a:gd name="connsiteY1" fmla="*/ 317020 h 317020"/>
                  <a:gd name="connsiteX2" fmla="*/ 0 w 217915"/>
                  <a:gd name="connsiteY2" fmla="*/ 178047 h 317020"/>
                  <a:gd name="connsiteX3" fmla="*/ 102683 w 217915"/>
                  <a:gd name="connsiteY3" fmla="*/ 12899 h 317020"/>
                  <a:gd name="connsiteX4" fmla="*/ 197759 w 217915"/>
                  <a:gd name="connsiteY4" fmla="*/ 0 h 317020"/>
                  <a:gd name="connsiteX5" fmla="*/ 197759 w 217915"/>
                  <a:gd name="connsiteY5" fmla="*/ 47078 h 317020"/>
                  <a:gd name="connsiteX6" fmla="*/ 109908 w 217915"/>
                  <a:gd name="connsiteY6" fmla="*/ 60353 h 317020"/>
                  <a:gd name="connsiteX7" fmla="*/ 45827 w 217915"/>
                  <a:gd name="connsiteY7" fmla="*/ 139820 h 317020"/>
                  <a:gd name="connsiteX8" fmla="*/ 122459 w 217915"/>
                  <a:gd name="connsiteY8" fmla="*/ 100275 h 317020"/>
                  <a:gd name="connsiteX9" fmla="*/ 217915 w 217915"/>
                  <a:gd name="connsiteY9" fmla="*/ 205164 h 317020"/>
                  <a:gd name="connsiteX10" fmla="*/ 47538 w 217915"/>
                  <a:gd name="connsiteY10" fmla="*/ 170044 h 317020"/>
                  <a:gd name="connsiteX11" fmla="*/ 47538 w 217915"/>
                  <a:gd name="connsiteY11" fmla="*/ 194901 h 317020"/>
                  <a:gd name="connsiteX12" fmla="*/ 109433 w 217915"/>
                  <a:gd name="connsiteY12" fmla="*/ 269096 h 317020"/>
                  <a:gd name="connsiteX13" fmla="*/ 172184 w 217915"/>
                  <a:gd name="connsiteY13" fmla="*/ 205164 h 317020"/>
                  <a:gd name="connsiteX14" fmla="*/ 112095 w 217915"/>
                  <a:gd name="connsiteY14" fmla="*/ 145187 h 317020"/>
                  <a:gd name="connsiteX15" fmla="*/ 47538 w 217915"/>
                  <a:gd name="connsiteY15" fmla="*/ 170044 h 317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7915" h="317020">
                    <a:moveTo>
                      <a:pt x="217915" y="205164"/>
                    </a:moveTo>
                    <a:cubicBezTo>
                      <a:pt x="217915" y="270037"/>
                      <a:pt x="177983" y="317020"/>
                      <a:pt x="109433" y="317020"/>
                    </a:cubicBezTo>
                    <a:cubicBezTo>
                      <a:pt x="40883" y="317020"/>
                      <a:pt x="0" y="270414"/>
                      <a:pt x="0" y="178047"/>
                    </a:cubicBezTo>
                    <a:cubicBezTo>
                      <a:pt x="0" y="80314"/>
                      <a:pt x="24245" y="24010"/>
                      <a:pt x="102683" y="12899"/>
                    </a:cubicBezTo>
                    <a:lnTo>
                      <a:pt x="197759" y="0"/>
                    </a:lnTo>
                    <a:lnTo>
                      <a:pt x="197759" y="47078"/>
                    </a:lnTo>
                    <a:lnTo>
                      <a:pt x="109908" y="60353"/>
                    </a:lnTo>
                    <a:cubicBezTo>
                      <a:pt x="63701" y="67415"/>
                      <a:pt x="49820" y="91895"/>
                      <a:pt x="45827" y="139820"/>
                    </a:cubicBezTo>
                    <a:cubicBezTo>
                      <a:pt x="62465" y="113175"/>
                      <a:pt x="89752" y="100275"/>
                      <a:pt x="122459" y="100275"/>
                    </a:cubicBezTo>
                    <a:cubicBezTo>
                      <a:pt x="180265" y="100369"/>
                      <a:pt x="217915" y="140291"/>
                      <a:pt x="217915" y="205164"/>
                    </a:cubicBezTo>
                    <a:close/>
                    <a:moveTo>
                      <a:pt x="47538" y="170044"/>
                    </a:moveTo>
                    <a:lnTo>
                      <a:pt x="47538" y="194901"/>
                    </a:lnTo>
                    <a:cubicBezTo>
                      <a:pt x="47538" y="242450"/>
                      <a:pt x="70357" y="269096"/>
                      <a:pt x="109433" y="269096"/>
                    </a:cubicBezTo>
                    <a:cubicBezTo>
                      <a:pt x="148034" y="269096"/>
                      <a:pt x="172184" y="246027"/>
                      <a:pt x="172184" y="205164"/>
                    </a:cubicBezTo>
                    <a:cubicBezTo>
                      <a:pt x="172184" y="164301"/>
                      <a:pt x="148890" y="145187"/>
                      <a:pt x="112095" y="145187"/>
                    </a:cubicBezTo>
                    <a:cubicBezTo>
                      <a:pt x="84713" y="145187"/>
                      <a:pt x="61419" y="153190"/>
                      <a:pt x="47538" y="170044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4" name="Freeform 83">
                <a:extLst>
                  <a:ext uri="{FF2B5EF4-FFF2-40B4-BE49-F238E27FC236}">
                    <a16:creationId xmlns:a16="http://schemas.microsoft.com/office/drawing/2014/main" id="{E32E5B53-EA87-784B-93FF-50A5E8163790}"/>
                  </a:ext>
                </a:extLst>
              </p:cNvPr>
              <p:cNvSpPr/>
              <p:nvPr/>
            </p:nvSpPr>
            <p:spPr>
              <a:xfrm>
                <a:off x="6295266" y="3163379"/>
                <a:ext cx="184257" cy="217593"/>
              </a:xfrm>
              <a:custGeom>
                <a:avLst/>
                <a:gdLst>
                  <a:gd name="connsiteX0" fmla="*/ 45732 w 184258"/>
                  <a:gd name="connsiteY0" fmla="*/ 143869 h 217592"/>
                  <a:gd name="connsiteX1" fmla="*/ 140808 w 184258"/>
                  <a:gd name="connsiteY1" fmla="*/ 0 h 217592"/>
                  <a:gd name="connsiteX2" fmla="*/ 184258 w 184258"/>
                  <a:gd name="connsiteY2" fmla="*/ 0 h 217592"/>
                  <a:gd name="connsiteX3" fmla="*/ 184258 w 184258"/>
                  <a:gd name="connsiteY3" fmla="*/ 217593 h 217592"/>
                  <a:gd name="connsiteX4" fmla="*/ 139002 w 184258"/>
                  <a:gd name="connsiteY4" fmla="*/ 217593 h 217592"/>
                  <a:gd name="connsiteX5" fmla="*/ 139002 w 184258"/>
                  <a:gd name="connsiteY5" fmla="*/ 71935 h 217592"/>
                  <a:gd name="connsiteX6" fmla="*/ 43450 w 184258"/>
                  <a:gd name="connsiteY6" fmla="*/ 217593 h 217592"/>
                  <a:gd name="connsiteX7" fmla="*/ 0 w 184258"/>
                  <a:gd name="connsiteY7" fmla="*/ 217593 h 217592"/>
                  <a:gd name="connsiteX8" fmla="*/ 0 w 184258"/>
                  <a:gd name="connsiteY8" fmla="*/ 0 h 217592"/>
                  <a:gd name="connsiteX9" fmla="*/ 45732 w 184258"/>
                  <a:gd name="connsiteY9" fmla="*/ 0 h 217592"/>
                  <a:gd name="connsiteX10" fmla="*/ 45732 w 184258"/>
                  <a:gd name="connsiteY10" fmla="*/ 143869 h 217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4258" h="217592">
                    <a:moveTo>
                      <a:pt x="45732" y="143869"/>
                    </a:moveTo>
                    <a:lnTo>
                      <a:pt x="140808" y="0"/>
                    </a:lnTo>
                    <a:lnTo>
                      <a:pt x="184258" y="0"/>
                    </a:lnTo>
                    <a:lnTo>
                      <a:pt x="184258" y="217593"/>
                    </a:lnTo>
                    <a:lnTo>
                      <a:pt x="139002" y="217593"/>
                    </a:lnTo>
                    <a:lnTo>
                      <a:pt x="139002" y="71935"/>
                    </a:lnTo>
                    <a:lnTo>
                      <a:pt x="43450" y="217593"/>
                    </a:lnTo>
                    <a:lnTo>
                      <a:pt x="0" y="217593"/>
                    </a:lnTo>
                    <a:lnTo>
                      <a:pt x="0" y="0"/>
                    </a:lnTo>
                    <a:lnTo>
                      <a:pt x="45732" y="0"/>
                    </a:lnTo>
                    <a:lnTo>
                      <a:pt x="45732" y="143869"/>
                    </a:ln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5" name="Freeform 84">
                <a:extLst>
                  <a:ext uri="{FF2B5EF4-FFF2-40B4-BE49-F238E27FC236}">
                    <a16:creationId xmlns:a16="http://schemas.microsoft.com/office/drawing/2014/main" id="{DB5E05DB-0EF0-C444-B866-637AC7252806}"/>
                  </a:ext>
                </a:extLst>
              </p:cNvPr>
              <p:cNvSpPr/>
              <p:nvPr/>
            </p:nvSpPr>
            <p:spPr>
              <a:xfrm>
                <a:off x="6521649" y="3158861"/>
                <a:ext cx="174845" cy="226444"/>
              </a:xfrm>
              <a:custGeom>
                <a:avLst/>
                <a:gdLst>
                  <a:gd name="connsiteX0" fmla="*/ 131396 w 174845"/>
                  <a:gd name="connsiteY0" fmla="*/ 151966 h 226443"/>
                  <a:gd name="connsiteX1" fmla="*/ 91464 w 174845"/>
                  <a:gd name="connsiteY1" fmla="*/ 124850 h 226443"/>
                  <a:gd name="connsiteX2" fmla="*/ 58282 w 174845"/>
                  <a:gd name="connsiteY2" fmla="*/ 124850 h 226443"/>
                  <a:gd name="connsiteX3" fmla="*/ 58282 w 174845"/>
                  <a:gd name="connsiteY3" fmla="*/ 96415 h 226443"/>
                  <a:gd name="connsiteX4" fmla="*/ 89657 w 174845"/>
                  <a:gd name="connsiteY4" fmla="*/ 96415 h 226443"/>
                  <a:gd name="connsiteX5" fmla="*/ 125501 w 174845"/>
                  <a:gd name="connsiteY5" fmla="*/ 70616 h 226443"/>
                  <a:gd name="connsiteX6" fmla="*/ 86900 w 174845"/>
                  <a:gd name="connsiteY6" fmla="*/ 44818 h 226443"/>
                  <a:gd name="connsiteX7" fmla="*/ 40312 w 174845"/>
                  <a:gd name="connsiteY7" fmla="*/ 74571 h 226443"/>
                  <a:gd name="connsiteX8" fmla="*/ 1331 w 174845"/>
                  <a:gd name="connsiteY8" fmla="*/ 74571 h 226443"/>
                  <a:gd name="connsiteX9" fmla="*/ 88801 w 174845"/>
                  <a:gd name="connsiteY9" fmla="*/ 0 h 226443"/>
                  <a:gd name="connsiteX10" fmla="*/ 168571 w 174845"/>
                  <a:gd name="connsiteY10" fmla="*/ 63084 h 226443"/>
                  <a:gd name="connsiteX11" fmla="*/ 136245 w 174845"/>
                  <a:gd name="connsiteY11" fmla="*/ 107902 h 226443"/>
                  <a:gd name="connsiteX12" fmla="*/ 174846 w 174845"/>
                  <a:gd name="connsiteY12" fmla="*/ 156768 h 226443"/>
                  <a:gd name="connsiteX13" fmla="*/ 87851 w 174845"/>
                  <a:gd name="connsiteY13" fmla="*/ 226443 h 226443"/>
                  <a:gd name="connsiteX14" fmla="*/ 0 w 174845"/>
                  <a:gd name="connsiteY14" fmla="*/ 151402 h 226443"/>
                  <a:gd name="connsiteX15" fmla="*/ 39457 w 174845"/>
                  <a:gd name="connsiteY15" fmla="*/ 151402 h 226443"/>
                  <a:gd name="connsiteX16" fmla="*/ 86044 w 174845"/>
                  <a:gd name="connsiteY16" fmla="*/ 181155 h 226443"/>
                  <a:gd name="connsiteX17" fmla="*/ 131396 w 174845"/>
                  <a:gd name="connsiteY17" fmla="*/ 151966 h 226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74845" h="226443">
                    <a:moveTo>
                      <a:pt x="131396" y="151966"/>
                    </a:moveTo>
                    <a:cubicBezTo>
                      <a:pt x="131396" y="132853"/>
                      <a:pt x="117514" y="124850"/>
                      <a:pt x="91464" y="124850"/>
                    </a:cubicBezTo>
                    <a:lnTo>
                      <a:pt x="58282" y="124850"/>
                    </a:lnTo>
                    <a:lnTo>
                      <a:pt x="58282" y="96415"/>
                    </a:lnTo>
                    <a:lnTo>
                      <a:pt x="89657" y="96415"/>
                    </a:lnTo>
                    <a:cubicBezTo>
                      <a:pt x="113902" y="96415"/>
                      <a:pt x="125501" y="86623"/>
                      <a:pt x="125501" y="70616"/>
                    </a:cubicBezTo>
                    <a:cubicBezTo>
                      <a:pt x="125501" y="53292"/>
                      <a:pt x="112475" y="44818"/>
                      <a:pt x="86900" y="44818"/>
                    </a:cubicBezTo>
                    <a:cubicBezTo>
                      <a:pt x="60469" y="44818"/>
                      <a:pt x="44306" y="54987"/>
                      <a:pt x="40312" y="74571"/>
                    </a:cubicBezTo>
                    <a:lnTo>
                      <a:pt x="1331" y="74571"/>
                    </a:lnTo>
                    <a:cubicBezTo>
                      <a:pt x="6750" y="27964"/>
                      <a:pt x="39457" y="0"/>
                      <a:pt x="88801" y="0"/>
                    </a:cubicBezTo>
                    <a:cubicBezTo>
                      <a:pt x="137195" y="0"/>
                      <a:pt x="168571" y="23068"/>
                      <a:pt x="168571" y="63084"/>
                    </a:cubicBezTo>
                    <a:cubicBezTo>
                      <a:pt x="168571" y="84834"/>
                      <a:pt x="155545" y="102158"/>
                      <a:pt x="136245" y="107902"/>
                    </a:cubicBezTo>
                    <a:cubicBezTo>
                      <a:pt x="159538" y="113269"/>
                      <a:pt x="174846" y="130593"/>
                      <a:pt x="174846" y="156768"/>
                    </a:cubicBezTo>
                    <a:cubicBezTo>
                      <a:pt x="174846" y="202057"/>
                      <a:pt x="137195" y="226443"/>
                      <a:pt x="87851" y="226443"/>
                    </a:cubicBezTo>
                    <a:cubicBezTo>
                      <a:pt x="36699" y="226443"/>
                      <a:pt x="3993" y="200268"/>
                      <a:pt x="0" y="151402"/>
                    </a:cubicBezTo>
                    <a:lnTo>
                      <a:pt x="39457" y="151402"/>
                    </a:lnTo>
                    <a:cubicBezTo>
                      <a:pt x="42594" y="171833"/>
                      <a:pt x="58757" y="181155"/>
                      <a:pt x="86044" y="181155"/>
                    </a:cubicBezTo>
                    <a:cubicBezTo>
                      <a:pt x="113521" y="181249"/>
                      <a:pt x="131396" y="171927"/>
                      <a:pt x="131396" y="151966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6" name="Freeform 85">
                <a:extLst>
                  <a:ext uri="{FF2B5EF4-FFF2-40B4-BE49-F238E27FC236}">
                    <a16:creationId xmlns:a16="http://schemas.microsoft.com/office/drawing/2014/main" id="{EE3A689A-18B2-9446-9B47-F46B5BD468F9}"/>
                  </a:ext>
                </a:extLst>
              </p:cNvPr>
              <p:cNvSpPr/>
              <p:nvPr/>
            </p:nvSpPr>
            <p:spPr>
              <a:xfrm>
                <a:off x="6738233" y="3163381"/>
                <a:ext cx="181596" cy="217593"/>
              </a:xfrm>
              <a:custGeom>
                <a:avLst/>
                <a:gdLst>
                  <a:gd name="connsiteX0" fmla="*/ 135864 w 181596"/>
                  <a:gd name="connsiteY0" fmla="*/ 128804 h 217592"/>
                  <a:gd name="connsiteX1" fmla="*/ 45732 w 181596"/>
                  <a:gd name="connsiteY1" fmla="*/ 128804 h 217592"/>
                  <a:gd name="connsiteX2" fmla="*/ 45732 w 181596"/>
                  <a:gd name="connsiteY2" fmla="*/ 217593 h 217592"/>
                  <a:gd name="connsiteX3" fmla="*/ 0 w 181596"/>
                  <a:gd name="connsiteY3" fmla="*/ 217593 h 217592"/>
                  <a:gd name="connsiteX4" fmla="*/ 0 w 181596"/>
                  <a:gd name="connsiteY4" fmla="*/ 0 h 217592"/>
                  <a:gd name="connsiteX5" fmla="*/ 45732 w 181596"/>
                  <a:gd name="connsiteY5" fmla="*/ 0 h 217592"/>
                  <a:gd name="connsiteX6" fmla="*/ 45732 w 181596"/>
                  <a:gd name="connsiteY6" fmla="*/ 82103 h 217592"/>
                  <a:gd name="connsiteX7" fmla="*/ 135864 w 181596"/>
                  <a:gd name="connsiteY7" fmla="*/ 82103 h 217592"/>
                  <a:gd name="connsiteX8" fmla="*/ 135864 w 181596"/>
                  <a:gd name="connsiteY8" fmla="*/ 0 h 217592"/>
                  <a:gd name="connsiteX9" fmla="*/ 181596 w 181596"/>
                  <a:gd name="connsiteY9" fmla="*/ 0 h 217592"/>
                  <a:gd name="connsiteX10" fmla="*/ 181596 w 181596"/>
                  <a:gd name="connsiteY10" fmla="*/ 217593 h 217592"/>
                  <a:gd name="connsiteX11" fmla="*/ 135864 w 181596"/>
                  <a:gd name="connsiteY11" fmla="*/ 217593 h 217592"/>
                  <a:gd name="connsiteX12" fmla="*/ 135864 w 181596"/>
                  <a:gd name="connsiteY12" fmla="*/ 128804 h 217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81596" h="217592">
                    <a:moveTo>
                      <a:pt x="135864" y="128804"/>
                    </a:moveTo>
                    <a:lnTo>
                      <a:pt x="45732" y="128804"/>
                    </a:lnTo>
                    <a:lnTo>
                      <a:pt x="45732" y="217593"/>
                    </a:lnTo>
                    <a:lnTo>
                      <a:pt x="0" y="217593"/>
                    </a:lnTo>
                    <a:lnTo>
                      <a:pt x="0" y="0"/>
                    </a:lnTo>
                    <a:lnTo>
                      <a:pt x="45732" y="0"/>
                    </a:lnTo>
                    <a:lnTo>
                      <a:pt x="45732" y="82103"/>
                    </a:lnTo>
                    <a:lnTo>
                      <a:pt x="135864" y="82103"/>
                    </a:lnTo>
                    <a:lnTo>
                      <a:pt x="135864" y="0"/>
                    </a:lnTo>
                    <a:lnTo>
                      <a:pt x="181596" y="0"/>
                    </a:lnTo>
                    <a:lnTo>
                      <a:pt x="181596" y="217593"/>
                    </a:lnTo>
                    <a:lnTo>
                      <a:pt x="135864" y="217593"/>
                    </a:lnTo>
                    <a:lnTo>
                      <a:pt x="135864" y="128804"/>
                    </a:ln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7" name="Freeform 86">
                <a:extLst>
                  <a:ext uri="{FF2B5EF4-FFF2-40B4-BE49-F238E27FC236}">
                    <a16:creationId xmlns:a16="http://schemas.microsoft.com/office/drawing/2014/main" id="{8BBC58B4-7C2D-814D-B1F6-FECD1CD870FB}"/>
                  </a:ext>
                </a:extLst>
              </p:cNvPr>
              <p:cNvSpPr/>
              <p:nvPr/>
            </p:nvSpPr>
            <p:spPr>
              <a:xfrm>
                <a:off x="6962043" y="3158861"/>
                <a:ext cx="208502" cy="226536"/>
              </a:xfrm>
              <a:custGeom>
                <a:avLst/>
                <a:gdLst>
                  <a:gd name="connsiteX0" fmla="*/ 104014 w 208502"/>
                  <a:gd name="connsiteY0" fmla="*/ 226537 h 226537"/>
                  <a:gd name="connsiteX1" fmla="*/ 0 w 208502"/>
                  <a:gd name="connsiteY1" fmla="*/ 113269 h 226537"/>
                  <a:gd name="connsiteX2" fmla="*/ 104964 w 208502"/>
                  <a:gd name="connsiteY2" fmla="*/ 0 h 226537"/>
                  <a:gd name="connsiteX3" fmla="*/ 208503 w 208502"/>
                  <a:gd name="connsiteY3" fmla="*/ 114963 h 226537"/>
                  <a:gd name="connsiteX4" fmla="*/ 208027 w 208502"/>
                  <a:gd name="connsiteY4" fmla="*/ 124285 h 226537"/>
                  <a:gd name="connsiteX5" fmla="*/ 45256 w 208502"/>
                  <a:gd name="connsiteY5" fmla="*/ 124285 h 226537"/>
                  <a:gd name="connsiteX6" fmla="*/ 104869 w 208502"/>
                  <a:gd name="connsiteY6" fmla="*/ 181531 h 226537"/>
                  <a:gd name="connsiteX7" fmla="*/ 162296 w 208502"/>
                  <a:gd name="connsiteY7" fmla="*/ 152626 h 226537"/>
                  <a:gd name="connsiteX8" fmla="*/ 203559 w 208502"/>
                  <a:gd name="connsiteY8" fmla="*/ 152626 h 226537"/>
                  <a:gd name="connsiteX9" fmla="*/ 104014 w 208502"/>
                  <a:gd name="connsiteY9" fmla="*/ 226537 h 226537"/>
                  <a:gd name="connsiteX10" fmla="*/ 46207 w 208502"/>
                  <a:gd name="connsiteY10" fmla="*/ 94626 h 226537"/>
                  <a:gd name="connsiteX11" fmla="*/ 162771 w 208502"/>
                  <a:gd name="connsiteY11" fmla="*/ 94626 h 226537"/>
                  <a:gd name="connsiteX12" fmla="*/ 104964 w 208502"/>
                  <a:gd name="connsiteY12" fmla="*/ 44912 h 226537"/>
                  <a:gd name="connsiteX13" fmla="*/ 46207 w 208502"/>
                  <a:gd name="connsiteY13" fmla="*/ 94626 h 226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02" h="226537">
                    <a:moveTo>
                      <a:pt x="104014" y="226537"/>
                    </a:moveTo>
                    <a:cubicBezTo>
                      <a:pt x="42594" y="226537"/>
                      <a:pt x="0" y="178612"/>
                      <a:pt x="0" y="113269"/>
                    </a:cubicBezTo>
                    <a:cubicBezTo>
                      <a:pt x="0" y="47925"/>
                      <a:pt x="43070" y="0"/>
                      <a:pt x="104964" y="0"/>
                    </a:cubicBezTo>
                    <a:cubicBezTo>
                      <a:pt x="166859" y="0"/>
                      <a:pt x="208503" y="46136"/>
                      <a:pt x="208503" y="114963"/>
                    </a:cubicBezTo>
                    <a:cubicBezTo>
                      <a:pt x="208503" y="116752"/>
                      <a:pt x="208027" y="122496"/>
                      <a:pt x="208027" y="124285"/>
                    </a:cubicBezTo>
                    <a:lnTo>
                      <a:pt x="45256" y="124285"/>
                    </a:lnTo>
                    <a:cubicBezTo>
                      <a:pt x="48869" y="160252"/>
                      <a:pt x="71307" y="181531"/>
                      <a:pt x="104869" y="181531"/>
                    </a:cubicBezTo>
                    <a:cubicBezTo>
                      <a:pt x="135389" y="181531"/>
                      <a:pt x="153739" y="169950"/>
                      <a:pt x="162296" y="152626"/>
                    </a:cubicBezTo>
                    <a:lnTo>
                      <a:pt x="203559" y="152626"/>
                    </a:lnTo>
                    <a:cubicBezTo>
                      <a:pt x="194146" y="192830"/>
                      <a:pt x="163627" y="226537"/>
                      <a:pt x="104014" y="226537"/>
                    </a:cubicBezTo>
                    <a:close/>
                    <a:moveTo>
                      <a:pt x="46207" y="94626"/>
                    </a:moveTo>
                    <a:lnTo>
                      <a:pt x="162771" y="94626"/>
                    </a:lnTo>
                    <a:cubicBezTo>
                      <a:pt x="158302" y="65344"/>
                      <a:pt x="139002" y="44912"/>
                      <a:pt x="104964" y="44912"/>
                    </a:cubicBezTo>
                    <a:cubicBezTo>
                      <a:pt x="73114" y="44912"/>
                      <a:pt x="52007" y="63178"/>
                      <a:pt x="46207" y="94626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98E22A7C-2AA6-3A44-BE54-51435D5ECFE5}"/>
                  </a:ext>
                </a:extLst>
              </p:cNvPr>
              <p:cNvSpPr/>
              <p:nvPr/>
            </p:nvSpPr>
            <p:spPr>
              <a:xfrm>
                <a:off x="7198783" y="3158861"/>
                <a:ext cx="204034" cy="226444"/>
              </a:xfrm>
              <a:custGeom>
                <a:avLst/>
                <a:gdLst>
                  <a:gd name="connsiteX0" fmla="*/ 204034 w 204034"/>
                  <a:gd name="connsiteY0" fmla="*/ 79844 h 226443"/>
                  <a:gd name="connsiteX1" fmla="*/ 163246 w 204034"/>
                  <a:gd name="connsiteY1" fmla="*/ 79844 h 226443"/>
                  <a:gd name="connsiteX2" fmla="*/ 106295 w 204034"/>
                  <a:gd name="connsiteY2" fmla="*/ 48773 h 226443"/>
                  <a:gd name="connsiteX3" fmla="*/ 45732 w 204034"/>
                  <a:gd name="connsiteY3" fmla="*/ 112704 h 226443"/>
                  <a:gd name="connsiteX4" fmla="*/ 106295 w 204034"/>
                  <a:gd name="connsiteY4" fmla="*/ 177577 h 226443"/>
                  <a:gd name="connsiteX5" fmla="*/ 163246 w 204034"/>
                  <a:gd name="connsiteY5" fmla="*/ 146976 h 226443"/>
                  <a:gd name="connsiteX6" fmla="*/ 204034 w 204034"/>
                  <a:gd name="connsiteY6" fmla="*/ 146976 h 226443"/>
                  <a:gd name="connsiteX7" fmla="*/ 105820 w 204034"/>
                  <a:gd name="connsiteY7" fmla="*/ 226443 h 226443"/>
                  <a:gd name="connsiteX8" fmla="*/ 0 w 204034"/>
                  <a:gd name="connsiteY8" fmla="*/ 112798 h 226443"/>
                  <a:gd name="connsiteX9" fmla="*/ 105820 w 204034"/>
                  <a:gd name="connsiteY9" fmla="*/ 0 h 226443"/>
                  <a:gd name="connsiteX10" fmla="*/ 204034 w 204034"/>
                  <a:gd name="connsiteY10" fmla="*/ 79844 h 226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04034" h="226443">
                    <a:moveTo>
                      <a:pt x="204034" y="79844"/>
                    </a:moveTo>
                    <a:lnTo>
                      <a:pt x="163246" y="79844"/>
                    </a:lnTo>
                    <a:cubicBezTo>
                      <a:pt x="157447" y="61201"/>
                      <a:pt x="139477" y="48773"/>
                      <a:pt x="106295" y="48773"/>
                    </a:cubicBezTo>
                    <a:cubicBezTo>
                      <a:pt x="68645" y="48773"/>
                      <a:pt x="45732" y="74948"/>
                      <a:pt x="45732" y="112704"/>
                    </a:cubicBezTo>
                    <a:cubicBezTo>
                      <a:pt x="45732" y="150931"/>
                      <a:pt x="68645" y="177577"/>
                      <a:pt x="106295" y="177577"/>
                    </a:cubicBezTo>
                    <a:cubicBezTo>
                      <a:pt x="139477" y="177577"/>
                      <a:pt x="157447" y="164678"/>
                      <a:pt x="163246" y="146976"/>
                    </a:cubicBezTo>
                    <a:lnTo>
                      <a:pt x="204034" y="146976"/>
                    </a:lnTo>
                    <a:cubicBezTo>
                      <a:pt x="195097" y="195843"/>
                      <a:pt x="159158" y="226443"/>
                      <a:pt x="105820" y="226443"/>
                    </a:cubicBezTo>
                    <a:cubicBezTo>
                      <a:pt x="40788" y="226443"/>
                      <a:pt x="0" y="176729"/>
                      <a:pt x="0" y="112798"/>
                    </a:cubicBezTo>
                    <a:cubicBezTo>
                      <a:pt x="0" y="49338"/>
                      <a:pt x="40788" y="0"/>
                      <a:pt x="105820" y="0"/>
                    </a:cubicBezTo>
                    <a:cubicBezTo>
                      <a:pt x="159158" y="-94"/>
                      <a:pt x="195002" y="30977"/>
                      <a:pt x="204034" y="79844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</p:grpSp>
        <p:grpSp>
          <p:nvGrpSpPr>
            <p:cNvPr id="69" name="Graphic 6">
              <a:extLst>
                <a:ext uri="{FF2B5EF4-FFF2-40B4-BE49-F238E27FC236}">
                  <a16:creationId xmlns:a16="http://schemas.microsoft.com/office/drawing/2014/main" id="{F23036CE-4FF0-3548-B4BA-3B6EAEF0FBA0}"/>
                </a:ext>
              </a:extLst>
            </p:cNvPr>
            <p:cNvGrpSpPr/>
            <p:nvPr/>
          </p:nvGrpSpPr>
          <p:grpSpPr>
            <a:xfrm>
              <a:off x="-3634402" y="594048"/>
              <a:ext cx="7151384" cy="1695600"/>
              <a:chOff x="5858663" y="539363"/>
              <a:chExt cx="3733569" cy="884382"/>
            </a:xfrm>
            <a:solidFill>
              <a:srgbClr val="000000"/>
            </a:solidFill>
          </p:grpSpPr>
          <p:sp>
            <p:nvSpPr>
              <p:cNvPr id="76" name="Freeform 75">
                <a:extLst>
                  <a:ext uri="{FF2B5EF4-FFF2-40B4-BE49-F238E27FC236}">
                    <a16:creationId xmlns:a16="http://schemas.microsoft.com/office/drawing/2014/main" id="{383B7E16-9E3F-284C-83CD-3ED923278251}"/>
                  </a:ext>
                </a:extLst>
              </p:cNvPr>
              <p:cNvSpPr/>
              <p:nvPr/>
            </p:nvSpPr>
            <p:spPr>
              <a:xfrm>
                <a:off x="8518665" y="593100"/>
                <a:ext cx="368031" cy="166148"/>
              </a:xfrm>
              <a:custGeom>
                <a:avLst/>
                <a:gdLst>
                  <a:gd name="connsiteX0" fmla="*/ 184777 w 368031"/>
                  <a:gd name="connsiteY0" fmla="*/ 166148 h 166148"/>
                  <a:gd name="connsiteX1" fmla="*/ 368032 w 368031"/>
                  <a:gd name="connsiteY1" fmla="*/ 0 h 166148"/>
                  <a:gd name="connsiteX2" fmla="*/ 270556 w 368031"/>
                  <a:gd name="connsiteY2" fmla="*/ 0 h 166148"/>
                  <a:gd name="connsiteX3" fmla="*/ 184872 w 368031"/>
                  <a:gd name="connsiteY3" fmla="*/ 60383 h 166148"/>
                  <a:gd name="connsiteX4" fmla="*/ 97476 w 368031"/>
                  <a:gd name="connsiteY4" fmla="*/ 0 h 166148"/>
                  <a:gd name="connsiteX5" fmla="*/ 0 w 368031"/>
                  <a:gd name="connsiteY5" fmla="*/ 0 h 166148"/>
                  <a:gd name="connsiteX6" fmla="*/ 184777 w 368031"/>
                  <a:gd name="connsiteY6" fmla="*/ 166148 h 166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68031" h="166148">
                    <a:moveTo>
                      <a:pt x="184777" y="166148"/>
                    </a:moveTo>
                    <a:cubicBezTo>
                      <a:pt x="283964" y="166148"/>
                      <a:pt x="354527" y="114120"/>
                      <a:pt x="368032" y="0"/>
                    </a:cubicBezTo>
                    <a:lnTo>
                      <a:pt x="270556" y="0"/>
                    </a:lnTo>
                    <a:cubicBezTo>
                      <a:pt x="260475" y="40255"/>
                      <a:pt x="236891" y="60383"/>
                      <a:pt x="184872" y="60383"/>
                    </a:cubicBezTo>
                    <a:cubicBezTo>
                      <a:pt x="132758" y="60383"/>
                      <a:pt x="105845" y="40255"/>
                      <a:pt x="97476" y="0"/>
                    </a:cubicBezTo>
                    <a:lnTo>
                      <a:pt x="0" y="0"/>
                    </a:lnTo>
                    <a:cubicBezTo>
                      <a:pt x="13314" y="114120"/>
                      <a:pt x="85589" y="166148"/>
                      <a:pt x="184777" y="166148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77" name="Freeform 76">
                <a:extLst>
                  <a:ext uri="{FF2B5EF4-FFF2-40B4-BE49-F238E27FC236}">
                    <a16:creationId xmlns:a16="http://schemas.microsoft.com/office/drawing/2014/main" id="{974ED7F9-8BF8-7D4C-838B-31CA890B1803}"/>
                  </a:ext>
                </a:extLst>
              </p:cNvPr>
              <p:cNvSpPr/>
              <p:nvPr/>
            </p:nvSpPr>
            <p:spPr>
              <a:xfrm>
                <a:off x="6579415" y="811276"/>
                <a:ext cx="497555" cy="600791"/>
              </a:xfrm>
              <a:custGeom>
                <a:avLst/>
                <a:gdLst>
                  <a:gd name="connsiteX0" fmla="*/ 122677 w 497555"/>
                  <a:gd name="connsiteY0" fmla="*/ 412142 h 600791"/>
                  <a:gd name="connsiteX1" fmla="*/ 122677 w 497555"/>
                  <a:gd name="connsiteY1" fmla="*/ 0 h 600791"/>
                  <a:gd name="connsiteX2" fmla="*/ 0 w 497555"/>
                  <a:gd name="connsiteY2" fmla="*/ 0 h 600791"/>
                  <a:gd name="connsiteX3" fmla="*/ 0 w 497555"/>
                  <a:gd name="connsiteY3" fmla="*/ 600791 h 600791"/>
                  <a:gd name="connsiteX4" fmla="*/ 127813 w 497555"/>
                  <a:gd name="connsiteY4" fmla="*/ 600791 h 600791"/>
                  <a:gd name="connsiteX5" fmla="*/ 374878 w 497555"/>
                  <a:gd name="connsiteY5" fmla="*/ 181719 h 600791"/>
                  <a:gd name="connsiteX6" fmla="*/ 374878 w 497555"/>
                  <a:gd name="connsiteY6" fmla="*/ 600791 h 600791"/>
                  <a:gd name="connsiteX7" fmla="*/ 497556 w 497555"/>
                  <a:gd name="connsiteY7" fmla="*/ 600791 h 600791"/>
                  <a:gd name="connsiteX8" fmla="*/ 497556 w 497555"/>
                  <a:gd name="connsiteY8" fmla="*/ 0 h 600791"/>
                  <a:gd name="connsiteX9" fmla="*/ 369838 w 497555"/>
                  <a:gd name="connsiteY9" fmla="*/ 0 h 600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555" h="600791">
                    <a:moveTo>
                      <a:pt x="122677" y="412142"/>
                    </a:moveTo>
                    <a:lnTo>
                      <a:pt x="122677" y="0"/>
                    </a:lnTo>
                    <a:lnTo>
                      <a:pt x="0" y="0"/>
                    </a:lnTo>
                    <a:lnTo>
                      <a:pt x="0" y="600791"/>
                    </a:lnTo>
                    <a:lnTo>
                      <a:pt x="127813" y="600791"/>
                    </a:lnTo>
                    <a:lnTo>
                      <a:pt x="374878" y="181719"/>
                    </a:lnTo>
                    <a:lnTo>
                      <a:pt x="374878" y="600791"/>
                    </a:lnTo>
                    <a:lnTo>
                      <a:pt x="497556" y="600791"/>
                    </a:lnTo>
                    <a:lnTo>
                      <a:pt x="497556" y="0"/>
                    </a:lnTo>
                    <a:lnTo>
                      <a:pt x="36983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78" name="Freeform 77">
                <a:extLst>
                  <a:ext uri="{FF2B5EF4-FFF2-40B4-BE49-F238E27FC236}">
                    <a16:creationId xmlns:a16="http://schemas.microsoft.com/office/drawing/2014/main" id="{F38D6EFE-7407-9A4A-BD3B-AD5CE7A338E1}"/>
                  </a:ext>
                </a:extLst>
              </p:cNvPr>
              <p:cNvSpPr/>
              <p:nvPr/>
            </p:nvSpPr>
            <p:spPr>
              <a:xfrm>
                <a:off x="5858663" y="539363"/>
                <a:ext cx="598455" cy="884382"/>
              </a:xfrm>
              <a:custGeom>
                <a:avLst/>
                <a:gdLst>
                  <a:gd name="connsiteX0" fmla="*/ 334557 w 598455"/>
                  <a:gd name="connsiteY0" fmla="*/ 276945 h 884382"/>
                  <a:gd name="connsiteX1" fmla="*/ 111551 w 598455"/>
                  <a:gd name="connsiteY1" fmla="*/ 406066 h 884382"/>
                  <a:gd name="connsiteX2" fmla="*/ 302604 w 598455"/>
                  <a:gd name="connsiteY2" fmla="*/ 167857 h 884382"/>
                  <a:gd name="connsiteX3" fmla="*/ 548053 w 598455"/>
                  <a:gd name="connsiteY3" fmla="*/ 134248 h 884382"/>
                  <a:gd name="connsiteX4" fmla="*/ 537973 w 598455"/>
                  <a:gd name="connsiteY4" fmla="*/ 0 h 884382"/>
                  <a:gd name="connsiteX5" fmla="*/ 282443 w 598455"/>
                  <a:gd name="connsiteY5" fmla="*/ 35223 h 884382"/>
                  <a:gd name="connsiteX6" fmla="*/ 0 w 598455"/>
                  <a:gd name="connsiteY6" fmla="*/ 501767 h 884382"/>
                  <a:gd name="connsiteX7" fmla="*/ 302604 w 598455"/>
                  <a:gd name="connsiteY7" fmla="*/ 884382 h 884382"/>
                  <a:gd name="connsiteX8" fmla="*/ 598455 w 598455"/>
                  <a:gd name="connsiteY8" fmla="*/ 563859 h 884382"/>
                  <a:gd name="connsiteX9" fmla="*/ 334557 w 598455"/>
                  <a:gd name="connsiteY9" fmla="*/ 276945 h 884382"/>
                  <a:gd name="connsiteX10" fmla="*/ 302604 w 598455"/>
                  <a:gd name="connsiteY10" fmla="*/ 751844 h 884382"/>
                  <a:gd name="connsiteX11" fmla="*/ 126101 w 598455"/>
                  <a:gd name="connsiteY11" fmla="*/ 550472 h 884382"/>
                  <a:gd name="connsiteX12" fmla="*/ 126101 w 598455"/>
                  <a:gd name="connsiteY12" fmla="*/ 488380 h 884382"/>
                  <a:gd name="connsiteX13" fmla="*/ 302604 w 598455"/>
                  <a:gd name="connsiteY13" fmla="*/ 404452 h 884382"/>
                  <a:gd name="connsiteX14" fmla="*/ 472355 w 598455"/>
                  <a:gd name="connsiteY14" fmla="*/ 563859 h 884382"/>
                  <a:gd name="connsiteX15" fmla="*/ 302604 w 598455"/>
                  <a:gd name="connsiteY15" fmla="*/ 751844 h 884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98455" h="884382">
                    <a:moveTo>
                      <a:pt x="334557" y="276945"/>
                    </a:moveTo>
                    <a:cubicBezTo>
                      <a:pt x="237366" y="276945"/>
                      <a:pt x="154440" y="322137"/>
                      <a:pt x="111551" y="406066"/>
                    </a:cubicBezTo>
                    <a:cubicBezTo>
                      <a:pt x="117637" y="269919"/>
                      <a:pt x="144740" y="188934"/>
                      <a:pt x="302604" y="167857"/>
                    </a:cubicBezTo>
                    <a:lnTo>
                      <a:pt x="548053" y="134248"/>
                    </a:lnTo>
                    <a:lnTo>
                      <a:pt x="537973" y="0"/>
                    </a:lnTo>
                    <a:lnTo>
                      <a:pt x="282443" y="35223"/>
                    </a:lnTo>
                    <a:cubicBezTo>
                      <a:pt x="62194" y="65415"/>
                      <a:pt x="0" y="234981"/>
                      <a:pt x="0" y="501767"/>
                    </a:cubicBezTo>
                    <a:cubicBezTo>
                      <a:pt x="0" y="735039"/>
                      <a:pt x="105940" y="884382"/>
                      <a:pt x="302604" y="884382"/>
                    </a:cubicBezTo>
                    <a:cubicBezTo>
                      <a:pt x="494227" y="884382"/>
                      <a:pt x="598455" y="736653"/>
                      <a:pt x="598455" y="563859"/>
                    </a:cubicBezTo>
                    <a:cubicBezTo>
                      <a:pt x="598455" y="391065"/>
                      <a:pt x="482530" y="276945"/>
                      <a:pt x="334557" y="276945"/>
                    </a:cubicBezTo>
                    <a:close/>
                    <a:moveTo>
                      <a:pt x="302604" y="751844"/>
                    </a:moveTo>
                    <a:cubicBezTo>
                      <a:pt x="191624" y="751844"/>
                      <a:pt x="126101" y="671333"/>
                      <a:pt x="126101" y="550472"/>
                    </a:cubicBezTo>
                    <a:lnTo>
                      <a:pt x="126101" y="488380"/>
                    </a:lnTo>
                    <a:cubicBezTo>
                      <a:pt x="149590" y="441384"/>
                      <a:pt x="211880" y="404452"/>
                      <a:pt x="302604" y="404452"/>
                    </a:cubicBezTo>
                    <a:cubicBezTo>
                      <a:pt x="398463" y="404452"/>
                      <a:pt x="472355" y="449739"/>
                      <a:pt x="472355" y="563859"/>
                    </a:cubicBezTo>
                    <a:cubicBezTo>
                      <a:pt x="472355" y="677979"/>
                      <a:pt x="413584" y="751844"/>
                      <a:pt x="302604" y="751844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 dirty="0"/>
              </a:p>
            </p:txBody>
          </p:sp>
          <p:sp>
            <p:nvSpPr>
              <p:cNvPr id="79" name="Freeform 78">
                <a:extLst>
                  <a:ext uri="{FF2B5EF4-FFF2-40B4-BE49-F238E27FC236}">
                    <a16:creationId xmlns:a16="http://schemas.microsoft.com/office/drawing/2014/main" id="{859F9D79-617F-DE43-A671-B69A7D619320}"/>
                  </a:ext>
                </a:extLst>
              </p:cNvPr>
              <p:cNvSpPr/>
              <p:nvPr/>
            </p:nvSpPr>
            <p:spPr>
              <a:xfrm>
                <a:off x="9108086" y="811276"/>
                <a:ext cx="484146" cy="600791"/>
              </a:xfrm>
              <a:custGeom>
                <a:avLst/>
                <a:gdLst>
                  <a:gd name="connsiteX0" fmla="*/ 361375 w 484146"/>
                  <a:gd name="connsiteY0" fmla="*/ 0 h 600791"/>
                  <a:gd name="connsiteX1" fmla="*/ 361375 w 484146"/>
                  <a:gd name="connsiteY1" fmla="*/ 224822 h 600791"/>
                  <a:gd name="connsiteX2" fmla="*/ 122677 w 484146"/>
                  <a:gd name="connsiteY2" fmla="*/ 224822 h 600791"/>
                  <a:gd name="connsiteX3" fmla="*/ 122677 w 484146"/>
                  <a:gd name="connsiteY3" fmla="*/ 0 h 600791"/>
                  <a:gd name="connsiteX4" fmla="*/ 0 w 484146"/>
                  <a:gd name="connsiteY4" fmla="*/ 0 h 600791"/>
                  <a:gd name="connsiteX5" fmla="*/ 0 w 484146"/>
                  <a:gd name="connsiteY5" fmla="*/ 600791 h 600791"/>
                  <a:gd name="connsiteX6" fmla="*/ 122677 w 484146"/>
                  <a:gd name="connsiteY6" fmla="*/ 600791 h 600791"/>
                  <a:gd name="connsiteX7" fmla="*/ 122677 w 484146"/>
                  <a:gd name="connsiteY7" fmla="*/ 349006 h 600791"/>
                  <a:gd name="connsiteX8" fmla="*/ 361375 w 484146"/>
                  <a:gd name="connsiteY8" fmla="*/ 349006 h 600791"/>
                  <a:gd name="connsiteX9" fmla="*/ 361375 w 484146"/>
                  <a:gd name="connsiteY9" fmla="*/ 600791 h 600791"/>
                  <a:gd name="connsiteX10" fmla="*/ 484147 w 484146"/>
                  <a:gd name="connsiteY10" fmla="*/ 600791 h 600791"/>
                  <a:gd name="connsiteX11" fmla="*/ 484147 w 484146"/>
                  <a:gd name="connsiteY11" fmla="*/ 0 h 600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84146" h="600791">
                    <a:moveTo>
                      <a:pt x="361375" y="0"/>
                    </a:moveTo>
                    <a:lnTo>
                      <a:pt x="361375" y="224822"/>
                    </a:lnTo>
                    <a:lnTo>
                      <a:pt x="122677" y="224822"/>
                    </a:lnTo>
                    <a:lnTo>
                      <a:pt x="122677" y="0"/>
                    </a:lnTo>
                    <a:lnTo>
                      <a:pt x="0" y="0"/>
                    </a:lnTo>
                    <a:lnTo>
                      <a:pt x="0" y="600791"/>
                    </a:lnTo>
                    <a:lnTo>
                      <a:pt x="122677" y="600791"/>
                    </a:lnTo>
                    <a:lnTo>
                      <a:pt x="122677" y="349006"/>
                    </a:lnTo>
                    <a:lnTo>
                      <a:pt x="361375" y="349006"/>
                    </a:lnTo>
                    <a:lnTo>
                      <a:pt x="361375" y="600791"/>
                    </a:lnTo>
                    <a:lnTo>
                      <a:pt x="484147" y="600791"/>
                    </a:lnTo>
                    <a:lnTo>
                      <a:pt x="48414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B0DCF078-FD2B-FB4C-A092-1AA13A6D3343}"/>
                  </a:ext>
                </a:extLst>
              </p:cNvPr>
              <p:cNvSpPr/>
              <p:nvPr/>
            </p:nvSpPr>
            <p:spPr>
              <a:xfrm>
                <a:off x="8456280" y="811276"/>
                <a:ext cx="497555" cy="600791"/>
              </a:xfrm>
              <a:custGeom>
                <a:avLst/>
                <a:gdLst>
                  <a:gd name="connsiteX0" fmla="*/ 122772 w 497555"/>
                  <a:gd name="connsiteY0" fmla="*/ 412142 h 600791"/>
                  <a:gd name="connsiteX1" fmla="*/ 122772 w 497555"/>
                  <a:gd name="connsiteY1" fmla="*/ 0 h 600791"/>
                  <a:gd name="connsiteX2" fmla="*/ 0 w 497555"/>
                  <a:gd name="connsiteY2" fmla="*/ 0 h 600791"/>
                  <a:gd name="connsiteX3" fmla="*/ 0 w 497555"/>
                  <a:gd name="connsiteY3" fmla="*/ 600791 h 600791"/>
                  <a:gd name="connsiteX4" fmla="*/ 127813 w 497555"/>
                  <a:gd name="connsiteY4" fmla="*/ 600791 h 600791"/>
                  <a:gd name="connsiteX5" fmla="*/ 374879 w 497555"/>
                  <a:gd name="connsiteY5" fmla="*/ 181719 h 600791"/>
                  <a:gd name="connsiteX6" fmla="*/ 374879 w 497555"/>
                  <a:gd name="connsiteY6" fmla="*/ 600791 h 600791"/>
                  <a:gd name="connsiteX7" fmla="*/ 497556 w 497555"/>
                  <a:gd name="connsiteY7" fmla="*/ 600791 h 600791"/>
                  <a:gd name="connsiteX8" fmla="*/ 497556 w 497555"/>
                  <a:gd name="connsiteY8" fmla="*/ 0 h 600791"/>
                  <a:gd name="connsiteX9" fmla="*/ 369838 w 497555"/>
                  <a:gd name="connsiteY9" fmla="*/ 0 h 600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555" h="600791">
                    <a:moveTo>
                      <a:pt x="122772" y="412142"/>
                    </a:moveTo>
                    <a:lnTo>
                      <a:pt x="122772" y="0"/>
                    </a:lnTo>
                    <a:lnTo>
                      <a:pt x="0" y="0"/>
                    </a:lnTo>
                    <a:lnTo>
                      <a:pt x="0" y="600791"/>
                    </a:lnTo>
                    <a:lnTo>
                      <a:pt x="127813" y="600791"/>
                    </a:lnTo>
                    <a:lnTo>
                      <a:pt x="374879" y="181719"/>
                    </a:lnTo>
                    <a:lnTo>
                      <a:pt x="374879" y="600791"/>
                    </a:lnTo>
                    <a:lnTo>
                      <a:pt x="497556" y="600791"/>
                    </a:lnTo>
                    <a:lnTo>
                      <a:pt x="497556" y="0"/>
                    </a:lnTo>
                    <a:lnTo>
                      <a:pt x="36983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1" name="Freeform 80">
                <a:extLst>
                  <a:ext uri="{FF2B5EF4-FFF2-40B4-BE49-F238E27FC236}">
                    <a16:creationId xmlns:a16="http://schemas.microsoft.com/office/drawing/2014/main" id="{C5BE9C70-5519-574A-9929-C1A2330E0A08}"/>
                  </a:ext>
                </a:extLst>
              </p:cNvPr>
              <p:cNvSpPr/>
              <p:nvPr/>
            </p:nvSpPr>
            <p:spPr>
              <a:xfrm>
                <a:off x="7183386" y="811276"/>
                <a:ext cx="517811" cy="609241"/>
              </a:xfrm>
              <a:custGeom>
                <a:avLst/>
                <a:gdLst>
                  <a:gd name="connsiteX0" fmla="*/ 114309 w 517811"/>
                  <a:gd name="connsiteY0" fmla="*/ 367520 h 609241"/>
                  <a:gd name="connsiteX1" fmla="*/ 45362 w 517811"/>
                  <a:gd name="connsiteY1" fmla="*/ 463221 h 609241"/>
                  <a:gd name="connsiteX2" fmla="*/ 0 w 517811"/>
                  <a:gd name="connsiteY2" fmla="*/ 458189 h 609241"/>
                  <a:gd name="connsiteX3" fmla="*/ 0 w 517811"/>
                  <a:gd name="connsiteY3" fmla="*/ 597468 h 609241"/>
                  <a:gd name="connsiteX4" fmla="*/ 60483 w 517811"/>
                  <a:gd name="connsiteY4" fmla="*/ 609241 h 609241"/>
                  <a:gd name="connsiteX5" fmla="*/ 191624 w 517811"/>
                  <a:gd name="connsiteY5" fmla="*/ 515249 h 609241"/>
                  <a:gd name="connsiteX6" fmla="*/ 220248 w 517811"/>
                  <a:gd name="connsiteY6" fmla="*/ 369228 h 609241"/>
                  <a:gd name="connsiteX7" fmla="*/ 232041 w 517811"/>
                  <a:gd name="connsiteY7" fmla="*/ 127602 h 609241"/>
                  <a:gd name="connsiteX8" fmla="*/ 395135 w 517811"/>
                  <a:gd name="connsiteY8" fmla="*/ 127602 h 609241"/>
                  <a:gd name="connsiteX9" fmla="*/ 395135 w 517811"/>
                  <a:gd name="connsiteY9" fmla="*/ 600886 h 609241"/>
                  <a:gd name="connsiteX10" fmla="*/ 517812 w 517811"/>
                  <a:gd name="connsiteY10" fmla="*/ 600886 h 609241"/>
                  <a:gd name="connsiteX11" fmla="*/ 517812 w 517811"/>
                  <a:gd name="connsiteY11" fmla="*/ 0 h 609241"/>
                  <a:gd name="connsiteX12" fmla="*/ 129524 w 517811"/>
                  <a:gd name="connsiteY12" fmla="*/ 0 h 609241"/>
                  <a:gd name="connsiteX13" fmla="*/ 114309 w 517811"/>
                  <a:gd name="connsiteY13" fmla="*/ 367520 h 609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17811" h="609241">
                    <a:moveTo>
                      <a:pt x="114309" y="367520"/>
                    </a:moveTo>
                    <a:cubicBezTo>
                      <a:pt x="100900" y="434643"/>
                      <a:pt x="82355" y="463221"/>
                      <a:pt x="45362" y="463221"/>
                    </a:cubicBezTo>
                    <a:cubicBezTo>
                      <a:pt x="25201" y="463221"/>
                      <a:pt x="10080" y="461512"/>
                      <a:pt x="0" y="458189"/>
                    </a:cubicBezTo>
                    <a:lnTo>
                      <a:pt x="0" y="597468"/>
                    </a:lnTo>
                    <a:cubicBezTo>
                      <a:pt x="15121" y="604209"/>
                      <a:pt x="28625" y="609241"/>
                      <a:pt x="60483" y="609241"/>
                    </a:cubicBezTo>
                    <a:cubicBezTo>
                      <a:pt x="124389" y="609241"/>
                      <a:pt x="169751" y="572309"/>
                      <a:pt x="191624" y="515249"/>
                    </a:cubicBezTo>
                    <a:cubicBezTo>
                      <a:pt x="205032" y="480026"/>
                      <a:pt x="213496" y="431320"/>
                      <a:pt x="220248" y="369228"/>
                    </a:cubicBezTo>
                    <a:cubicBezTo>
                      <a:pt x="227001" y="307137"/>
                      <a:pt x="232041" y="224917"/>
                      <a:pt x="232041" y="127602"/>
                    </a:cubicBezTo>
                    <a:lnTo>
                      <a:pt x="395135" y="127602"/>
                    </a:lnTo>
                    <a:lnTo>
                      <a:pt x="395135" y="600886"/>
                    </a:lnTo>
                    <a:lnTo>
                      <a:pt x="517812" y="600886"/>
                    </a:lnTo>
                    <a:lnTo>
                      <a:pt x="517812" y="0"/>
                    </a:lnTo>
                    <a:lnTo>
                      <a:pt x="129524" y="0"/>
                    </a:lnTo>
                    <a:cubicBezTo>
                      <a:pt x="129524" y="181244"/>
                      <a:pt x="124484" y="300396"/>
                      <a:pt x="114309" y="36752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2" name="Freeform 81">
                <a:extLst>
                  <a:ext uri="{FF2B5EF4-FFF2-40B4-BE49-F238E27FC236}">
                    <a16:creationId xmlns:a16="http://schemas.microsoft.com/office/drawing/2014/main" id="{9CBB468D-AC3B-BE46-8398-D0CCC37C0635}"/>
                  </a:ext>
                </a:extLst>
              </p:cNvPr>
              <p:cNvSpPr/>
              <p:nvPr/>
            </p:nvSpPr>
            <p:spPr>
              <a:xfrm>
                <a:off x="7829771" y="797794"/>
                <a:ext cx="514483" cy="624336"/>
              </a:xfrm>
              <a:custGeom>
                <a:avLst/>
                <a:gdLst>
                  <a:gd name="connsiteX0" fmla="*/ 450482 w 514483"/>
                  <a:gd name="connsiteY0" fmla="*/ 451448 h 624336"/>
                  <a:gd name="connsiteX1" fmla="*/ 452194 w 514483"/>
                  <a:gd name="connsiteY1" fmla="*/ 213144 h 624336"/>
                  <a:gd name="connsiteX2" fmla="*/ 226905 w 514483"/>
                  <a:gd name="connsiteY2" fmla="*/ 0 h 624336"/>
                  <a:gd name="connsiteX3" fmla="*/ 0 w 514483"/>
                  <a:gd name="connsiteY3" fmla="*/ 201371 h 624336"/>
                  <a:gd name="connsiteX4" fmla="*/ 117637 w 514483"/>
                  <a:gd name="connsiteY4" fmla="*/ 201371 h 624336"/>
                  <a:gd name="connsiteX5" fmla="*/ 226905 w 514483"/>
                  <a:gd name="connsiteY5" fmla="*/ 127507 h 624336"/>
                  <a:gd name="connsiteX6" fmla="*/ 333701 w 514483"/>
                  <a:gd name="connsiteY6" fmla="*/ 207827 h 624336"/>
                  <a:gd name="connsiteX7" fmla="*/ 183255 w 514483"/>
                  <a:gd name="connsiteY7" fmla="*/ 268495 h 624336"/>
                  <a:gd name="connsiteX8" fmla="*/ 3424 w 514483"/>
                  <a:gd name="connsiteY8" fmla="*/ 456480 h 624336"/>
                  <a:gd name="connsiteX9" fmla="*/ 174886 w 514483"/>
                  <a:gd name="connsiteY9" fmla="*/ 624337 h 624336"/>
                  <a:gd name="connsiteX10" fmla="*/ 343686 w 514483"/>
                  <a:gd name="connsiteY10" fmla="*/ 514964 h 624336"/>
                  <a:gd name="connsiteX11" fmla="*/ 480818 w 514483"/>
                  <a:gd name="connsiteY11" fmla="*/ 619305 h 624336"/>
                  <a:gd name="connsiteX12" fmla="*/ 514483 w 514483"/>
                  <a:gd name="connsiteY12" fmla="*/ 619305 h 624336"/>
                  <a:gd name="connsiteX13" fmla="*/ 514483 w 514483"/>
                  <a:gd name="connsiteY13" fmla="*/ 503476 h 624336"/>
                  <a:gd name="connsiteX14" fmla="*/ 504403 w 514483"/>
                  <a:gd name="connsiteY14" fmla="*/ 503476 h 624336"/>
                  <a:gd name="connsiteX15" fmla="*/ 450482 w 514483"/>
                  <a:gd name="connsiteY15" fmla="*/ 451448 h 624336"/>
                  <a:gd name="connsiteX16" fmla="*/ 220153 w 514483"/>
                  <a:gd name="connsiteY16" fmla="*/ 498444 h 624336"/>
                  <a:gd name="connsiteX17" fmla="*/ 120965 w 514483"/>
                  <a:gd name="connsiteY17" fmla="*/ 431320 h 624336"/>
                  <a:gd name="connsiteX18" fmla="*/ 216825 w 514483"/>
                  <a:gd name="connsiteY18" fmla="*/ 340651 h 624336"/>
                  <a:gd name="connsiteX19" fmla="*/ 333986 w 514483"/>
                  <a:gd name="connsiteY19" fmla="*/ 292041 h 624336"/>
                  <a:gd name="connsiteX20" fmla="*/ 332750 w 514483"/>
                  <a:gd name="connsiteY20" fmla="*/ 454771 h 624336"/>
                  <a:gd name="connsiteX21" fmla="*/ 220153 w 514483"/>
                  <a:gd name="connsiteY21" fmla="*/ 498444 h 624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14483" h="624336">
                    <a:moveTo>
                      <a:pt x="450482" y="451448"/>
                    </a:moveTo>
                    <a:lnTo>
                      <a:pt x="452194" y="213144"/>
                    </a:lnTo>
                    <a:cubicBezTo>
                      <a:pt x="453906" y="62092"/>
                      <a:pt x="361375" y="0"/>
                      <a:pt x="226905" y="0"/>
                    </a:cubicBezTo>
                    <a:cubicBezTo>
                      <a:pt x="115925" y="0"/>
                      <a:pt x="15121" y="60383"/>
                      <a:pt x="0" y="201371"/>
                    </a:cubicBezTo>
                    <a:lnTo>
                      <a:pt x="117637" y="201371"/>
                    </a:lnTo>
                    <a:cubicBezTo>
                      <a:pt x="124389" y="146020"/>
                      <a:pt x="168039" y="127507"/>
                      <a:pt x="226905" y="127507"/>
                    </a:cubicBezTo>
                    <a:cubicBezTo>
                      <a:pt x="287198" y="127507"/>
                      <a:pt x="327615" y="146020"/>
                      <a:pt x="333701" y="207827"/>
                    </a:cubicBezTo>
                    <a:lnTo>
                      <a:pt x="183255" y="268495"/>
                    </a:lnTo>
                    <a:cubicBezTo>
                      <a:pt x="80739" y="310460"/>
                      <a:pt x="3424" y="357456"/>
                      <a:pt x="3424" y="456480"/>
                    </a:cubicBezTo>
                    <a:cubicBezTo>
                      <a:pt x="3424" y="558827"/>
                      <a:pt x="60578" y="624337"/>
                      <a:pt x="174886" y="624337"/>
                    </a:cubicBezTo>
                    <a:cubicBezTo>
                      <a:pt x="253818" y="624337"/>
                      <a:pt x="303745" y="587310"/>
                      <a:pt x="343686" y="514964"/>
                    </a:cubicBezTo>
                    <a:cubicBezTo>
                      <a:pt x="349678" y="587310"/>
                      <a:pt x="397702" y="619305"/>
                      <a:pt x="480818" y="619305"/>
                    </a:cubicBezTo>
                    <a:lnTo>
                      <a:pt x="514483" y="619305"/>
                    </a:lnTo>
                    <a:lnTo>
                      <a:pt x="514483" y="503476"/>
                    </a:lnTo>
                    <a:lnTo>
                      <a:pt x="504403" y="503476"/>
                    </a:lnTo>
                    <a:cubicBezTo>
                      <a:pt x="465603" y="503476"/>
                      <a:pt x="450482" y="488380"/>
                      <a:pt x="450482" y="451448"/>
                    </a:cubicBezTo>
                    <a:close/>
                    <a:moveTo>
                      <a:pt x="220153" y="498444"/>
                    </a:moveTo>
                    <a:cubicBezTo>
                      <a:pt x="162999" y="498444"/>
                      <a:pt x="120965" y="483348"/>
                      <a:pt x="120965" y="431320"/>
                    </a:cubicBezTo>
                    <a:cubicBezTo>
                      <a:pt x="120965" y="386033"/>
                      <a:pt x="156247" y="365905"/>
                      <a:pt x="216825" y="340651"/>
                    </a:cubicBezTo>
                    <a:lnTo>
                      <a:pt x="333986" y="292041"/>
                    </a:lnTo>
                    <a:lnTo>
                      <a:pt x="332750" y="454771"/>
                    </a:lnTo>
                    <a:cubicBezTo>
                      <a:pt x="312589" y="480025"/>
                      <a:pt x="272267" y="498444"/>
                      <a:pt x="220153" y="498444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0610224F-127A-6C4E-9873-DA0B386AC3DD}"/>
                </a:ext>
              </a:extLst>
            </p:cNvPr>
            <p:cNvGrpSpPr/>
            <p:nvPr userDrawn="1"/>
          </p:nvGrpSpPr>
          <p:grpSpPr>
            <a:xfrm>
              <a:off x="-6416384" y="251406"/>
              <a:ext cx="2558564" cy="2558564"/>
              <a:chOff x="8962070" y="251406"/>
              <a:chExt cx="321536" cy="321536"/>
            </a:xfrm>
          </p:grpSpPr>
          <p:grpSp>
            <p:nvGrpSpPr>
              <p:cNvPr id="71" name="Graphic 6">
                <a:extLst>
                  <a:ext uri="{FF2B5EF4-FFF2-40B4-BE49-F238E27FC236}">
                    <a16:creationId xmlns:a16="http://schemas.microsoft.com/office/drawing/2014/main" id="{D9B019DC-F23C-984C-B2F2-DE66EF8A36FC}"/>
                  </a:ext>
                </a:extLst>
              </p:cNvPr>
              <p:cNvGrpSpPr/>
              <p:nvPr/>
            </p:nvGrpSpPr>
            <p:grpSpPr>
              <a:xfrm>
                <a:off x="9005394" y="293780"/>
                <a:ext cx="236379" cy="235840"/>
                <a:chOff x="4586236" y="536515"/>
                <a:chExt cx="981996" cy="979755"/>
              </a:xfrm>
            </p:grpSpPr>
            <p:sp>
              <p:nvSpPr>
                <p:cNvPr id="74" name="Freeform 73">
                  <a:extLst>
                    <a:ext uri="{FF2B5EF4-FFF2-40B4-BE49-F238E27FC236}">
                      <a16:creationId xmlns:a16="http://schemas.microsoft.com/office/drawing/2014/main" id="{B2B529DF-BFCB-B948-86BB-9A69FC8CAA39}"/>
                    </a:ext>
                  </a:extLst>
                </p:cNvPr>
                <p:cNvSpPr/>
                <p:nvPr/>
              </p:nvSpPr>
              <p:spPr>
                <a:xfrm>
                  <a:off x="4587956" y="536515"/>
                  <a:ext cx="980276" cy="978659"/>
                </a:xfrm>
                <a:custGeom>
                  <a:avLst/>
                  <a:gdLst>
                    <a:gd name="connsiteX0" fmla="*/ 980276 w 980276"/>
                    <a:gd name="connsiteY0" fmla="*/ 489330 h 978659"/>
                    <a:gd name="connsiteX1" fmla="*/ 490138 w 980276"/>
                    <a:gd name="connsiteY1" fmla="*/ 978660 h 978659"/>
                    <a:gd name="connsiteX2" fmla="*/ 0 w 980276"/>
                    <a:gd name="connsiteY2" fmla="*/ 489330 h 978659"/>
                    <a:gd name="connsiteX3" fmla="*/ 490138 w 980276"/>
                    <a:gd name="connsiteY3" fmla="*/ 0 h 978659"/>
                    <a:gd name="connsiteX4" fmla="*/ 980276 w 980276"/>
                    <a:gd name="connsiteY4" fmla="*/ 489330 h 978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0276" h="978659">
                      <a:moveTo>
                        <a:pt x="980276" y="489330"/>
                      </a:moveTo>
                      <a:cubicBezTo>
                        <a:pt x="980276" y="759579"/>
                        <a:pt x="760834" y="978660"/>
                        <a:pt x="490138" y="978660"/>
                      </a:cubicBezTo>
                      <a:cubicBezTo>
                        <a:pt x="219442" y="978660"/>
                        <a:pt x="0" y="759579"/>
                        <a:pt x="0" y="489330"/>
                      </a:cubicBezTo>
                      <a:cubicBezTo>
                        <a:pt x="0" y="219080"/>
                        <a:pt x="219442" y="0"/>
                        <a:pt x="490138" y="0"/>
                      </a:cubicBezTo>
                      <a:cubicBezTo>
                        <a:pt x="760834" y="0"/>
                        <a:pt x="980276" y="219080"/>
                        <a:pt x="980276" y="489330"/>
                      </a:cubicBezTo>
                      <a:close/>
                    </a:path>
                  </a:pathLst>
                </a:custGeom>
                <a:solidFill>
                  <a:srgbClr val="FFC8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  <p:sp>
              <p:nvSpPr>
                <p:cNvPr id="75" name="Freeform 74">
                  <a:extLst>
                    <a:ext uri="{FF2B5EF4-FFF2-40B4-BE49-F238E27FC236}">
                      <a16:creationId xmlns:a16="http://schemas.microsoft.com/office/drawing/2014/main" id="{5EF452CE-6DC0-4642-B20E-6EB26F85B4EC}"/>
                    </a:ext>
                  </a:extLst>
                </p:cNvPr>
                <p:cNvSpPr/>
                <p:nvPr/>
              </p:nvSpPr>
              <p:spPr>
                <a:xfrm>
                  <a:off x="4586236" y="537071"/>
                  <a:ext cx="980476" cy="979199"/>
                </a:xfrm>
                <a:custGeom>
                  <a:avLst/>
                  <a:gdLst>
                    <a:gd name="connsiteX0" fmla="*/ 546019 w 980476"/>
                    <a:gd name="connsiteY0" fmla="*/ 123835 h 977664"/>
                    <a:gd name="connsiteX1" fmla="*/ 373035 w 980476"/>
                    <a:gd name="connsiteY1" fmla="*/ 285521 h 977664"/>
                    <a:gd name="connsiteX2" fmla="*/ 146415 w 980476"/>
                    <a:gd name="connsiteY2" fmla="*/ 354259 h 977664"/>
                    <a:gd name="connsiteX3" fmla="*/ 62158 w 980476"/>
                    <a:gd name="connsiteY3" fmla="*/ 306219 h 977664"/>
                    <a:gd name="connsiteX4" fmla="*/ 89070 w 980476"/>
                    <a:gd name="connsiteY4" fmla="*/ 206910 h 977664"/>
                    <a:gd name="connsiteX5" fmla="*/ 101623 w 980476"/>
                    <a:gd name="connsiteY5" fmla="*/ 189820 h 977664"/>
                    <a:gd name="connsiteX6" fmla="*/ 245222 w 980476"/>
                    <a:gd name="connsiteY6" fmla="*/ 64402 h 977664"/>
                    <a:gd name="connsiteX7" fmla="*/ 425814 w 980476"/>
                    <a:gd name="connsiteY7" fmla="*/ 2975 h 977664"/>
                    <a:gd name="connsiteX8" fmla="*/ 446831 w 980476"/>
                    <a:gd name="connsiteY8" fmla="*/ 696 h 977664"/>
                    <a:gd name="connsiteX9" fmla="*/ 546399 w 980476"/>
                    <a:gd name="connsiteY9" fmla="*/ 26995 h 977664"/>
                    <a:gd name="connsiteX10" fmla="*/ 546019 w 980476"/>
                    <a:gd name="connsiteY10" fmla="*/ 123835 h 977664"/>
                    <a:gd name="connsiteX11" fmla="*/ 898549 w 980476"/>
                    <a:gd name="connsiteY11" fmla="*/ 217353 h 977664"/>
                    <a:gd name="connsiteX12" fmla="*/ 877628 w 980476"/>
                    <a:gd name="connsiteY12" fmla="*/ 188301 h 977664"/>
                    <a:gd name="connsiteX13" fmla="*/ 720810 w 980476"/>
                    <a:gd name="connsiteY13" fmla="*/ 56332 h 977664"/>
                    <a:gd name="connsiteX14" fmla="*/ 760657 w 980476"/>
                    <a:gd name="connsiteY14" fmla="*/ 97821 h 977664"/>
                    <a:gd name="connsiteX15" fmla="*/ 771973 w 980476"/>
                    <a:gd name="connsiteY15" fmla="*/ 124690 h 977664"/>
                    <a:gd name="connsiteX16" fmla="*/ 757138 w 980476"/>
                    <a:gd name="connsiteY16" fmla="*/ 246310 h 977664"/>
                    <a:gd name="connsiteX17" fmla="*/ 499516 w 980476"/>
                    <a:gd name="connsiteY17" fmla="*/ 504267 h 977664"/>
                    <a:gd name="connsiteX18" fmla="*/ 146890 w 980476"/>
                    <a:gd name="connsiteY18" fmla="*/ 598164 h 977664"/>
                    <a:gd name="connsiteX19" fmla="*/ 34008 w 980476"/>
                    <a:gd name="connsiteY19" fmla="*/ 550124 h 977664"/>
                    <a:gd name="connsiteX20" fmla="*/ 16415 w 980476"/>
                    <a:gd name="connsiteY20" fmla="*/ 526863 h 977664"/>
                    <a:gd name="connsiteX21" fmla="*/ 343 w 980476"/>
                    <a:gd name="connsiteY21" fmla="*/ 470658 h 977664"/>
                    <a:gd name="connsiteX22" fmla="*/ 36956 w 980476"/>
                    <a:gd name="connsiteY22" fmla="*/ 674782 h 977664"/>
                    <a:gd name="connsiteX23" fmla="*/ 50270 w 980476"/>
                    <a:gd name="connsiteY23" fmla="*/ 704119 h 977664"/>
                    <a:gd name="connsiteX24" fmla="*/ 50936 w 980476"/>
                    <a:gd name="connsiteY24" fmla="*/ 705354 h 977664"/>
                    <a:gd name="connsiteX25" fmla="*/ 127585 w 980476"/>
                    <a:gd name="connsiteY25" fmla="*/ 777604 h 977664"/>
                    <a:gd name="connsiteX26" fmla="*/ 620101 w 980476"/>
                    <a:gd name="connsiteY26" fmla="*/ 712949 h 977664"/>
                    <a:gd name="connsiteX27" fmla="*/ 922419 w 980476"/>
                    <a:gd name="connsiteY27" fmla="*/ 319510 h 977664"/>
                    <a:gd name="connsiteX28" fmla="*/ 898549 w 980476"/>
                    <a:gd name="connsiteY28" fmla="*/ 217353 h 977664"/>
                    <a:gd name="connsiteX29" fmla="*/ 701125 w 980476"/>
                    <a:gd name="connsiteY29" fmla="*/ 852798 h 977664"/>
                    <a:gd name="connsiteX30" fmla="*/ 238851 w 980476"/>
                    <a:gd name="connsiteY30" fmla="*/ 908434 h 977664"/>
                    <a:gd name="connsiteX31" fmla="*/ 735265 w 980476"/>
                    <a:gd name="connsiteY31" fmla="*/ 912042 h 977664"/>
                    <a:gd name="connsiteX32" fmla="*/ 980429 w 980476"/>
                    <a:gd name="connsiteY32" fmla="*/ 480911 h 977664"/>
                    <a:gd name="connsiteX33" fmla="*/ 701125 w 980476"/>
                    <a:gd name="connsiteY33" fmla="*/ 852798 h 9776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980476" h="977664">
                      <a:moveTo>
                        <a:pt x="546019" y="123835"/>
                      </a:moveTo>
                      <a:cubicBezTo>
                        <a:pt x="518345" y="177288"/>
                        <a:pt x="455866" y="237860"/>
                        <a:pt x="373035" y="285521"/>
                      </a:cubicBezTo>
                      <a:cubicBezTo>
                        <a:pt x="290299" y="333182"/>
                        <a:pt x="206612" y="357012"/>
                        <a:pt x="146415" y="354259"/>
                      </a:cubicBezTo>
                      <a:cubicBezTo>
                        <a:pt x="113130" y="352740"/>
                        <a:pt x="73474" y="341632"/>
                        <a:pt x="62158" y="306219"/>
                      </a:cubicBezTo>
                      <a:cubicBezTo>
                        <a:pt x="53408" y="279065"/>
                        <a:pt x="63869" y="243937"/>
                        <a:pt x="89070" y="206910"/>
                      </a:cubicBezTo>
                      <a:cubicBezTo>
                        <a:pt x="93160" y="201118"/>
                        <a:pt x="97344" y="195422"/>
                        <a:pt x="101623" y="189820"/>
                      </a:cubicBezTo>
                      <a:cubicBezTo>
                        <a:pt x="139663" y="140355"/>
                        <a:pt x="187783" y="97442"/>
                        <a:pt x="245222" y="64402"/>
                      </a:cubicBezTo>
                      <a:cubicBezTo>
                        <a:pt x="302662" y="31267"/>
                        <a:pt x="363905" y="11140"/>
                        <a:pt x="425814" y="2975"/>
                      </a:cubicBezTo>
                      <a:cubicBezTo>
                        <a:pt x="433042" y="1930"/>
                        <a:pt x="440079" y="1171"/>
                        <a:pt x="446831" y="696"/>
                      </a:cubicBezTo>
                      <a:cubicBezTo>
                        <a:pt x="491528" y="-2627"/>
                        <a:pt x="527190" y="5918"/>
                        <a:pt x="546399" y="26995"/>
                      </a:cubicBezTo>
                      <a:cubicBezTo>
                        <a:pt x="571506" y="54338"/>
                        <a:pt x="561235" y="94404"/>
                        <a:pt x="546019" y="123835"/>
                      </a:cubicBezTo>
                      <a:close/>
                      <a:moveTo>
                        <a:pt x="898549" y="217353"/>
                      </a:moveTo>
                      <a:cubicBezTo>
                        <a:pt x="891893" y="207384"/>
                        <a:pt x="884950" y="197605"/>
                        <a:pt x="877628" y="188301"/>
                      </a:cubicBezTo>
                      <a:cubicBezTo>
                        <a:pt x="834358" y="132475"/>
                        <a:pt x="780627" y="88042"/>
                        <a:pt x="720810" y="56332"/>
                      </a:cubicBezTo>
                      <a:cubicBezTo>
                        <a:pt x="737548" y="67250"/>
                        <a:pt x="750956" y="81112"/>
                        <a:pt x="760657" y="97821"/>
                      </a:cubicBezTo>
                      <a:cubicBezTo>
                        <a:pt x="765602" y="106271"/>
                        <a:pt x="769311" y="115291"/>
                        <a:pt x="771973" y="124690"/>
                      </a:cubicBezTo>
                      <a:cubicBezTo>
                        <a:pt x="782149" y="160483"/>
                        <a:pt x="776348" y="202447"/>
                        <a:pt x="757138" y="246310"/>
                      </a:cubicBezTo>
                      <a:cubicBezTo>
                        <a:pt x="718528" y="334701"/>
                        <a:pt x="625712" y="431447"/>
                        <a:pt x="499516" y="504267"/>
                      </a:cubicBezTo>
                      <a:cubicBezTo>
                        <a:pt x="373225" y="577087"/>
                        <a:pt x="242845" y="608988"/>
                        <a:pt x="146890" y="598164"/>
                      </a:cubicBezTo>
                      <a:cubicBezTo>
                        <a:pt x="99151" y="592753"/>
                        <a:pt x="59970" y="576897"/>
                        <a:pt x="34008" y="550124"/>
                      </a:cubicBezTo>
                      <a:cubicBezTo>
                        <a:pt x="27161" y="543098"/>
                        <a:pt x="21265" y="535408"/>
                        <a:pt x="16415" y="526863"/>
                      </a:cubicBezTo>
                      <a:cubicBezTo>
                        <a:pt x="6620" y="509869"/>
                        <a:pt x="1390" y="490975"/>
                        <a:pt x="343" y="470658"/>
                      </a:cubicBezTo>
                      <a:cubicBezTo>
                        <a:pt x="-2224" y="539111"/>
                        <a:pt x="9568" y="608703"/>
                        <a:pt x="36956" y="674782"/>
                      </a:cubicBezTo>
                      <a:cubicBezTo>
                        <a:pt x="41046" y="684656"/>
                        <a:pt x="45420" y="694435"/>
                        <a:pt x="50270" y="704119"/>
                      </a:cubicBezTo>
                      <a:cubicBezTo>
                        <a:pt x="50460" y="704499"/>
                        <a:pt x="50746" y="704974"/>
                        <a:pt x="50936" y="705354"/>
                      </a:cubicBezTo>
                      <a:cubicBezTo>
                        <a:pt x="68719" y="736020"/>
                        <a:pt x="94967" y="760135"/>
                        <a:pt x="127585" y="777604"/>
                      </a:cubicBezTo>
                      <a:cubicBezTo>
                        <a:pt x="242845" y="839222"/>
                        <a:pt x="437797" y="818050"/>
                        <a:pt x="620101" y="712949"/>
                      </a:cubicBezTo>
                      <a:cubicBezTo>
                        <a:pt x="802310" y="607848"/>
                        <a:pt x="918140" y="449960"/>
                        <a:pt x="922419" y="319510"/>
                      </a:cubicBezTo>
                      <a:cubicBezTo>
                        <a:pt x="923751" y="282673"/>
                        <a:pt x="916143" y="248019"/>
                        <a:pt x="898549" y="217353"/>
                      </a:cubicBezTo>
                      <a:close/>
                      <a:moveTo>
                        <a:pt x="701125" y="852798"/>
                      </a:moveTo>
                      <a:cubicBezTo>
                        <a:pt x="534702" y="948689"/>
                        <a:pt x="354205" y="965874"/>
                        <a:pt x="238851" y="908434"/>
                      </a:cubicBezTo>
                      <a:cubicBezTo>
                        <a:pt x="386444" y="996255"/>
                        <a:pt x="575975" y="1003851"/>
                        <a:pt x="735265" y="912042"/>
                      </a:cubicBezTo>
                      <a:cubicBezTo>
                        <a:pt x="894650" y="820138"/>
                        <a:pt x="982807" y="652471"/>
                        <a:pt x="980429" y="480911"/>
                      </a:cubicBezTo>
                      <a:cubicBezTo>
                        <a:pt x="972726" y="609368"/>
                        <a:pt x="867547" y="756907"/>
                        <a:pt x="701125" y="85279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</p:grp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CF3A063C-24F7-D543-96C6-AEC79BD35124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8996704" y="286994"/>
                <a:ext cx="250964" cy="250964"/>
              </a:xfrm>
              <a:prstGeom prst="ellipse">
                <a:avLst/>
              </a:prstGeom>
              <a:gradFill flip="none" rotWithShape="1">
                <a:gsLst>
                  <a:gs pos="40000">
                    <a:schemeClr val="bg1">
                      <a:alpha val="0"/>
                      <a:lumMod val="100000"/>
                    </a:schemeClr>
                  </a:gs>
                  <a:gs pos="99000">
                    <a:schemeClr val="bg1">
                      <a:alpha val="79974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RU" sz="1400" dirty="0" err="1"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73" name="Freeform 72">
                <a:extLst>
                  <a:ext uri="{FF2B5EF4-FFF2-40B4-BE49-F238E27FC236}">
                    <a16:creationId xmlns:a16="http://schemas.microsoft.com/office/drawing/2014/main" id="{A3E957AC-1C5C-A049-802C-771796D57449}"/>
                  </a:ext>
                </a:extLst>
              </p:cNvPr>
              <p:cNvSpPr/>
              <p:nvPr userDrawn="1"/>
            </p:nvSpPr>
            <p:spPr>
              <a:xfrm>
                <a:off x="8962070" y="251406"/>
                <a:ext cx="321536" cy="321536"/>
              </a:xfrm>
              <a:custGeom>
                <a:avLst/>
                <a:gdLst>
                  <a:gd name="connsiteX0" fmla="*/ 231423 w 461234"/>
                  <a:gd name="connsiteY0" fmla="*/ 60783 h 461234"/>
                  <a:gd name="connsiteX1" fmla="*/ 62180 w 461234"/>
                  <a:gd name="connsiteY1" fmla="*/ 229747 h 461234"/>
                  <a:gd name="connsiteX2" fmla="*/ 231423 w 461234"/>
                  <a:gd name="connsiteY2" fmla="*/ 398710 h 461234"/>
                  <a:gd name="connsiteX3" fmla="*/ 400665 w 461234"/>
                  <a:gd name="connsiteY3" fmla="*/ 229747 h 461234"/>
                  <a:gd name="connsiteX4" fmla="*/ 231423 w 461234"/>
                  <a:gd name="connsiteY4" fmla="*/ 60783 h 461234"/>
                  <a:gd name="connsiteX5" fmla="*/ 230617 w 461234"/>
                  <a:gd name="connsiteY5" fmla="*/ 0 h 461234"/>
                  <a:gd name="connsiteX6" fmla="*/ 461234 w 461234"/>
                  <a:gd name="connsiteY6" fmla="*/ 230617 h 461234"/>
                  <a:gd name="connsiteX7" fmla="*/ 230617 w 461234"/>
                  <a:gd name="connsiteY7" fmla="*/ 461234 h 461234"/>
                  <a:gd name="connsiteX8" fmla="*/ 0 w 461234"/>
                  <a:gd name="connsiteY8" fmla="*/ 230617 h 461234"/>
                  <a:gd name="connsiteX9" fmla="*/ 230617 w 461234"/>
                  <a:gd name="connsiteY9" fmla="*/ 0 h 4612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1234" h="461234">
                    <a:moveTo>
                      <a:pt x="231423" y="60783"/>
                    </a:moveTo>
                    <a:cubicBezTo>
                      <a:pt x="137952" y="60783"/>
                      <a:pt x="62180" y="136430"/>
                      <a:pt x="62180" y="229747"/>
                    </a:cubicBezTo>
                    <a:cubicBezTo>
                      <a:pt x="62180" y="323063"/>
                      <a:pt x="137952" y="398710"/>
                      <a:pt x="231423" y="398710"/>
                    </a:cubicBezTo>
                    <a:cubicBezTo>
                      <a:pt x="324893" y="398710"/>
                      <a:pt x="400665" y="323063"/>
                      <a:pt x="400665" y="229747"/>
                    </a:cubicBezTo>
                    <a:cubicBezTo>
                      <a:pt x="400665" y="136430"/>
                      <a:pt x="324893" y="60783"/>
                      <a:pt x="231423" y="60783"/>
                    </a:cubicBezTo>
                    <a:close/>
                    <a:moveTo>
                      <a:pt x="230617" y="0"/>
                    </a:moveTo>
                    <a:cubicBezTo>
                      <a:pt x="357983" y="0"/>
                      <a:pt x="461234" y="103251"/>
                      <a:pt x="461234" y="230617"/>
                    </a:cubicBezTo>
                    <a:cubicBezTo>
                      <a:pt x="461234" y="357983"/>
                      <a:pt x="357983" y="461234"/>
                      <a:pt x="230617" y="461234"/>
                    </a:cubicBezTo>
                    <a:cubicBezTo>
                      <a:pt x="103251" y="461234"/>
                      <a:pt x="0" y="357983"/>
                      <a:pt x="0" y="230617"/>
                    </a:cubicBezTo>
                    <a:cubicBezTo>
                      <a:pt x="0" y="103251"/>
                      <a:pt x="103251" y="0"/>
                      <a:pt x="23061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:endParaRPr lang="en-RU" sz="1400" dirty="0" err="1"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2129954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>
            <a:extLst>
              <a:ext uri="{FF2B5EF4-FFF2-40B4-BE49-F238E27FC236}">
                <a16:creationId xmlns:a16="http://schemas.microsoft.com/office/drawing/2014/main" id="{490C8D43-3FA8-2B48-8312-43A6F346A4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363" y="6001875"/>
            <a:ext cx="1844676" cy="69707"/>
          </a:xfrm>
        </p:spPr>
        <p:txBody>
          <a:bodyPr>
            <a:noAutofit/>
          </a:bodyPr>
          <a:lstStyle>
            <a:lvl1pPr>
              <a:defRPr b="0" i="0">
                <a:latin typeface="+mn-lt"/>
              </a:defRPr>
            </a:lvl1pPr>
          </a:lstStyle>
          <a:p>
            <a:fld id="{EE66289B-A2AB-4587-A3A3-B596D35268D9}" type="datetime1">
              <a:rPr lang="ru-RU" smtClean="0"/>
              <a:pPr/>
              <a:t>15.06.2026</a:t>
            </a:fld>
            <a:endParaRPr lang="ru-RU" dirty="0"/>
          </a:p>
        </p:txBody>
      </p:sp>
      <p:sp>
        <p:nvSpPr>
          <p:cNvPr id="7" name="Текст 13">
            <a:extLst>
              <a:ext uri="{FF2B5EF4-FFF2-40B4-BE49-F238E27FC236}">
                <a16:creationId xmlns:a16="http://schemas.microsoft.com/office/drawing/2014/main" id="{CEB501CD-24E0-1342-8879-F14867856C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1469" y="5373753"/>
            <a:ext cx="5761037" cy="74606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r">
              <a:buFontTx/>
              <a:buNone/>
              <a:defRPr sz="1800">
                <a:latin typeface="+mn-lt"/>
              </a:defRPr>
            </a:lvl1pPr>
            <a:lvl2pPr marL="457200" indent="0">
              <a:buFontTx/>
              <a:buNone/>
              <a:defRPr sz="1800">
                <a:latin typeface="Beeline Sans V0.3 Regular" pitchFamily="2" charset="0"/>
              </a:defRPr>
            </a:lvl2pPr>
            <a:lvl3pPr marL="914400" indent="0">
              <a:buFontTx/>
              <a:buNone/>
              <a:defRPr sz="1800">
                <a:latin typeface="Beeline Sans V0.3 Regular" pitchFamily="2" charset="0"/>
              </a:defRPr>
            </a:lvl3pPr>
            <a:lvl4pPr marL="1371600" indent="0">
              <a:buFontTx/>
              <a:buNone/>
              <a:defRPr sz="1800">
                <a:latin typeface="Beeline Sans V0.3 Regular" pitchFamily="2" charset="0"/>
              </a:defRPr>
            </a:lvl4pPr>
            <a:lvl5pPr marL="1828800" indent="0">
              <a:buFontTx/>
              <a:buNone/>
              <a:defRPr sz="1800">
                <a:latin typeface="Beeline Sans V0.3 Regular" pitchFamily="2" charset="0"/>
              </a:defRPr>
            </a:lvl5pPr>
          </a:lstStyle>
          <a:p>
            <a:r>
              <a:rPr lang="en-US" dirty="0" err="1"/>
              <a:t>а</a:t>
            </a:r>
            <a:r>
              <a:rPr lang="ru-RU" dirty="0"/>
              <a:t>втор презентации.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18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B8F821E3-850E-BA40-9ED9-E01E897483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1632907"/>
            <a:ext cx="5761037" cy="57497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600" b="0" i="0">
                <a:latin typeface="+mn-lt"/>
              </a:defRPr>
            </a:lvl1pPr>
            <a:lvl2pPr marL="457200" indent="0">
              <a:buFontTx/>
              <a:buNone/>
              <a:defRPr>
                <a:latin typeface="Beeline Sans V0.3 Regular" pitchFamily="2" charset="0"/>
              </a:defRPr>
            </a:lvl2pPr>
            <a:lvl3pPr marL="914400" indent="0">
              <a:buFontTx/>
              <a:buNone/>
              <a:defRPr>
                <a:latin typeface="Beeline Sans V0.3 Regular" pitchFamily="2" charset="0"/>
              </a:defRPr>
            </a:lvl3pPr>
            <a:lvl4pPr marL="1371600" indent="0">
              <a:buFontTx/>
              <a:buNone/>
              <a:defRPr>
                <a:latin typeface="Beeline Sans V0.3 Regular" pitchFamily="2" charset="0"/>
              </a:defRPr>
            </a:lvl4pPr>
            <a:lvl5pPr marL="1828800" indent="0">
              <a:buFontTx/>
              <a:buNone/>
              <a:defRPr>
                <a:latin typeface="Beeline Sans V0.3 Regular" pitchFamily="2" charset="0"/>
              </a:defRPr>
            </a:lvl5pPr>
          </a:lstStyle>
          <a:p>
            <a:r>
              <a:rPr lang="ru-RU" dirty="0"/>
              <a:t>подзаголовок презентации.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1</a:t>
            </a:r>
            <a:r>
              <a:rPr lang="ru-RU" dirty="0"/>
              <a:t>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238317A0-674A-3C4B-9284-E2C6DAF88C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363" y="503271"/>
            <a:ext cx="10369550" cy="1098776"/>
          </a:xfrm>
        </p:spPr>
        <p:txBody>
          <a:bodyPr bIns="0" anchor="t"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en-US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презентации.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3</a:t>
            </a:r>
            <a:r>
              <a:rPr lang="en-US" dirty="0"/>
              <a:t>1pt</a:t>
            </a:r>
            <a:endParaRPr lang="ru-RU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3CBCB1-2700-4645-9028-F780557FD101}"/>
              </a:ext>
            </a:extLst>
          </p:cNvPr>
          <p:cNvSpPr/>
          <p:nvPr userDrawn="1"/>
        </p:nvSpPr>
        <p:spPr>
          <a:xfrm>
            <a:off x="10801350" y="252413"/>
            <a:ext cx="443593" cy="4333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en-RU" sz="1400" dirty="0" err="1">
              <a:latin typeface="+mn-lt"/>
              <a:ea typeface="Arial" charset="0"/>
              <a:cs typeface="Arial" charset="0"/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B4B01A3-6F44-DA42-9ACF-59966680B52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82701" y="2632789"/>
            <a:ext cx="8439149" cy="1216599"/>
            <a:chOff x="-6416384" y="251406"/>
            <a:chExt cx="17747920" cy="2558564"/>
          </a:xfrm>
        </p:grpSpPr>
        <p:grpSp>
          <p:nvGrpSpPr>
            <p:cNvPr id="69" name="Graphic 5">
              <a:extLst>
                <a:ext uri="{FF2B5EF4-FFF2-40B4-BE49-F238E27FC236}">
                  <a16:creationId xmlns:a16="http://schemas.microsoft.com/office/drawing/2014/main" id="{4629B304-2E16-6246-98CA-F2173F27B26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016924" y="594048"/>
              <a:ext cx="7314612" cy="1695600"/>
              <a:chOff x="6035237" y="3068380"/>
              <a:chExt cx="1367580" cy="317019"/>
            </a:xfrm>
            <a:solidFill>
              <a:srgbClr val="FFCA05"/>
            </a:solidFill>
          </p:grpSpPr>
          <p:sp>
            <p:nvSpPr>
              <p:cNvPr id="84" name="Freeform 83">
                <a:extLst>
                  <a:ext uri="{FF2B5EF4-FFF2-40B4-BE49-F238E27FC236}">
                    <a16:creationId xmlns:a16="http://schemas.microsoft.com/office/drawing/2014/main" id="{4FC0F58C-6844-CE4F-BF6B-258369066209}"/>
                  </a:ext>
                </a:extLst>
              </p:cNvPr>
              <p:cNvSpPr/>
              <p:nvPr/>
            </p:nvSpPr>
            <p:spPr>
              <a:xfrm>
                <a:off x="6035237" y="3068380"/>
                <a:ext cx="217915" cy="317019"/>
              </a:xfrm>
              <a:custGeom>
                <a:avLst/>
                <a:gdLst>
                  <a:gd name="connsiteX0" fmla="*/ 217915 w 217915"/>
                  <a:gd name="connsiteY0" fmla="*/ 205164 h 317020"/>
                  <a:gd name="connsiteX1" fmla="*/ 109433 w 217915"/>
                  <a:gd name="connsiteY1" fmla="*/ 317020 h 317020"/>
                  <a:gd name="connsiteX2" fmla="*/ 0 w 217915"/>
                  <a:gd name="connsiteY2" fmla="*/ 178047 h 317020"/>
                  <a:gd name="connsiteX3" fmla="*/ 102683 w 217915"/>
                  <a:gd name="connsiteY3" fmla="*/ 12899 h 317020"/>
                  <a:gd name="connsiteX4" fmla="*/ 197759 w 217915"/>
                  <a:gd name="connsiteY4" fmla="*/ 0 h 317020"/>
                  <a:gd name="connsiteX5" fmla="*/ 197759 w 217915"/>
                  <a:gd name="connsiteY5" fmla="*/ 47078 h 317020"/>
                  <a:gd name="connsiteX6" fmla="*/ 109908 w 217915"/>
                  <a:gd name="connsiteY6" fmla="*/ 60353 h 317020"/>
                  <a:gd name="connsiteX7" fmla="*/ 45827 w 217915"/>
                  <a:gd name="connsiteY7" fmla="*/ 139820 h 317020"/>
                  <a:gd name="connsiteX8" fmla="*/ 122459 w 217915"/>
                  <a:gd name="connsiteY8" fmla="*/ 100275 h 317020"/>
                  <a:gd name="connsiteX9" fmla="*/ 217915 w 217915"/>
                  <a:gd name="connsiteY9" fmla="*/ 205164 h 317020"/>
                  <a:gd name="connsiteX10" fmla="*/ 47538 w 217915"/>
                  <a:gd name="connsiteY10" fmla="*/ 170044 h 317020"/>
                  <a:gd name="connsiteX11" fmla="*/ 47538 w 217915"/>
                  <a:gd name="connsiteY11" fmla="*/ 194901 h 317020"/>
                  <a:gd name="connsiteX12" fmla="*/ 109433 w 217915"/>
                  <a:gd name="connsiteY12" fmla="*/ 269096 h 317020"/>
                  <a:gd name="connsiteX13" fmla="*/ 172184 w 217915"/>
                  <a:gd name="connsiteY13" fmla="*/ 205164 h 317020"/>
                  <a:gd name="connsiteX14" fmla="*/ 112095 w 217915"/>
                  <a:gd name="connsiteY14" fmla="*/ 145187 h 317020"/>
                  <a:gd name="connsiteX15" fmla="*/ 47538 w 217915"/>
                  <a:gd name="connsiteY15" fmla="*/ 170044 h 317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7915" h="317020">
                    <a:moveTo>
                      <a:pt x="217915" y="205164"/>
                    </a:moveTo>
                    <a:cubicBezTo>
                      <a:pt x="217915" y="270037"/>
                      <a:pt x="177983" y="317020"/>
                      <a:pt x="109433" y="317020"/>
                    </a:cubicBezTo>
                    <a:cubicBezTo>
                      <a:pt x="40883" y="317020"/>
                      <a:pt x="0" y="270414"/>
                      <a:pt x="0" y="178047"/>
                    </a:cubicBezTo>
                    <a:cubicBezTo>
                      <a:pt x="0" y="80314"/>
                      <a:pt x="24245" y="24010"/>
                      <a:pt x="102683" y="12899"/>
                    </a:cubicBezTo>
                    <a:lnTo>
                      <a:pt x="197759" y="0"/>
                    </a:lnTo>
                    <a:lnTo>
                      <a:pt x="197759" y="47078"/>
                    </a:lnTo>
                    <a:lnTo>
                      <a:pt x="109908" y="60353"/>
                    </a:lnTo>
                    <a:cubicBezTo>
                      <a:pt x="63701" y="67415"/>
                      <a:pt x="49820" y="91895"/>
                      <a:pt x="45827" y="139820"/>
                    </a:cubicBezTo>
                    <a:cubicBezTo>
                      <a:pt x="62465" y="113175"/>
                      <a:pt x="89752" y="100275"/>
                      <a:pt x="122459" y="100275"/>
                    </a:cubicBezTo>
                    <a:cubicBezTo>
                      <a:pt x="180265" y="100369"/>
                      <a:pt x="217915" y="140291"/>
                      <a:pt x="217915" y="205164"/>
                    </a:cubicBezTo>
                    <a:close/>
                    <a:moveTo>
                      <a:pt x="47538" y="170044"/>
                    </a:moveTo>
                    <a:lnTo>
                      <a:pt x="47538" y="194901"/>
                    </a:lnTo>
                    <a:cubicBezTo>
                      <a:pt x="47538" y="242450"/>
                      <a:pt x="70357" y="269096"/>
                      <a:pt x="109433" y="269096"/>
                    </a:cubicBezTo>
                    <a:cubicBezTo>
                      <a:pt x="148034" y="269096"/>
                      <a:pt x="172184" y="246027"/>
                      <a:pt x="172184" y="205164"/>
                    </a:cubicBezTo>
                    <a:cubicBezTo>
                      <a:pt x="172184" y="164301"/>
                      <a:pt x="148890" y="145187"/>
                      <a:pt x="112095" y="145187"/>
                    </a:cubicBezTo>
                    <a:cubicBezTo>
                      <a:pt x="84713" y="145187"/>
                      <a:pt x="61419" y="153190"/>
                      <a:pt x="47538" y="170044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5" name="Freeform 84">
                <a:extLst>
                  <a:ext uri="{FF2B5EF4-FFF2-40B4-BE49-F238E27FC236}">
                    <a16:creationId xmlns:a16="http://schemas.microsoft.com/office/drawing/2014/main" id="{B82CDD74-C436-E842-B1BC-EE6C833DC77C}"/>
                  </a:ext>
                </a:extLst>
              </p:cNvPr>
              <p:cNvSpPr/>
              <p:nvPr/>
            </p:nvSpPr>
            <p:spPr>
              <a:xfrm>
                <a:off x="6295266" y="3163379"/>
                <a:ext cx="184257" cy="217593"/>
              </a:xfrm>
              <a:custGeom>
                <a:avLst/>
                <a:gdLst>
                  <a:gd name="connsiteX0" fmla="*/ 45732 w 184258"/>
                  <a:gd name="connsiteY0" fmla="*/ 143869 h 217592"/>
                  <a:gd name="connsiteX1" fmla="*/ 140808 w 184258"/>
                  <a:gd name="connsiteY1" fmla="*/ 0 h 217592"/>
                  <a:gd name="connsiteX2" fmla="*/ 184258 w 184258"/>
                  <a:gd name="connsiteY2" fmla="*/ 0 h 217592"/>
                  <a:gd name="connsiteX3" fmla="*/ 184258 w 184258"/>
                  <a:gd name="connsiteY3" fmla="*/ 217593 h 217592"/>
                  <a:gd name="connsiteX4" fmla="*/ 139002 w 184258"/>
                  <a:gd name="connsiteY4" fmla="*/ 217593 h 217592"/>
                  <a:gd name="connsiteX5" fmla="*/ 139002 w 184258"/>
                  <a:gd name="connsiteY5" fmla="*/ 71935 h 217592"/>
                  <a:gd name="connsiteX6" fmla="*/ 43450 w 184258"/>
                  <a:gd name="connsiteY6" fmla="*/ 217593 h 217592"/>
                  <a:gd name="connsiteX7" fmla="*/ 0 w 184258"/>
                  <a:gd name="connsiteY7" fmla="*/ 217593 h 217592"/>
                  <a:gd name="connsiteX8" fmla="*/ 0 w 184258"/>
                  <a:gd name="connsiteY8" fmla="*/ 0 h 217592"/>
                  <a:gd name="connsiteX9" fmla="*/ 45732 w 184258"/>
                  <a:gd name="connsiteY9" fmla="*/ 0 h 217592"/>
                  <a:gd name="connsiteX10" fmla="*/ 45732 w 184258"/>
                  <a:gd name="connsiteY10" fmla="*/ 143869 h 217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4258" h="217592">
                    <a:moveTo>
                      <a:pt x="45732" y="143869"/>
                    </a:moveTo>
                    <a:lnTo>
                      <a:pt x="140808" y="0"/>
                    </a:lnTo>
                    <a:lnTo>
                      <a:pt x="184258" y="0"/>
                    </a:lnTo>
                    <a:lnTo>
                      <a:pt x="184258" y="217593"/>
                    </a:lnTo>
                    <a:lnTo>
                      <a:pt x="139002" y="217593"/>
                    </a:lnTo>
                    <a:lnTo>
                      <a:pt x="139002" y="71935"/>
                    </a:lnTo>
                    <a:lnTo>
                      <a:pt x="43450" y="217593"/>
                    </a:lnTo>
                    <a:lnTo>
                      <a:pt x="0" y="217593"/>
                    </a:lnTo>
                    <a:lnTo>
                      <a:pt x="0" y="0"/>
                    </a:lnTo>
                    <a:lnTo>
                      <a:pt x="45732" y="0"/>
                    </a:lnTo>
                    <a:lnTo>
                      <a:pt x="45732" y="143869"/>
                    </a:ln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6" name="Freeform 85">
                <a:extLst>
                  <a:ext uri="{FF2B5EF4-FFF2-40B4-BE49-F238E27FC236}">
                    <a16:creationId xmlns:a16="http://schemas.microsoft.com/office/drawing/2014/main" id="{7B0E91D7-5665-E64B-823C-293A987B8E45}"/>
                  </a:ext>
                </a:extLst>
              </p:cNvPr>
              <p:cNvSpPr/>
              <p:nvPr/>
            </p:nvSpPr>
            <p:spPr>
              <a:xfrm>
                <a:off x="6521649" y="3158861"/>
                <a:ext cx="174845" cy="226444"/>
              </a:xfrm>
              <a:custGeom>
                <a:avLst/>
                <a:gdLst>
                  <a:gd name="connsiteX0" fmla="*/ 131396 w 174845"/>
                  <a:gd name="connsiteY0" fmla="*/ 151966 h 226443"/>
                  <a:gd name="connsiteX1" fmla="*/ 91464 w 174845"/>
                  <a:gd name="connsiteY1" fmla="*/ 124850 h 226443"/>
                  <a:gd name="connsiteX2" fmla="*/ 58282 w 174845"/>
                  <a:gd name="connsiteY2" fmla="*/ 124850 h 226443"/>
                  <a:gd name="connsiteX3" fmla="*/ 58282 w 174845"/>
                  <a:gd name="connsiteY3" fmla="*/ 96415 h 226443"/>
                  <a:gd name="connsiteX4" fmla="*/ 89657 w 174845"/>
                  <a:gd name="connsiteY4" fmla="*/ 96415 h 226443"/>
                  <a:gd name="connsiteX5" fmla="*/ 125501 w 174845"/>
                  <a:gd name="connsiteY5" fmla="*/ 70616 h 226443"/>
                  <a:gd name="connsiteX6" fmla="*/ 86900 w 174845"/>
                  <a:gd name="connsiteY6" fmla="*/ 44818 h 226443"/>
                  <a:gd name="connsiteX7" fmla="*/ 40312 w 174845"/>
                  <a:gd name="connsiteY7" fmla="*/ 74571 h 226443"/>
                  <a:gd name="connsiteX8" fmla="*/ 1331 w 174845"/>
                  <a:gd name="connsiteY8" fmla="*/ 74571 h 226443"/>
                  <a:gd name="connsiteX9" fmla="*/ 88801 w 174845"/>
                  <a:gd name="connsiteY9" fmla="*/ 0 h 226443"/>
                  <a:gd name="connsiteX10" fmla="*/ 168571 w 174845"/>
                  <a:gd name="connsiteY10" fmla="*/ 63084 h 226443"/>
                  <a:gd name="connsiteX11" fmla="*/ 136245 w 174845"/>
                  <a:gd name="connsiteY11" fmla="*/ 107902 h 226443"/>
                  <a:gd name="connsiteX12" fmla="*/ 174846 w 174845"/>
                  <a:gd name="connsiteY12" fmla="*/ 156768 h 226443"/>
                  <a:gd name="connsiteX13" fmla="*/ 87851 w 174845"/>
                  <a:gd name="connsiteY13" fmla="*/ 226443 h 226443"/>
                  <a:gd name="connsiteX14" fmla="*/ 0 w 174845"/>
                  <a:gd name="connsiteY14" fmla="*/ 151402 h 226443"/>
                  <a:gd name="connsiteX15" fmla="*/ 39457 w 174845"/>
                  <a:gd name="connsiteY15" fmla="*/ 151402 h 226443"/>
                  <a:gd name="connsiteX16" fmla="*/ 86044 w 174845"/>
                  <a:gd name="connsiteY16" fmla="*/ 181155 h 226443"/>
                  <a:gd name="connsiteX17" fmla="*/ 131396 w 174845"/>
                  <a:gd name="connsiteY17" fmla="*/ 151966 h 226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74845" h="226443">
                    <a:moveTo>
                      <a:pt x="131396" y="151966"/>
                    </a:moveTo>
                    <a:cubicBezTo>
                      <a:pt x="131396" y="132853"/>
                      <a:pt x="117514" y="124850"/>
                      <a:pt x="91464" y="124850"/>
                    </a:cubicBezTo>
                    <a:lnTo>
                      <a:pt x="58282" y="124850"/>
                    </a:lnTo>
                    <a:lnTo>
                      <a:pt x="58282" y="96415"/>
                    </a:lnTo>
                    <a:lnTo>
                      <a:pt x="89657" y="96415"/>
                    </a:lnTo>
                    <a:cubicBezTo>
                      <a:pt x="113902" y="96415"/>
                      <a:pt x="125501" y="86623"/>
                      <a:pt x="125501" y="70616"/>
                    </a:cubicBezTo>
                    <a:cubicBezTo>
                      <a:pt x="125501" y="53292"/>
                      <a:pt x="112475" y="44818"/>
                      <a:pt x="86900" y="44818"/>
                    </a:cubicBezTo>
                    <a:cubicBezTo>
                      <a:pt x="60469" y="44818"/>
                      <a:pt x="44306" y="54987"/>
                      <a:pt x="40312" y="74571"/>
                    </a:cubicBezTo>
                    <a:lnTo>
                      <a:pt x="1331" y="74571"/>
                    </a:lnTo>
                    <a:cubicBezTo>
                      <a:pt x="6750" y="27964"/>
                      <a:pt x="39457" y="0"/>
                      <a:pt x="88801" y="0"/>
                    </a:cubicBezTo>
                    <a:cubicBezTo>
                      <a:pt x="137195" y="0"/>
                      <a:pt x="168571" y="23068"/>
                      <a:pt x="168571" y="63084"/>
                    </a:cubicBezTo>
                    <a:cubicBezTo>
                      <a:pt x="168571" y="84834"/>
                      <a:pt x="155545" y="102158"/>
                      <a:pt x="136245" y="107902"/>
                    </a:cubicBezTo>
                    <a:cubicBezTo>
                      <a:pt x="159538" y="113269"/>
                      <a:pt x="174846" y="130593"/>
                      <a:pt x="174846" y="156768"/>
                    </a:cubicBezTo>
                    <a:cubicBezTo>
                      <a:pt x="174846" y="202057"/>
                      <a:pt x="137195" y="226443"/>
                      <a:pt x="87851" y="226443"/>
                    </a:cubicBezTo>
                    <a:cubicBezTo>
                      <a:pt x="36699" y="226443"/>
                      <a:pt x="3993" y="200268"/>
                      <a:pt x="0" y="151402"/>
                    </a:cubicBezTo>
                    <a:lnTo>
                      <a:pt x="39457" y="151402"/>
                    </a:lnTo>
                    <a:cubicBezTo>
                      <a:pt x="42594" y="171833"/>
                      <a:pt x="58757" y="181155"/>
                      <a:pt x="86044" y="181155"/>
                    </a:cubicBezTo>
                    <a:cubicBezTo>
                      <a:pt x="113521" y="181249"/>
                      <a:pt x="131396" y="171927"/>
                      <a:pt x="131396" y="151966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7" name="Freeform 86">
                <a:extLst>
                  <a:ext uri="{FF2B5EF4-FFF2-40B4-BE49-F238E27FC236}">
                    <a16:creationId xmlns:a16="http://schemas.microsoft.com/office/drawing/2014/main" id="{CBD9D7A9-B043-B846-9832-F5CDC1CFB1F7}"/>
                  </a:ext>
                </a:extLst>
              </p:cNvPr>
              <p:cNvSpPr/>
              <p:nvPr/>
            </p:nvSpPr>
            <p:spPr>
              <a:xfrm>
                <a:off x="6738233" y="3163381"/>
                <a:ext cx="181596" cy="217593"/>
              </a:xfrm>
              <a:custGeom>
                <a:avLst/>
                <a:gdLst>
                  <a:gd name="connsiteX0" fmla="*/ 135864 w 181596"/>
                  <a:gd name="connsiteY0" fmla="*/ 128804 h 217592"/>
                  <a:gd name="connsiteX1" fmla="*/ 45732 w 181596"/>
                  <a:gd name="connsiteY1" fmla="*/ 128804 h 217592"/>
                  <a:gd name="connsiteX2" fmla="*/ 45732 w 181596"/>
                  <a:gd name="connsiteY2" fmla="*/ 217593 h 217592"/>
                  <a:gd name="connsiteX3" fmla="*/ 0 w 181596"/>
                  <a:gd name="connsiteY3" fmla="*/ 217593 h 217592"/>
                  <a:gd name="connsiteX4" fmla="*/ 0 w 181596"/>
                  <a:gd name="connsiteY4" fmla="*/ 0 h 217592"/>
                  <a:gd name="connsiteX5" fmla="*/ 45732 w 181596"/>
                  <a:gd name="connsiteY5" fmla="*/ 0 h 217592"/>
                  <a:gd name="connsiteX6" fmla="*/ 45732 w 181596"/>
                  <a:gd name="connsiteY6" fmla="*/ 82103 h 217592"/>
                  <a:gd name="connsiteX7" fmla="*/ 135864 w 181596"/>
                  <a:gd name="connsiteY7" fmla="*/ 82103 h 217592"/>
                  <a:gd name="connsiteX8" fmla="*/ 135864 w 181596"/>
                  <a:gd name="connsiteY8" fmla="*/ 0 h 217592"/>
                  <a:gd name="connsiteX9" fmla="*/ 181596 w 181596"/>
                  <a:gd name="connsiteY9" fmla="*/ 0 h 217592"/>
                  <a:gd name="connsiteX10" fmla="*/ 181596 w 181596"/>
                  <a:gd name="connsiteY10" fmla="*/ 217593 h 217592"/>
                  <a:gd name="connsiteX11" fmla="*/ 135864 w 181596"/>
                  <a:gd name="connsiteY11" fmla="*/ 217593 h 217592"/>
                  <a:gd name="connsiteX12" fmla="*/ 135864 w 181596"/>
                  <a:gd name="connsiteY12" fmla="*/ 128804 h 217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81596" h="217592">
                    <a:moveTo>
                      <a:pt x="135864" y="128804"/>
                    </a:moveTo>
                    <a:lnTo>
                      <a:pt x="45732" y="128804"/>
                    </a:lnTo>
                    <a:lnTo>
                      <a:pt x="45732" y="217593"/>
                    </a:lnTo>
                    <a:lnTo>
                      <a:pt x="0" y="217593"/>
                    </a:lnTo>
                    <a:lnTo>
                      <a:pt x="0" y="0"/>
                    </a:lnTo>
                    <a:lnTo>
                      <a:pt x="45732" y="0"/>
                    </a:lnTo>
                    <a:lnTo>
                      <a:pt x="45732" y="82103"/>
                    </a:lnTo>
                    <a:lnTo>
                      <a:pt x="135864" y="82103"/>
                    </a:lnTo>
                    <a:lnTo>
                      <a:pt x="135864" y="0"/>
                    </a:lnTo>
                    <a:lnTo>
                      <a:pt x="181596" y="0"/>
                    </a:lnTo>
                    <a:lnTo>
                      <a:pt x="181596" y="217593"/>
                    </a:lnTo>
                    <a:lnTo>
                      <a:pt x="135864" y="217593"/>
                    </a:lnTo>
                    <a:lnTo>
                      <a:pt x="135864" y="128804"/>
                    </a:ln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A7E12C02-87DE-BD43-A242-8588D6A61B2B}"/>
                  </a:ext>
                </a:extLst>
              </p:cNvPr>
              <p:cNvSpPr/>
              <p:nvPr/>
            </p:nvSpPr>
            <p:spPr>
              <a:xfrm>
                <a:off x="6962043" y="3158861"/>
                <a:ext cx="208502" cy="226536"/>
              </a:xfrm>
              <a:custGeom>
                <a:avLst/>
                <a:gdLst>
                  <a:gd name="connsiteX0" fmla="*/ 104014 w 208502"/>
                  <a:gd name="connsiteY0" fmla="*/ 226537 h 226537"/>
                  <a:gd name="connsiteX1" fmla="*/ 0 w 208502"/>
                  <a:gd name="connsiteY1" fmla="*/ 113269 h 226537"/>
                  <a:gd name="connsiteX2" fmla="*/ 104964 w 208502"/>
                  <a:gd name="connsiteY2" fmla="*/ 0 h 226537"/>
                  <a:gd name="connsiteX3" fmla="*/ 208503 w 208502"/>
                  <a:gd name="connsiteY3" fmla="*/ 114963 h 226537"/>
                  <a:gd name="connsiteX4" fmla="*/ 208027 w 208502"/>
                  <a:gd name="connsiteY4" fmla="*/ 124285 h 226537"/>
                  <a:gd name="connsiteX5" fmla="*/ 45256 w 208502"/>
                  <a:gd name="connsiteY5" fmla="*/ 124285 h 226537"/>
                  <a:gd name="connsiteX6" fmla="*/ 104869 w 208502"/>
                  <a:gd name="connsiteY6" fmla="*/ 181531 h 226537"/>
                  <a:gd name="connsiteX7" fmla="*/ 162296 w 208502"/>
                  <a:gd name="connsiteY7" fmla="*/ 152626 h 226537"/>
                  <a:gd name="connsiteX8" fmla="*/ 203559 w 208502"/>
                  <a:gd name="connsiteY8" fmla="*/ 152626 h 226537"/>
                  <a:gd name="connsiteX9" fmla="*/ 104014 w 208502"/>
                  <a:gd name="connsiteY9" fmla="*/ 226537 h 226537"/>
                  <a:gd name="connsiteX10" fmla="*/ 46207 w 208502"/>
                  <a:gd name="connsiteY10" fmla="*/ 94626 h 226537"/>
                  <a:gd name="connsiteX11" fmla="*/ 162771 w 208502"/>
                  <a:gd name="connsiteY11" fmla="*/ 94626 h 226537"/>
                  <a:gd name="connsiteX12" fmla="*/ 104964 w 208502"/>
                  <a:gd name="connsiteY12" fmla="*/ 44912 h 226537"/>
                  <a:gd name="connsiteX13" fmla="*/ 46207 w 208502"/>
                  <a:gd name="connsiteY13" fmla="*/ 94626 h 226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02" h="226537">
                    <a:moveTo>
                      <a:pt x="104014" y="226537"/>
                    </a:moveTo>
                    <a:cubicBezTo>
                      <a:pt x="42594" y="226537"/>
                      <a:pt x="0" y="178612"/>
                      <a:pt x="0" y="113269"/>
                    </a:cubicBezTo>
                    <a:cubicBezTo>
                      <a:pt x="0" y="47925"/>
                      <a:pt x="43070" y="0"/>
                      <a:pt x="104964" y="0"/>
                    </a:cubicBezTo>
                    <a:cubicBezTo>
                      <a:pt x="166859" y="0"/>
                      <a:pt x="208503" y="46136"/>
                      <a:pt x="208503" y="114963"/>
                    </a:cubicBezTo>
                    <a:cubicBezTo>
                      <a:pt x="208503" y="116752"/>
                      <a:pt x="208027" y="122496"/>
                      <a:pt x="208027" y="124285"/>
                    </a:cubicBezTo>
                    <a:lnTo>
                      <a:pt x="45256" y="124285"/>
                    </a:lnTo>
                    <a:cubicBezTo>
                      <a:pt x="48869" y="160252"/>
                      <a:pt x="71307" y="181531"/>
                      <a:pt x="104869" y="181531"/>
                    </a:cubicBezTo>
                    <a:cubicBezTo>
                      <a:pt x="135389" y="181531"/>
                      <a:pt x="153739" y="169950"/>
                      <a:pt x="162296" y="152626"/>
                    </a:cubicBezTo>
                    <a:lnTo>
                      <a:pt x="203559" y="152626"/>
                    </a:lnTo>
                    <a:cubicBezTo>
                      <a:pt x="194146" y="192830"/>
                      <a:pt x="163627" y="226537"/>
                      <a:pt x="104014" y="226537"/>
                    </a:cubicBezTo>
                    <a:close/>
                    <a:moveTo>
                      <a:pt x="46207" y="94626"/>
                    </a:moveTo>
                    <a:lnTo>
                      <a:pt x="162771" y="94626"/>
                    </a:lnTo>
                    <a:cubicBezTo>
                      <a:pt x="158302" y="65344"/>
                      <a:pt x="139002" y="44912"/>
                      <a:pt x="104964" y="44912"/>
                    </a:cubicBezTo>
                    <a:cubicBezTo>
                      <a:pt x="73114" y="44912"/>
                      <a:pt x="52007" y="63178"/>
                      <a:pt x="46207" y="94626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9" name="Freeform 88">
                <a:extLst>
                  <a:ext uri="{FF2B5EF4-FFF2-40B4-BE49-F238E27FC236}">
                    <a16:creationId xmlns:a16="http://schemas.microsoft.com/office/drawing/2014/main" id="{3C20D40B-E9F0-1C43-BD76-65B8F77D92A2}"/>
                  </a:ext>
                </a:extLst>
              </p:cNvPr>
              <p:cNvSpPr/>
              <p:nvPr/>
            </p:nvSpPr>
            <p:spPr>
              <a:xfrm>
                <a:off x="7198783" y="3158861"/>
                <a:ext cx="204034" cy="226444"/>
              </a:xfrm>
              <a:custGeom>
                <a:avLst/>
                <a:gdLst>
                  <a:gd name="connsiteX0" fmla="*/ 204034 w 204034"/>
                  <a:gd name="connsiteY0" fmla="*/ 79844 h 226443"/>
                  <a:gd name="connsiteX1" fmla="*/ 163246 w 204034"/>
                  <a:gd name="connsiteY1" fmla="*/ 79844 h 226443"/>
                  <a:gd name="connsiteX2" fmla="*/ 106295 w 204034"/>
                  <a:gd name="connsiteY2" fmla="*/ 48773 h 226443"/>
                  <a:gd name="connsiteX3" fmla="*/ 45732 w 204034"/>
                  <a:gd name="connsiteY3" fmla="*/ 112704 h 226443"/>
                  <a:gd name="connsiteX4" fmla="*/ 106295 w 204034"/>
                  <a:gd name="connsiteY4" fmla="*/ 177577 h 226443"/>
                  <a:gd name="connsiteX5" fmla="*/ 163246 w 204034"/>
                  <a:gd name="connsiteY5" fmla="*/ 146976 h 226443"/>
                  <a:gd name="connsiteX6" fmla="*/ 204034 w 204034"/>
                  <a:gd name="connsiteY6" fmla="*/ 146976 h 226443"/>
                  <a:gd name="connsiteX7" fmla="*/ 105820 w 204034"/>
                  <a:gd name="connsiteY7" fmla="*/ 226443 h 226443"/>
                  <a:gd name="connsiteX8" fmla="*/ 0 w 204034"/>
                  <a:gd name="connsiteY8" fmla="*/ 112798 h 226443"/>
                  <a:gd name="connsiteX9" fmla="*/ 105820 w 204034"/>
                  <a:gd name="connsiteY9" fmla="*/ 0 h 226443"/>
                  <a:gd name="connsiteX10" fmla="*/ 204034 w 204034"/>
                  <a:gd name="connsiteY10" fmla="*/ 79844 h 226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04034" h="226443">
                    <a:moveTo>
                      <a:pt x="204034" y="79844"/>
                    </a:moveTo>
                    <a:lnTo>
                      <a:pt x="163246" y="79844"/>
                    </a:lnTo>
                    <a:cubicBezTo>
                      <a:pt x="157447" y="61201"/>
                      <a:pt x="139477" y="48773"/>
                      <a:pt x="106295" y="48773"/>
                    </a:cubicBezTo>
                    <a:cubicBezTo>
                      <a:pt x="68645" y="48773"/>
                      <a:pt x="45732" y="74948"/>
                      <a:pt x="45732" y="112704"/>
                    </a:cubicBezTo>
                    <a:cubicBezTo>
                      <a:pt x="45732" y="150931"/>
                      <a:pt x="68645" y="177577"/>
                      <a:pt x="106295" y="177577"/>
                    </a:cubicBezTo>
                    <a:cubicBezTo>
                      <a:pt x="139477" y="177577"/>
                      <a:pt x="157447" y="164678"/>
                      <a:pt x="163246" y="146976"/>
                    </a:cubicBezTo>
                    <a:lnTo>
                      <a:pt x="204034" y="146976"/>
                    </a:lnTo>
                    <a:cubicBezTo>
                      <a:pt x="195097" y="195843"/>
                      <a:pt x="159158" y="226443"/>
                      <a:pt x="105820" y="226443"/>
                    </a:cubicBezTo>
                    <a:cubicBezTo>
                      <a:pt x="40788" y="226443"/>
                      <a:pt x="0" y="176729"/>
                      <a:pt x="0" y="112798"/>
                    </a:cubicBezTo>
                    <a:cubicBezTo>
                      <a:pt x="0" y="49338"/>
                      <a:pt x="40788" y="0"/>
                      <a:pt x="105820" y="0"/>
                    </a:cubicBezTo>
                    <a:cubicBezTo>
                      <a:pt x="159158" y="-94"/>
                      <a:pt x="195002" y="30977"/>
                      <a:pt x="204034" y="79844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</p:grpSp>
        <p:grpSp>
          <p:nvGrpSpPr>
            <p:cNvPr id="70" name="Graphic 6">
              <a:extLst>
                <a:ext uri="{FF2B5EF4-FFF2-40B4-BE49-F238E27FC236}">
                  <a16:creationId xmlns:a16="http://schemas.microsoft.com/office/drawing/2014/main" id="{F28E7F8C-D193-2743-978C-569F156CE945}"/>
                </a:ext>
              </a:extLst>
            </p:cNvPr>
            <p:cNvGrpSpPr/>
            <p:nvPr/>
          </p:nvGrpSpPr>
          <p:grpSpPr>
            <a:xfrm>
              <a:off x="-3634402" y="594048"/>
              <a:ext cx="7151384" cy="1695600"/>
              <a:chOff x="5858663" y="539363"/>
              <a:chExt cx="3733569" cy="884382"/>
            </a:xfrm>
            <a:solidFill>
              <a:srgbClr val="000000"/>
            </a:solidFill>
          </p:grpSpPr>
          <p:sp>
            <p:nvSpPr>
              <p:cNvPr id="77" name="Freeform 76">
                <a:extLst>
                  <a:ext uri="{FF2B5EF4-FFF2-40B4-BE49-F238E27FC236}">
                    <a16:creationId xmlns:a16="http://schemas.microsoft.com/office/drawing/2014/main" id="{489F9D52-CDE1-0541-88E1-CE8707965B66}"/>
                  </a:ext>
                </a:extLst>
              </p:cNvPr>
              <p:cNvSpPr/>
              <p:nvPr/>
            </p:nvSpPr>
            <p:spPr>
              <a:xfrm>
                <a:off x="8518665" y="593100"/>
                <a:ext cx="368031" cy="166148"/>
              </a:xfrm>
              <a:custGeom>
                <a:avLst/>
                <a:gdLst>
                  <a:gd name="connsiteX0" fmla="*/ 184777 w 368031"/>
                  <a:gd name="connsiteY0" fmla="*/ 166148 h 166148"/>
                  <a:gd name="connsiteX1" fmla="*/ 368032 w 368031"/>
                  <a:gd name="connsiteY1" fmla="*/ 0 h 166148"/>
                  <a:gd name="connsiteX2" fmla="*/ 270556 w 368031"/>
                  <a:gd name="connsiteY2" fmla="*/ 0 h 166148"/>
                  <a:gd name="connsiteX3" fmla="*/ 184872 w 368031"/>
                  <a:gd name="connsiteY3" fmla="*/ 60383 h 166148"/>
                  <a:gd name="connsiteX4" fmla="*/ 97476 w 368031"/>
                  <a:gd name="connsiteY4" fmla="*/ 0 h 166148"/>
                  <a:gd name="connsiteX5" fmla="*/ 0 w 368031"/>
                  <a:gd name="connsiteY5" fmla="*/ 0 h 166148"/>
                  <a:gd name="connsiteX6" fmla="*/ 184777 w 368031"/>
                  <a:gd name="connsiteY6" fmla="*/ 166148 h 166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68031" h="166148">
                    <a:moveTo>
                      <a:pt x="184777" y="166148"/>
                    </a:moveTo>
                    <a:cubicBezTo>
                      <a:pt x="283964" y="166148"/>
                      <a:pt x="354527" y="114120"/>
                      <a:pt x="368032" y="0"/>
                    </a:cubicBezTo>
                    <a:lnTo>
                      <a:pt x="270556" y="0"/>
                    </a:lnTo>
                    <a:cubicBezTo>
                      <a:pt x="260475" y="40255"/>
                      <a:pt x="236891" y="60383"/>
                      <a:pt x="184872" y="60383"/>
                    </a:cubicBezTo>
                    <a:cubicBezTo>
                      <a:pt x="132758" y="60383"/>
                      <a:pt x="105845" y="40255"/>
                      <a:pt x="97476" y="0"/>
                    </a:cubicBezTo>
                    <a:lnTo>
                      <a:pt x="0" y="0"/>
                    </a:lnTo>
                    <a:cubicBezTo>
                      <a:pt x="13314" y="114120"/>
                      <a:pt x="85589" y="166148"/>
                      <a:pt x="184777" y="166148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78" name="Freeform 77">
                <a:extLst>
                  <a:ext uri="{FF2B5EF4-FFF2-40B4-BE49-F238E27FC236}">
                    <a16:creationId xmlns:a16="http://schemas.microsoft.com/office/drawing/2014/main" id="{55B92D53-85E1-9B42-A905-ACB99228F4FE}"/>
                  </a:ext>
                </a:extLst>
              </p:cNvPr>
              <p:cNvSpPr/>
              <p:nvPr/>
            </p:nvSpPr>
            <p:spPr>
              <a:xfrm>
                <a:off x="6579415" y="811276"/>
                <a:ext cx="497555" cy="600791"/>
              </a:xfrm>
              <a:custGeom>
                <a:avLst/>
                <a:gdLst>
                  <a:gd name="connsiteX0" fmla="*/ 122677 w 497555"/>
                  <a:gd name="connsiteY0" fmla="*/ 412142 h 600791"/>
                  <a:gd name="connsiteX1" fmla="*/ 122677 w 497555"/>
                  <a:gd name="connsiteY1" fmla="*/ 0 h 600791"/>
                  <a:gd name="connsiteX2" fmla="*/ 0 w 497555"/>
                  <a:gd name="connsiteY2" fmla="*/ 0 h 600791"/>
                  <a:gd name="connsiteX3" fmla="*/ 0 w 497555"/>
                  <a:gd name="connsiteY3" fmla="*/ 600791 h 600791"/>
                  <a:gd name="connsiteX4" fmla="*/ 127813 w 497555"/>
                  <a:gd name="connsiteY4" fmla="*/ 600791 h 600791"/>
                  <a:gd name="connsiteX5" fmla="*/ 374878 w 497555"/>
                  <a:gd name="connsiteY5" fmla="*/ 181719 h 600791"/>
                  <a:gd name="connsiteX6" fmla="*/ 374878 w 497555"/>
                  <a:gd name="connsiteY6" fmla="*/ 600791 h 600791"/>
                  <a:gd name="connsiteX7" fmla="*/ 497556 w 497555"/>
                  <a:gd name="connsiteY7" fmla="*/ 600791 h 600791"/>
                  <a:gd name="connsiteX8" fmla="*/ 497556 w 497555"/>
                  <a:gd name="connsiteY8" fmla="*/ 0 h 600791"/>
                  <a:gd name="connsiteX9" fmla="*/ 369838 w 497555"/>
                  <a:gd name="connsiteY9" fmla="*/ 0 h 600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555" h="600791">
                    <a:moveTo>
                      <a:pt x="122677" y="412142"/>
                    </a:moveTo>
                    <a:lnTo>
                      <a:pt x="122677" y="0"/>
                    </a:lnTo>
                    <a:lnTo>
                      <a:pt x="0" y="0"/>
                    </a:lnTo>
                    <a:lnTo>
                      <a:pt x="0" y="600791"/>
                    </a:lnTo>
                    <a:lnTo>
                      <a:pt x="127813" y="600791"/>
                    </a:lnTo>
                    <a:lnTo>
                      <a:pt x="374878" y="181719"/>
                    </a:lnTo>
                    <a:lnTo>
                      <a:pt x="374878" y="600791"/>
                    </a:lnTo>
                    <a:lnTo>
                      <a:pt x="497556" y="600791"/>
                    </a:lnTo>
                    <a:lnTo>
                      <a:pt x="497556" y="0"/>
                    </a:lnTo>
                    <a:lnTo>
                      <a:pt x="36983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79" name="Freeform 78">
                <a:extLst>
                  <a:ext uri="{FF2B5EF4-FFF2-40B4-BE49-F238E27FC236}">
                    <a16:creationId xmlns:a16="http://schemas.microsoft.com/office/drawing/2014/main" id="{3C73F644-0B18-DA4F-8525-7ADD3C74D2A1}"/>
                  </a:ext>
                </a:extLst>
              </p:cNvPr>
              <p:cNvSpPr/>
              <p:nvPr/>
            </p:nvSpPr>
            <p:spPr>
              <a:xfrm>
                <a:off x="5858663" y="539363"/>
                <a:ext cx="598455" cy="884382"/>
              </a:xfrm>
              <a:custGeom>
                <a:avLst/>
                <a:gdLst>
                  <a:gd name="connsiteX0" fmla="*/ 334557 w 598455"/>
                  <a:gd name="connsiteY0" fmla="*/ 276945 h 884382"/>
                  <a:gd name="connsiteX1" fmla="*/ 111551 w 598455"/>
                  <a:gd name="connsiteY1" fmla="*/ 406066 h 884382"/>
                  <a:gd name="connsiteX2" fmla="*/ 302604 w 598455"/>
                  <a:gd name="connsiteY2" fmla="*/ 167857 h 884382"/>
                  <a:gd name="connsiteX3" fmla="*/ 548053 w 598455"/>
                  <a:gd name="connsiteY3" fmla="*/ 134248 h 884382"/>
                  <a:gd name="connsiteX4" fmla="*/ 537973 w 598455"/>
                  <a:gd name="connsiteY4" fmla="*/ 0 h 884382"/>
                  <a:gd name="connsiteX5" fmla="*/ 282443 w 598455"/>
                  <a:gd name="connsiteY5" fmla="*/ 35223 h 884382"/>
                  <a:gd name="connsiteX6" fmla="*/ 0 w 598455"/>
                  <a:gd name="connsiteY6" fmla="*/ 501767 h 884382"/>
                  <a:gd name="connsiteX7" fmla="*/ 302604 w 598455"/>
                  <a:gd name="connsiteY7" fmla="*/ 884382 h 884382"/>
                  <a:gd name="connsiteX8" fmla="*/ 598455 w 598455"/>
                  <a:gd name="connsiteY8" fmla="*/ 563859 h 884382"/>
                  <a:gd name="connsiteX9" fmla="*/ 334557 w 598455"/>
                  <a:gd name="connsiteY9" fmla="*/ 276945 h 884382"/>
                  <a:gd name="connsiteX10" fmla="*/ 302604 w 598455"/>
                  <a:gd name="connsiteY10" fmla="*/ 751844 h 884382"/>
                  <a:gd name="connsiteX11" fmla="*/ 126101 w 598455"/>
                  <a:gd name="connsiteY11" fmla="*/ 550472 h 884382"/>
                  <a:gd name="connsiteX12" fmla="*/ 126101 w 598455"/>
                  <a:gd name="connsiteY12" fmla="*/ 488380 h 884382"/>
                  <a:gd name="connsiteX13" fmla="*/ 302604 w 598455"/>
                  <a:gd name="connsiteY13" fmla="*/ 404452 h 884382"/>
                  <a:gd name="connsiteX14" fmla="*/ 472355 w 598455"/>
                  <a:gd name="connsiteY14" fmla="*/ 563859 h 884382"/>
                  <a:gd name="connsiteX15" fmla="*/ 302604 w 598455"/>
                  <a:gd name="connsiteY15" fmla="*/ 751844 h 884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98455" h="884382">
                    <a:moveTo>
                      <a:pt x="334557" y="276945"/>
                    </a:moveTo>
                    <a:cubicBezTo>
                      <a:pt x="237366" y="276945"/>
                      <a:pt x="154440" y="322137"/>
                      <a:pt x="111551" y="406066"/>
                    </a:cubicBezTo>
                    <a:cubicBezTo>
                      <a:pt x="117637" y="269919"/>
                      <a:pt x="144740" y="188934"/>
                      <a:pt x="302604" y="167857"/>
                    </a:cubicBezTo>
                    <a:lnTo>
                      <a:pt x="548053" y="134248"/>
                    </a:lnTo>
                    <a:lnTo>
                      <a:pt x="537973" y="0"/>
                    </a:lnTo>
                    <a:lnTo>
                      <a:pt x="282443" y="35223"/>
                    </a:lnTo>
                    <a:cubicBezTo>
                      <a:pt x="62194" y="65415"/>
                      <a:pt x="0" y="234981"/>
                      <a:pt x="0" y="501767"/>
                    </a:cubicBezTo>
                    <a:cubicBezTo>
                      <a:pt x="0" y="735039"/>
                      <a:pt x="105940" y="884382"/>
                      <a:pt x="302604" y="884382"/>
                    </a:cubicBezTo>
                    <a:cubicBezTo>
                      <a:pt x="494227" y="884382"/>
                      <a:pt x="598455" y="736653"/>
                      <a:pt x="598455" y="563859"/>
                    </a:cubicBezTo>
                    <a:cubicBezTo>
                      <a:pt x="598455" y="391065"/>
                      <a:pt x="482530" y="276945"/>
                      <a:pt x="334557" y="276945"/>
                    </a:cubicBezTo>
                    <a:close/>
                    <a:moveTo>
                      <a:pt x="302604" y="751844"/>
                    </a:moveTo>
                    <a:cubicBezTo>
                      <a:pt x="191624" y="751844"/>
                      <a:pt x="126101" y="671333"/>
                      <a:pt x="126101" y="550472"/>
                    </a:cubicBezTo>
                    <a:lnTo>
                      <a:pt x="126101" y="488380"/>
                    </a:lnTo>
                    <a:cubicBezTo>
                      <a:pt x="149590" y="441384"/>
                      <a:pt x="211880" y="404452"/>
                      <a:pt x="302604" y="404452"/>
                    </a:cubicBezTo>
                    <a:cubicBezTo>
                      <a:pt x="398463" y="404452"/>
                      <a:pt x="472355" y="449739"/>
                      <a:pt x="472355" y="563859"/>
                    </a:cubicBezTo>
                    <a:cubicBezTo>
                      <a:pt x="472355" y="677979"/>
                      <a:pt x="413584" y="751844"/>
                      <a:pt x="302604" y="751844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 dirty="0"/>
              </a:p>
            </p:txBody>
          </p:sp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759B4A3A-D79F-4F48-A728-18858ED5678C}"/>
                  </a:ext>
                </a:extLst>
              </p:cNvPr>
              <p:cNvSpPr/>
              <p:nvPr/>
            </p:nvSpPr>
            <p:spPr>
              <a:xfrm>
                <a:off x="9108086" y="811276"/>
                <a:ext cx="484146" cy="600791"/>
              </a:xfrm>
              <a:custGeom>
                <a:avLst/>
                <a:gdLst>
                  <a:gd name="connsiteX0" fmla="*/ 361375 w 484146"/>
                  <a:gd name="connsiteY0" fmla="*/ 0 h 600791"/>
                  <a:gd name="connsiteX1" fmla="*/ 361375 w 484146"/>
                  <a:gd name="connsiteY1" fmla="*/ 224822 h 600791"/>
                  <a:gd name="connsiteX2" fmla="*/ 122677 w 484146"/>
                  <a:gd name="connsiteY2" fmla="*/ 224822 h 600791"/>
                  <a:gd name="connsiteX3" fmla="*/ 122677 w 484146"/>
                  <a:gd name="connsiteY3" fmla="*/ 0 h 600791"/>
                  <a:gd name="connsiteX4" fmla="*/ 0 w 484146"/>
                  <a:gd name="connsiteY4" fmla="*/ 0 h 600791"/>
                  <a:gd name="connsiteX5" fmla="*/ 0 w 484146"/>
                  <a:gd name="connsiteY5" fmla="*/ 600791 h 600791"/>
                  <a:gd name="connsiteX6" fmla="*/ 122677 w 484146"/>
                  <a:gd name="connsiteY6" fmla="*/ 600791 h 600791"/>
                  <a:gd name="connsiteX7" fmla="*/ 122677 w 484146"/>
                  <a:gd name="connsiteY7" fmla="*/ 349006 h 600791"/>
                  <a:gd name="connsiteX8" fmla="*/ 361375 w 484146"/>
                  <a:gd name="connsiteY8" fmla="*/ 349006 h 600791"/>
                  <a:gd name="connsiteX9" fmla="*/ 361375 w 484146"/>
                  <a:gd name="connsiteY9" fmla="*/ 600791 h 600791"/>
                  <a:gd name="connsiteX10" fmla="*/ 484147 w 484146"/>
                  <a:gd name="connsiteY10" fmla="*/ 600791 h 600791"/>
                  <a:gd name="connsiteX11" fmla="*/ 484147 w 484146"/>
                  <a:gd name="connsiteY11" fmla="*/ 0 h 600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84146" h="600791">
                    <a:moveTo>
                      <a:pt x="361375" y="0"/>
                    </a:moveTo>
                    <a:lnTo>
                      <a:pt x="361375" y="224822"/>
                    </a:lnTo>
                    <a:lnTo>
                      <a:pt x="122677" y="224822"/>
                    </a:lnTo>
                    <a:lnTo>
                      <a:pt x="122677" y="0"/>
                    </a:lnTo>
                    <a:lnTo>
                      <a:pt x="0" y="0"/>
                    </a:lnTo>
                    <a:lnTo>
                      <a:pt x="0" y="600791"/>
                    </a:lnTo>
                    <a:lnTo>
                      <a:pt x="122677" y="600791"/>
                    </a:lnTo>
                    <a:lnTo>
                      <a:pt x="122677" y="349006"/>
                    </a:lnTo>
                    <a:lnTo>
                      <a:pt x="361375" y="349006"/>
                    </a:lnTo>
                    <a:lnTo>
                      <a:pt x="361375" y="600791"/>
                    </a:lnTo>
                    <a:lnTo>
                      <a:pt x="484147" y="600791"/>
                    </a:lnTo>
                    <a:lnTo>
                      <a:pt x="48414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1" name="Freeform 80">
                <a:extLst>
                  <a:ext uri="{FF2B5EF4-FFF2-40B4-BE49-F238E27FC236}">
                    <a16:creationId xmlns:a16="http://schemas.microsoft.com/office/drawing/2014/main" id="{DD4BF0C6-AAF7-514E-9F6D-90BC8FDF842E}"/>
                  </a:ext>
                </a:extLst>
              </p:cNvPr>
              <p:cNvSpPr/>
              <p:nvPr/>
            </p:nvSpPr>
            <p:spPr>
              <a:xfrm>
                <a:off x="8456280" y="811276"/>
                <a:ext cx="497555" cy="600791"/>
              </a:xfrm>
              <a:custGeom>
                <a:avLst/>
                <a:gdLst>
                  <a:gd name="connsiteX0" fmla="*/ 122772 w 497555"/>
                  <a:gd name="connsiteY0" fmla="*/ 412142 h 600791"/>
                  <a:gd name="connsiteX1" fmla="*/ 122772 w 497555"/>
                  <a:gd name="connsiteY1" fmla="*/ 0 h 600791"/>
                  <a:gd name="connsiteX2" fmla="*/ 0 w 497555"/>
                  <a:gd name="connsiteY2" fmla="*/ 0 h 600791"/>
                  <a:gd name="connsiteX3" fmla="*/ 0 w 497555"/>
                  <a:gd name="connsiteY3" fmla="*/ 600791 h 600791"/>
                  <a:gd name="connsiteX4" fmla="*/ 127813 w 497555"/>
                  <a:gd name="connsiteY4" fmla="*/ 600791 h 600791"/>
                  <a:gd name="connsiteX5" fmla="*/ 374879 w 497555"/>
                  <a:gd name="connsiteY5" fmla="*/ 181719 h 600791"/>
                  <a:gd name="connsiteX6" fmla="*/ 374879 w 497555"/>
                  <a:gd name="connsiteY6" fmla="*/ 600791 h 600791"/>
                  <a:gd name="connsiteX7" fmla="*/ 497556 w 497555"/>
                  <a:gd name="connsiteY7" fmla="*/ 600791 h 600791"/>
                  <a:gd name="connsiteX8" fmla="*/ 497556 w 497555"/>
                  <a:gd name="connsiteY8" fmla="*/ 0 h 600791"/>
                  <a:gd name="connsiteX9" fmla="*/ 369838 w 497555"/>
                  <a:gd name="connsiteY9" fmla="*/ 0 h 600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555" h="600791">
                    <a:moveTo>
                      <a:pt x="122772" y="412142"/>
                    </a:moveTo>
                    <a:lnTo>
                      <a:pt x="122772" y="0"/>
                    </a:lnTo>
                    <a:lnTo>
                      <a:pt x="0" y="0"/>
                    </a:lnTo>
                    <a:lnTo>
                      <a:pt x="0" y="600791"/>
                    </a:lnTo>
                    <a:lnTo>
                      <a:pt x="127813" y="600791"/>
                    </a:lnTo>
                    <a:lnTo>
                      <a:pt x="374879" y="181719"/>
                    </a:lnTo>
                    <a:lnTo>
                      <a:pt x="374879" y="600791"/>
                    </a:lnTo>
                    <a:lnTo>
                      <a:pt x="497556" y="600791"/>
                    </a:lnTo>
                    <a:lnTo>
                      <a:pt x="497556" y="0"/>
                    </a:lnTo>
                    <a:lnTo>
                      <a:pt x="36983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2" name="Freeform 81">
                <a:extLst>
                  <a:ext uri="{FF2B5EF4-FFF2-40B4-BE49-F238E27FC236}">
                    <a16:creationId xmlns:a16="http://schemas.microsoft.com/office/drawing/2014/main" id="{5BBAAB9C-5C10-4046-8C59-EC03F0E2F185}"/>
                  </a:ext>
                </a:extLst>
              </p:cNvPr>
              <p:cNvSpPr/>
              <p:nvPr/>
            </p:nvSpPr>
            <p:spPr>
              <a:xfrm>
                <a:off x="7183386" y="811276"/>
                <a:ext cx="517811" cy="609241"/>
              </a:xfrm>
              <a:custGeom>
                <a:avLst/>
                <a:gdLst>
                  <a:gd name="connsiteX0" fmla="*/ 114309 w 517811"/>
                  <a:gd name="connsiteY0" fmla="*/ 367520 h 609241"/>
                  <a:gd name="connsiteX1" fmla="*/ 45362 w 517811"/>
                  <a:gd name="connsiteY1" fmla="*/ 463221 h 609241"/>
                  <a:gd name="connsiteX2" fmla="*/ 0 w 517811"/>
                  <a:gd name="connsiteY2" fmla="*/ 458189 h 609241"/>
                  <a:gd name="connsiteX3" fmla="*/ 0 w 517811"/>
                  <a:gd name="connsiteY3" fmla="*/ 597468 h 609241"/>
                  <a:gd name="connsiteX4" fmla="*/ 60483 w 517811"/>
                  <a:gd name="connsiteY4" fmla="*/ 609241 h 609241"/>
                  <a:gd name="connsiteX5" fmla="*/ 191624 w 517811"/>
                  <a:gd name="connsiteY5" fmla="*/ 515249 h 609241"/>
                  <a:gd name="connsiteX6" fmla="*/ 220248 w 517811"/>
                  <a:gd name="connsiteY6" fmla="*/ 369228 h 609241"/>
                  <a:gd name="connsiteX7" fmla="*/ 232041 w 517811"/>
                  <a:gd name="connsiteY7" fmla="*/ 127602 h 609241"/>
                  <a:gd name="connsiteX8" fmla="*/ 395135 w 517811"/>
                  <a:gd name="connsiteY8" fmla="*/ 127602 h 609241"/>
                  <a:gd name="connsiteX9" fmla="*/ 395135 w 517811"/>
                  <a:gd name="connsiteY9" fmla="*/ 600886 h 609241"/>
                  <a:gd name="connsiteX10" fmla="*/ 517812 w 517811"/>
                  <a:gd name="connsiteY10" fmla="*/ 600886 h 609241"/>
                  <a:gd name="connsiteX11" fmla="*/ 517812 w 517811"/>
                  <a:gd name="connsiteY11" fmla="*/ 0 h 609241"/>
                  <a:gd name="connsiteX12" fmla="*/ 129524 w 517811"/>
                  <a:gd name="connsiteY12" fmla="*/ 0 h 609241"/>
                  <a:gd name="connsiteX13" fmla="*/ 114309 w 517811"/>
                  <a:gd name="connsiteY13" fmla="*/ 367520 h 609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17811" h="609241">
                    <a:moveTo>
                      <a:pt x="114309" y="367520"/>
                    </a:moveTo>
                    <a:cubicBezTo>
                      <a:pt x="100900" y="434643"/>
                      <a:pt x="82355" y="463221"/>
                      <a:pt x="45362" y="463221"/>
                    </a:cubicBezTo>
                    <a:cubicBezTo>
                      <a:pt x="25201" y="463221"/>
                      <a:pt x="10080" y="461512"/>
                      <a:pt x="0" y="458189"/>
                    </a:cubicBezTo>
                    <a:lnTo>
                      <a:pt x="0" y="597468"/>
                    </a:lnTo>
                    <a:cubicBezTo>
                      <a:pt x="15121" y="604209"/>
                      <a:pt x="28625" y="609241"/>
                      <a:pt x="60483" y="609241"/>
                    </a:cubicBezTo>
                    <a:cubicBezTo>
                      <a:pt x="124389" y="609241"/>
                      <a:pt x="169751" y="572309"/>
                      <a:pt x="191624" y="515249"/>
                    </a:cubicBezTo>
                    <a:cubicBezTo>
                      <a:pt x="205032" y="480026"/>
                      <a:pt x="213496" y="431320"/>
                      <a:pt x="220248" y="369228"/>
                    </a:cubicBezTo>
                    <a:cubicBezTo>
                      <a:pt x="227001" y="307137"/>
                      <a:pt x="232041" y="224917"/>
                      <a:pt x="232041" y="127602"/>
                    </a:cubicBezTo>
                    <a:lnTo>
                      <a:pt x="395135" y="127602"/>
                    </a:lnTo>
                    <a:lnTo>
                      <a:pt x="395135" y="600886"/>
                    </a:lnTo>
                    <a:lnTo>
                      <a:pt x="517812" y="600886"/>
                    </a:lnTo>
                    <a:lnTo>
                      <a:pt x="517812" y="0"/>
                    </a:lnTo>
                    <a:lnTo>
                      <a:pt x="129524" y="0"/>
                    </a:lnTo>
                    <a:cubicBezTo>
                      <a:pt x="129524" y="181244"/>
                      <a:pt x="124484" y="300396"/>
                      <a:pt x="114309" y="36752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3" name="Freeform 82">
                <a:extLst>
                  <a:ext uri="{FF2B5EF4-FFF2-40B4-BE49-F238E27FC236}">
                    <a16:creationId xmlns:a16="http://schemas.microsoft.com/office/drawing/2014/main" id="{7A9D1837-7F6F-8140-99EE-D0E518786275}"/>
                  </a:ext>
                </a:extLst>
              </p:cNvPr>
              <p:cNvSpPr/>
              <p:nvPr/>
            </p:nvSpPr>
            <p:spPr>
              <a:xfrm>
                <a:off x="7829771" y="797794"/>
                <a:ext cx="514483" cy="624336"/>
              </a:xfrm>
              <a:custGeom>
                <a:avLst/>
                <a:gdLst>
                  <a:gd name="connsiteX0" fmla="*/ 450482 w 514483"/>
                  <a:gd name="connsiteY0" fmla="*/ 451448 h 624336"/>
                  <a:gd name="connsiteX1" fmla="*/ 452194 w 514483"/>
                  <a:gd name="connsiteY1" fmla="*/ 213144 h 624336"/>
                  <a:gd name="connsiteX2" fmla="*/ 226905 w 514483"/>
                  <a:gd name="connsiteY2" fmla="*/ 0 h 624336"/>
                  <a:gd name="connsiteX3" fmla="*/ 0 w 514483"/>
                  <a:gd name="connsiteY3" fmla="*/ 201371 h 624336"/>
                  <a:gd name="connsiteX4" fmla="*/ 117637 w 514483"/>
                  <a:gd name="connsiteY4" fmla="*/ 201371 h 624336"/>
                  <a:gd name="connsiteX5" fmla="*/ 226905 w 514483"/>
                  <a:gd name="connsiteY5" fmla="*/ 127507 h 624336"/>
                  <a:gd name="connsiteX6" fmla="*/ 333701 w 514483"/>
                  <a:gd name="connsiteY6" fmla="*/ 207827 h 624336"/>
                  <a:gd name="connsiteX7" fmla="*/ 183255 w 514483"/>
                  <a:gd name="connsiteY7" fmla="*/ 268495 h 624336"/>
                  <a:gd name="connsiteX8" fmla="*/ 3424 w 514483"/>
                  <a:gd name="connsiteY8" fmla="*/ 456480 h 624336"/>
                  <a:gd name="connsiteX9" fmla="*/ 174886 w 514483"/>
                  <a:gd name="connsiteY9" fmla="*/ 624337 h 624336"/>
                  <a:gd name="connsiteX10" fmla="*/ 343686 w 514483"/>
                  <a:gd name="connsiteY10" fmla="*/ 514964 h 624336"/>
                  <a:gd name="connsiteX11" fmla="*/ 480818 w 514483"/>
                  <a:gd name="connsiteY11" fmla="*/ 619305 h 624336"/>
                  <a:gd name="connsiteX12" fmla="*/ 514483 w 514483"/>
                  <a:gd name="connsiteY12" fmla="*/ 619305 h 624336"/>
                  <a:gd name="connsiteX13" fmla="*/ 514483 w 514483"/>
                  <a:gd name="connsiteY13" fmla="*/ 503476 h 624336"/>
                  <a:gd name="connsiteX14" fmla="*/ 504403 w 514483"/>
                  <a:gd name="connsiteY14" fmla="*/ 503476 h 624336"/>
                  <a:gd name="connsiteX15" fmla="*/ 450482 w 514483"/>
                  <a:gd name="connsiteY15" fmla="*/ 451448 h 624336"/>
                  <a:gd name="connsiteX16" fmla="*/ 220153 w 514483"/>
                  <a:gd name="connsiteY16" fmla="*/ 498444 h 624336"/>
                  <a:gd name="connsiteX17" fmla="*/ 120965 w 514483"/>
                  <a:gd name="connsiteY17" fmla="*/ 431320 h 624336"/>
                  <a:gd name="connsiteX18" fmla="*/ 216825 w 514483"/>
                  <a:gd name="connsiteY18" fmla="*/ 340651 h 624336"/>
                  <a:gd name="connsiteX19" fmla="*/ 333986 w 514483"/>
                  <a:gd name="connsiteY19" fmla="*/ 292041 h 624336"/>
                  <a:gd name="connsiteX20" fmla="*/ 332750 w 514483"/>
                  <a:gd name="connsiteY20" fmla="*/ 454771 h 624336"/>
                  <a:gd name="connsiteX21" fmla="*/ 220153 w 514483"/>
                  <a:gd name="connsiteY21" fmla="*/ 498444 h 624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14483" h="624336">
                    <a:moveTo>
                      <a:pt x="450482" y="451448"/>
                    </a:moveTo>
                    <a:lnTo>
                      <a:pt x="452194" y="213144"/>
                    </a:lnTo>
                    <a:cubicBezTo>
                      <a:pt x="453906" y="62092"/>
                      <a:pt x="361375" y="0"/>
                      <a:pt x="226905" y="0"/>
                    </a:cubicBezTo>
                    <a:cubicBezTo>
                      <a:pt x="115925" y="0"/>
                      <a:pt x="15121" y="60383"/>
                      <a:pt x="0" y="201371"/>
                    </a:cubicBezTo>
                    <a:lnTo>
                      <a:pt x="117637" y="201371"/>
                    </a:lnTo>
                    <a:cubicBezTo>
                      <a:pt x="124389" y="146020"/>
                      <a:pt x="168039" y="127507"/>
                      <a:pt x="226905" y="127507"/>
                    </a:cubicBezTo>
                    <a:cubicBezTo>
                      <a:pt x="287198" y="127507"/>
                      <a:pt x="327615" y="146020"/>
                      <a:pt x="333701" y="207827"/>
                    </a:cubicBezTo>
                    <a:lnTo>
                      <a:pt x="183255" y="268495"/>
                    </a:lnTo>
                    <a:cubicBezTo>
                      <a:pt x="80739" y="310460"/>
                      <a:pt x="3424" y="357456"/>
                      <a:pt x="3424" y="456480"/>
                    </a:cubicBezTo>
                    <a:cubicBezTo>
                      <a:pt x="3424" y="558827"/>
                      <a:pt x="60578" y="624337"/>
                      <a:pt x="174886" y="624337"/>
                    </a:cubicBezTo>
                    <a:cubicBezTo>
                      <a:pt x="253818" y="624337"/>
                      <a:pt x="303745" y="587310"/>
                      <a:pt x="343686" y="514964"/>
                    </a:cubicBezTo>
                    <a:cubicBezTo>
                      <a:pt x="349678" y="587310"/>
                      <a:pt x="397702" y="619305"/>
                      <a:pt x="480818" y="619305"/>
                    </a:cubicBezTo>
                    <a:lnTo>
                      <a:pt x="514483" y="619305"/>
                    </a:lnTo>
                    <a:lnTo>
                      <a:pt x="514483" y="503476"/>
                    </a:lnTo>
                    <a:lnTo>
                      <a:pt x="504403" y="503476"/>
                    </a:lnTo>
                    <a:cubicBezTo>
                      <a:pt x="465603" y="503476"/>
                      <a:pt x="450482" y="488380"/>
                      <a:pt x="450482" y="451448"/>
                    </a:cubicBezTo>
                    <a:close/>
                    <a:moveTo>
                      <a:pt x="220153" y="498444"/>
                    </a:moveTo>
                    <a:cubicBezTo>
                      <a:pt x="162999" y="498444"/>
                      <a:pt x="120965" y="483348"/>
                      <a:pt x="120965" y="431320"/>
                    </a:cubicBezTo>
                    <a:cubicBezTo>
                      <a:pt x="120965" y="386033"/>
                      <a:pt x="156247" y="365905"/>
                      <a:pt x="216825" y="340651"/>
                    </a:cubicBezTo>
                    <a:lnTo>
                      <a:pt x="333986" y="292041"/>
                    </a:lnTo>
                    <a:lnTo>
                      <a:pt x="332750" y="454771"/>
                    </a:lnTo>
                    <a:cubicBezTo>
                      <a:pt x="312589" y="480025"/>
                      <a:pt x="272267" y="498444"/>
                      <a:pt x="220153" y="498444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F2A587C2-CB16-8741-B27C-12032B5B9560}"/>
                </a:ext>
              </a:extLst>
            </p:cNvPr>
            <p:cNvGrpSpPr/>
            <p:nvPr userDrawn="1"/>
          </p:nvGrpSpPr>
          <p:grpSpPr>
            <a:xfrm>
              <a:off x="-6416384" y="251406"/>
              <a:ext cx="2558564" cy="2558564"/>
              <a:chOff x="8962070" y="251406"/>
              <a:chExt cx="321536" cy="321536"/>
            </a:xfrm>
          </p:grpSpPr>
          <p:grpSp>
            <p:nvGrpSpPr>
              <p:cNvPr id="72" name="Graphic 6">
                <a:extLst>
                  <a:ext uri="{FF2B5EF4-FFF2-40B4-BE49-F238E27FC236}">
                    <a16:creationId xmlns:a16="http://schemas.microsoft.com/office/drawing/2014/main" id="{1ED07656-C36A-184A-AEBA-DED04CC227F7}"/>
                  </a:ext>
                </a:extLst>
              </p:cNvPr>
              <p:cNvGrpSpPr/>
              <p:nvPr/>
            </p:nvGrpSpPr>
            <p:grpSpPr>
              <a:xfrm>
                <a:off x="9005394" y="293780"/>
                <a:ext cx="236379" cy="235840"/>
                <a:chOff x="4586236" y="536515"/>
                <a:chExt cx="981996" cy="979755"/>
              </a:xfrm>
            </p:grpSpPr>
            <p:sp>
              <p:nvSpPr>
                <p:cNvPr id="75" name="Freeform 74">
                  <a:extLst>
                    <a:ext uri="{FF2B5EF4-FFF2-40B4-BE49-F238E27FC236}">
                      <a16:creationId xmlns:a16="http://schemas.microsoft.com/office/drawing/2014/main" id="{A8B3500B-0ADD-364C-AF55-5D1FEC26891F}"/>
                    </a:ext>
                  </a:extLst>
                </p:cNvPr>
                <p:cNvSpPr/>
                <p:nvPr/>
              </p:nvSpPr>
              <p:spPr>
                <a:xfrm>
                  <a:off x="4587956" y="536515"/>
                  <a:ext cx="980276" cy="978659"/>
                </a:xfrm>
                <a:custGeom>
                  <a:avLst/>
                  <a:gdLst>
                    <a:gd name="connsiteX0" fmla="*/ 980276 w 980276"/>
                    <a:gd name="connsiteY0" fmla="*/ 489330 h 978659"/>
                    <a:gd name="connsiteX1" fmla="*/ 490138 w 980276"/>
                    <a:gd name="connsiteY1" fmla="*/ 978660 h 978659"/>
                    <a:gd name="connsiteX2" fmla="*/ 0 w 980276"/>
                    <a:gd name="connsiteY2" fmla="*/ 489330 h 978659"/>
                    <a:gd name="connsiteX3" fmla="*/ 490138 w 980276"/>
                    <a:gd name="connsiteY3" fmla="*/ 0 h 978659"/>
                    <a:gd name="connsiteX4" fmla="*/ 980276 w 980276"/>
                    <a:gd name="connsiteY4" fmla="*/ 489330 h 978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0276" h="978659">
                      <a:moveTo>
                        <a:pt x="980276" y="489330"/>
                      </a:moveTo>
                      <a:cubicBezTo>
                        <a:pt x="980276" y="759579"/>
                        <a:pt x="760834" y="978660"/>
                        <a:pt x="490138" y="978660"/>
                      </a:cubicBezTo>
                      <a:cubicBezTo>
                        <a:pt x="219442" y="978660"/>
                        <a:pt x="0" y="759579"/>
                        <a:pt x="0" y="489330"/>
                      </a:cubicBezTo>
                      <a:cubicBezTo>
                        <a:pt x="0" y="219080"/>
                        <a:pt x="219442" y="0"/>
                        <a:pt x="490138" y="0"/>
                      </a:cubicBezTo>
                      <a:cubicBezTo>
                        <a:pt x="760834" y="0"/>
                        <a:pt x="980276" y="219080"/>
                        <a:pt x="980276" y="489330"/>
                      </a:cubicBezTo>
                      <a:close/>
                    </a:path>
                  </a:pathLst>
                </a:custGeom>
                <a:solidFill>
                  <a:srgbClr val="FFC8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  <p:sp>
              <p:nvSpPr>
                <p:cNvPr id="76" name="Freeform 75">
                  <a:extLst>
                    <a:ext uri="{FF2B5EF4-FFF2-40B4-BE49-F238E27FC236}">
                      <a16:creationId xmlns:a16="http://schemas.microsoft.com/office/drawing/2014/main" id="{B1C81A69-BD0C-EE40-A840-DAA89CCA02C0}"/>
                    </a:ext>
                  </a:extLst>
                </p:cNvPr>
                <p:cNvSpPr/>
                <p:nvPr/>
              </p:nvSpPr>
              <p:spPr>
                <a:xfrm>
                  <a:off x="4586236" y="537071"/>
                  <a:ext cx="980476" cy="979199"/>
                </a:xfrm>
                <a:custGeom>
                  <a:avLst/>
                  <a:gdLst>
                    <a:gd name="connsiteX0" fmla="*/ 546019 w 980476"/>
                    <a:gd name="connsiteY0" fmla="*/ 123835 h 977664"/>
                    <a:gd name="connsiteX1" fmla="*/ 373035 w 980476"/>
                    <a:gd name="connsiteY1" fmla="*/ 285521 h 977664"/>
                    <a:gd name="connsiteX2" fmla="*/ 146415 w 980476"/>
                    <a:gd name="connsiteY2" fmla="*/ 354259 h 977664"/>
                    <a:gd name="connsiteX3" fmla="*/ 62158 w 980476"/>
                    <a:gd name="connsiteY3" fmla="*/ 306219 h 977664"/>
                    <a:gd name="connsiteX4" fmla="*/ 89070 w 980476"/>
                    <a:gd name="connsiteY4" fmla="*/ 206910 h 977664"/>
                    <a:gd name="connsiteX5" fmla="*/ 101623 w 980476"/>
                    <a:gd name="connsiteY5" fmla="*/ 189820 h 977664"/>
                    <a:gd name="connsiteX6" fmla="*/ 245222 w 980476"/>
                    <a:gd name="connsiteY6" fmla="*/ 64402 h 977664"/>
                    <a:gd name="connsiteX7" fmla="*/ 425814 w 980476"/>
                    <a:gd name="connsiteY7" fmla="*/ 2975 h 977664"/>
                    <a:gd name="connsiteX8" fmla="*/ 446831 w 980476"/>
                    <a:gd name="connsiteY8" fmla="*/ 696 h 977664"/>
                    <a:gd name="connsiteX9" fmla="*/ 546399 w 980476"/>
                    <a:gd name="connsiteY9" fmla="*/ 26995 h 977664"/>
                    <a:gd name="connsiteX10" fmla="*/ 546019 w 980476"/>
                    <a:gd name="connsiteY10" fmla="*/ 123835 h 977664"/>
                    <a:gd name="connsiteX11" fmla="*/ 898549 w 980476"/>
                    <a:gd name="connsiteY11" fmla="*/ 217353 h 977664"/>
                    <a:gd name="connsiteX12" fmla="*/ 877628 w 980476"/>
                    <a:gd name="connsiteY12" fmla="*/ 188301 h 977664"/>
                    <a:gd name="connsiteX13" fmla="*/ 720810 w 980476"/>
                    <a:gd name="connsiteY13" fmla="*/ 56332 h 977664"/>
                    <a:gd name="connsiteX14" fmla="*/ 760657 w 980476"/>
                    <a:gd name="connsiteY14" fmla="*/ 97821 h 977664"/>
                    <a:gd name="connsiteX15" fmla="*/ 771973 w 980476"/>
                    <a:gd name="connsiteY15" fmla="*/ 124690 h 977664"/>
                    <a:gd name="connsiteX16" fmla="*/ 757138 w 980476"/>
                    <a:gd name="connsiteY16" fmla="*/ 246310 h 977664"/>
                    <a:gd name="connsiteX17" fmla="*/ 499516 w 980476"/>
                    <a:gd name="connsiteY17" fmla="*/ 504267 h 977664"/>
                    <a:gd name="connsiteX18" fmla="*/ 146890 w 980476"/>
                    <a:gd name="connsiteY18" fmla="*/ 598164 h 977664"/>
                    <a:gd name="connsiteX19" fmla="*/ 34008 w 980476"/>
                    <a:gd name="connsiteY19" fmla="*/ 550124 h 977664"/>
                    <a:gd name="connsiteX20" fmla="*/ 16415 w 980476"/>
                    <a:gd name="connsiteY20" fmla="*/ 526863 h 977664"/>
                    <a:gd name="connsiteX21" fmla="*/ 343 w 980476"/>
                    <a:gd name="connsiteY21" fmla="*/ 470658 h 977664"/>
                    <a:gd name="connsiteX22" fmla="*/ 36956 w 980476"/>
                    <a:gd name="connsiteY22" fmla="*/ 674782 h 977664"/>
                    <a:gd name="connsiteX23" fmla="*/ 50270 w 980476"/>
                    <a:gd name="connsiteY23" fmla="*/ 704119 h 977664"/>
                    <a:gd name="connsiteX24" fmla="*/ 50936 w 980476"/>
                    <a:gd name="connsiteY24" fmla="*/ 705354 h 977664"/>
                    <a:gd name="connsiteX25" fmla="*/ 127585 w 980476"/>
                    <a:gd name="connsiteY25" fmla="*/ 777604 h 977664"/>
                    <a:gd name="connsiteX26" fmla="*/ 620101 w 980476"/>
                    <a:gd name="connsiteY26" fmla="*/ 712949 h 977664"/>
                    <a:gd name="connsiteX27" fmla="*/ 922419 w 980476"/>
                    <a:gd name="connsiteY27" fmla="*/ 319510 h 977664"/>
                    <a:gd name="connsiteX28" fmla="*/ 898549 w 980476"/>
                    <a:gd name="connsiteY28" fmla="*/ 217353 h 977664"/>
                    <a:gd name="connsiteX29" fmla="*/ 701125 w 980476"/>
                    <a:gd name="connsiteY29" fmla="*/ 852798 h 977664"/>
                    <a:gd name="connsiteX30" fmla="*/ 238851 w 980476"/>
                    <a:gd name="connsiteY30" fmla="*/ 908434 h 977664"/>
                    <a:gd name="connsiteX31" fmla="*/ 735265 w 980476"/>
                    <a:gd name="connsiteY31" fmla="*/ 912042 h 977664"/>
                    <a:gd name="connsiteX32" fmla="*/ 980429 w 980476"/>
                    <a:gd name="connsiteY32" fmla="*/ 480911 h 977664"/>
                    <a:gd name="connsiteX33" fmla="*/ 701125 w 980476"/>
                    <a:gd name="connsiteY33" fmla="*/ 852798 h 9776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980476" h="977664">
                      <a:moveTo>
                        <a:pt x="546019" y="123835"/>
                      </a:moveTo>
                      <a:cubicBezTo>
                        <a:pt x="518345" y="177288"/>
                        <a:pt x="455866" y="237860"/>
                        <a:pt x="373035" y="285521"/>
                      </a:cubicBezTo>
                      <a:cubicBezTo>
                        <a:pt x="290299" y="333182"/>
                        <a:pt x="206612" y="357012"/>
                        <a:pt x="146415" y="354259"/>
                      </a:cubicBezTo>
                      <a:cubicBezTo>
                        <a:pt x="113130" y="352740"/>
                        <a:pt x="73474" y="341632"/>
                        <a:pt x="62158" y="306219"/>
                      </a:cubicBezTo>
                      <a:cubicBezTo>
                        <a:pt x="53408" y="279065"/>
                        <a:pt x="63869" y="243937"/>
                        <a:pt x="89070" y="206910"/>
                      </a:cubicBezTo>
                      <a:cubicBezTo>
                        <a:pt x="93160" y="201118"/>
                        <a:pt x="97344" y="195422"/>
                        <a:pt x="101623" y="189820"/>
                      </a:cubicBezTo>
                      <a:cubicBezTo>
                        <a:pt x="139663" y="140355"/>
                        <a:pt x="187783" y="97442"/>
                        <a:pt x="245222" y="64402"/>
                      </a:cubicBezTo>
                      <a:cubicBezTo>
                        <a:pt x="302662" y="31267"/>
                        <a:pt x="363905" y="11140"/>
                        <a:pt x="425814" y="2975"/>
                      </a:cubicBezTo>
                      <a:cubicBezTo>
                        <a:pt x="433042" y="1930"/>
                        <a:pt x="440079" y="1171"/>
                        <a:pt x="446831" y="696"/>
                      </a:cubicBezTo>
                      <a:cubicBezTo>
                        <a:pt x="491528" y="-2627"/>
                        <a:pt x="527190" y="5918"/>
                        <a:pt x="546399" y="26995"/>
                      </a:cubicBezTo>
                      <a:cubicBezTo>
                        <a:pt x="571506" y="54338"/>
                        <a:pt x="561235" y="94404"/>
                        <a:pt x="546019" y="123835"/>
                      </a:cubicBezTo>
                      <a:close/>
                      <a:moveTo>
                        <a:pt x="898549" y="217353"/>
                      </a:moveTo>
                      <a:cubicBezTo>
                        <a:pt x="891893" y="207384"/>
                        <a:pt x="884950" y="197605"/>
                        <a:pt x="877628" y="188301"/>
                      </a:cubicBezTo>
                      <a:cubicBezTo>
                        <a:pt x="834358" y="132475"/>
                        <a:pt x="780627" y="88042"/>
                        <a:pt x="720810" y="56332"/>
                      </a:cubicBezTo>
                      <a:cubicBezTo>
                        <a:pt x="737548" y="67250"/>
                        <a:pt x="750956" y="81112"/>
                        <a:pt x="760657" y="97821"/>
                      </a:cubicBezTo>
                      <a:cubicBezTo>
                        <a:pt x="765602" y="106271"/>
                        <a:pt x="769311" y="115291"/>
                        <a:pt x="771973" y="124690"/>
                      </a:cubicBezTo>
                      <a:cubicBezTo>
                        <a:pt x="782149" y="160483"/>
                        <a:pt x="776348" y="202447"/>
                        <a:pt x="757138" y="246310"/>
                      </a:cubicBezTo>
                      <a:cubicBezTo>
                        <a:pt x="718528" y="334701"/>
                        <a:pt x="625712" y="431447"/>
                        <a:pt x="499516" y="504267"/>
                      </a:cubicBezTo>
                      <a:cubicBezTo>
                        <a:pt x="373225" y="577087"/>
                        <a:pt x="242845" y="608988"/>
                        <a:pt x="146890" y="598164"/>
                      </a:cubicBezTo>
                      <a:cubicBezTo>
                        <a:pt x="99151" y="592753"/>
                        <a:pt x="59970" y="576897"/>
                        <a:pt x="34008" y="550124"/>
                      </a:cubicBezTo>
                      <a:cubicBezTo>
                        <a:pt x="27161" y="543098"/>
                        <a:pt x="21265" y="535408"/>
                        <a:pt x="16415" y="526863"/>
                      </a:cubicBezTo>
                      <a:cubicBezTo>
                        <a:pt x="6620" y="509869"/>
                        <a:pt x="1390" y="490975"/>
                        <a:pt x="343" y="470658"/>
                      </a:cubicBezTo>
                      <a:cubicBezTo>
                        <a:pt x="-2224" y="539111"/>
                        <a:pt x="9568" y="608703"/>
                        <a:pt x="36956" y="674782"/>
                      </a:cubicBezTo>
                      <a:cubicBezTo>
                        <a:pt x="41046" y="684656"/>
                        <a:pt x="45420" y="694435"/>
                        <a:pt x="50270" y="704119"/>
                      </a:cubicBezTo>
                      <a:cubicBezTo>
                        <a:pt x="50460" y="704499"/>
                        <a:pt x="50746" y="704974"/>
                        <a:pt x="50936" y="705354"/>
                      </a:cubicBezTo>
                      <a:cubicBezTo>
                        <a:pt x="68719" y="736020"/>
                        <a:pt x="94967" y="760135"/>
                        <a:pt x="127585" y="777604"/>
                      </a:cubicBezTo>
                      <a:cubicBezTo>
                        <a:pt x="242845" y="839222"/>
                        <a:pt x="437797" y="818050"/>
                        <a:pt x="620101" y="712949"/>
                      </a:cubicBezTo>
                      <a:cubicBezTo>
                        <a:pt x="802310" y="607848"/>
                        <a:pt x="918140" y="449960"/>
                        <a:pt x="922419" y="319510"/>
                      </a:cubicBezTo>
                      <a:cubicBezTo>
                        <a:pt x="923751" y="282673"/>
                        <a:pt x="916143" y="248019"/>
                        <a:pt x="898549" y="217353"/>
                      </a:cubicBezTo>
                      <a:close/>
                      <a:moveTo>
                        <a:pt x="701125" y="852798"/>
                      </a:moveTo>
                      <a:cubicBezTo>
                        <a:pt x="534702" y="948689"/>
                        <a:pt x="354205" y="965874"/>
                        <a:pt x="238851" y="908434"/>
                      </a:cubicBezTo>
                      <a:cubicBezTo>
                        <a:pt x="386444" y="996255"/>
                        <a:pt x="575975" y="1003851"/>
                        <a:pt x="735265" y="912042"/>
                      </a:cubicBezTo>
                      <a:cubicBezTo>
                        <a:pt x="894650" y="820138"/>
                        <a:pt x="982807" y="652471"/>
                        <a:pt x="980429" y="480911"/>
                      </a:cubicBezTo>
                      <a:cubicBezTo>
                        <a:pt x="972726" y="609368"/>
                        <a:pt x="867547" y="756907"/>
                        <a:pt x="701125" y="85279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</p:grp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09E1041B-B650-E447-84FB-841B4CC1AFA1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8996704" y="286994"/>
                <a:ext cx="250964" cy="250964"/>
              </a:xfrm>
              <a:prstGeom prst="ellipse">
                <a:avLst/>
              </a:prstGeom>
              <a:gradFill flip="none" rotWithShape="1">
                <a:gsLst>
                  <a:gs pos="40000">
                    <a:schemeClr val="bg1">
                      <a:alpha val="0"/>
                      <a:lumMod val="100000"/>
                    </a:schemeClr>
                  </a:gs>
                  <a:gs pos="99000">
                    <a:schemeClr val="bg1">
                      <a:alpha val="79974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RU" sz="1400" dirty="0" err="1"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74" name="Freeform 73">
                <a:extLst>
                  <a:ext uri="{FF2B5EF4-FFF2-40B4-BE49-F238E27FC236}">
                    <a16:creationId xmlns:a16="http://schemas.microsoft.com/office/drawing/2014/main" id="{E7B5276C-1A8E-3F44-9A21-B8F4E5C3C5F1}"/>
                  </a:ext>
                </a:extLst>
              </p:cNvPr>
              <p:cNvSpPr/>
              <p:nvPr userDrawn="1"/>
            </p:nvSpPr>
            <p:spPr>
              <a:xfrm>
                <a:off x="8962070" y="251406"/>
                <a:ext cx="321536" cy="321536"/>
              </a:xfrm>
              <a:custGeom>
                <a:avLst/>
                <a:gdLst>
                  <a:gd name="connsiteX0" fmla="*/ 231423 w 461234"/>
                  <a:gd name="connsiteY0" fmla="*/ 60783 h 461234"/>
                  <a:gd name="connsiteX1" fmla="*/ 62180 w 461234"/>
                  <a:gd name="connsiteY1" fmla="*/ 229747 h 461234"/>
                  <a:gd name="connsiteX2" fmla="*/ 231423 w 461234"/>
                  <a:gd name="connsiteY2" fmla="*/ 398710 h 461234"/>
                  <a:gd name="connsiteX3" fmla="*/ 400665 w 461234"/>
                  <a:gd name="connsiteY3" fmla="*/ 229747 h 461234"/>
                  <a:gd name="connsiteX4" fmla="*/ 231423 w 461234"/>
                  <a:gd name="connsiteY4" fmla="*/ 60783 h 461234"/>
                  <a:gd name="connsiteX5" fmla="*/ 230617 w 461234"/>
                  <a:gd name="connsiteY5" fmla="*/ 0 h 461234"/>
                  <a:gd name="connsiteX6" fmla="*/ 461234 w 461234"/>
                  <a:gd name="connsiteY6" fmla="*/ 230617 h 461234"/>
                  <a:gd name="connsiteX7" fmla="*/ 230617 w 461234"/>
                  <a:gd name="connsiteY7" fmla="*/ 461234 h 461234"/>
                  <a:gd name="connsiteX8" fmla="*/ 0 w 461234"/>
                  <a:gd name="connsiteY8" fmla="*/ 230617 h 461234"/>
                  <a:gd name="connsiteX9" fmla="*/ 230617 w 461234"/>
                  <a:gd name="connsiteY9" fmla="*/ 0 h 4612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1234" h="461234">
                    <a:moveTo>
                      <a:pt x="231423" y="60783"/>
                    </a:moveTo>
                    <a:cubicBezTo>
                      <a:pt x="137952" y="60783"/>
                      <a:pt x="62180" y="136430"/>
                      <a:pt x="62180" y="229747"/>
                    </a:cubicBezTo>
                    <a:cubicBezTo>
                      <a:pt x="62180" y="323063"/>
                      <a:pt x="137952" y="398710"/>
                      <a:pt x="231423" y="398710"/>
                    </a:cubicBezTo>
                    <a:cubicBezTo>
                      <a:pt x="324893" y="398710"/>
                      <a:pt x="400665" y="323063"/>
                      <a:pt x="400665" y="229747"/>
                    </a:cubicBezTo>
                    <a:cubicBezTo>
                      <a:pt x="400665" y="136430"/>
                      <a:pt x="324893" y="60783"/>
                      <a:pt x="231423" y="60783"/>
                    </a:cubicBezTo>
                    <a:close/>
                    <a:moveTo>
                      <a:pt x="230617" y="0"/>
                    </a:moveTo>
                    <a:cubicBezTo>
                      <a:pt x="357983" y="0"/>
                      <a:pt x="461234" y="103251"/>
                      <a:pt x="461234" y="230617"/>
                    </a:cubicBezTo>
                    <a:cubicBezTo>
                      <a:pt x="461234" y="357983"/>
                      <a:pt x="357983" y="461234"/>
                      <a:pt x="230617" y="461234"/>
                    </a:cubicBezTo>
                    <a:cubicBezTo>
                      <a:pt x="103251" y="461234"/>
                      <a:pt x="0" y="357983"/>
                      <a:pt x="0" y="230617"/>
                    </a:cubicBezTo>
                    <a:cubicBezTo>
                      <a:pt x="0" y="103251"/>
                      <a:pt x="103251" y="0"/>
                      <a:pt x="23061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:endParaRPr lang="en-RU" sz="1400" dirty="0" err="1"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0322002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4">
            <a:extLst>
              <a:ext uri="{FF2B5EF4-FFF2-40B4-BE49-F238E27FC236}">
                <a16:creationId xmlns:a16="http://schemas.microsoft.com/office/drawing/2014/main" id="{8B123E15-76CA-CC41-9639-810635F8D5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21175" y="0"/>
            <a:ext cx="7200900" cy="64801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Tx/>
              <a:buNone/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541F9394-278E-DB44-BB61-8C2FE668B8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363" y="1630100"/>
            <a:ext cx="5761037" cy="2116400"/>
          </a:xfrm>
          <a:ln>
            <a:noFill/>
          </a:ln>
        </p:spPr>
        <p:txBody>
          <a:bodyPr wrap="square" bIns="0" anchor="t">
            <a:noAutofit/>
          </a:bodyPr>
          <a:lstStyle>
            <a:lvl1pPr>
              <a:lnSpc>
                <a:spcPts val="5400"/>
              </a:lnSpc>
              <a:defRPr sz="5400">
                <a:latin typeface="+mn-lt"/>
              </a:defRPr>
            </a:lvl1pPr>
          </a:lstStyle>
          <a:p>
            <a:r>
              <a:rPr lang="en-US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презентации.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51pt</a:t>
            </a:r>
            <a:endParaRPr lang="ru-RU" dirty="0"/>
          </a:p>
        </p:txBody>
      </p:sp>
      <p:sp>
        <p:nvSpPr>
          <p:cNvPr id="16" name="Дата 2">
            <a:extLst>
              <a:ext uri="{FF2B5EF4-FFF2-40B4-BE49-F238E27FC236}">
                <a16:creationId xmlns:a16="http://schemas.microsoft.com/office/drawing/2014/main" id="{524034E5-A815-BB4B-AC9F-6CDCD55656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363" y="6001875"/>
            <a:ext cx="1844676" cy="69707"/>
          </a:xfrm>
        </p:spPr>
        <p:txBody>
          <a:bodyPr anchor="t">
            <a:noAutofit/>
          </a:bodyPr>
          <a:lstStyle>
            <a:lvl1pPr>
              <a:defRPr b="0" i="0">
                <a:latin typeface="+mn-lt"/>
              </a:defRPr>
            </a:lvl1pPr>
          </a:lstStyle>
          <a:p>
            <a:fld id="{EE66289B-A2AB-4587-A3A3-B596D35268D9}" type="datetime1">
              <a:rPr lang="ru-RU" smtClean="0"/>
              <a:pPr/>
              <a:t>15.06.2026</a:t>
            </a:fld>
            <a:endParaRPr lang="ru-RU" dirty="0"/>
          </a:p>
        </p:txBody>
      </p:sp>
      <p:sp>
        <p:nvSpPr>
          <p:cNvPr id="18" name="Текст 13">
            <a:extLst>
              <a:ext uri="{FF2B5EF4-FFF2-40B4-BE49-F238E27FC236}">
                <a16:creationId xmlns:a16="http://schemas.microsoft.com/office/drawing/2014/main" id="{520ED3FA-7B48-984F-9CC2-34DCD89E0C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5023676"/>
            <a:ext cx="5761037" cy="5072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800">
                <a:latin typeface="+mn-lt"/>
              </a:defRPr>
            </a:lvl1pPr>
            <a:lvl2pPr marL="457200" indent="0">
              <a:buFontTx/>
              <a:buNone/>
              <a:defRPr sz="1800">
                <a:latin typeface="Beeline Sans V0.3 Regular" pitchFamily="2" charset="0"/>
              </a:defRPr>
            </a:lvl2pPr>
            <a:lvl3pPr marL="914400" indent="0">
              <a:buFontTx/>
              <a:buNone/>
              <a:defRPr sz="1800">
                <a:latin typeface="Beeline Sans V0.3 Regular" pitchFamily="2" charset="0"/>
              </a:defRPr>
            </a:lvl3pPr>
            <a:lvl4pPr marL="1371600" indent="0">
              <a:buFontTx/>
              <a:buNone/>
              <a:defRPr sz="1800">
                <a:latin typeface="Beeline Sans V0.3 Regular" pitchFamily="2" charset="0"/>
              </a:defRPr>
            </a:lvl4pPr>
            <a:lvl5pPr marL="1828800" indent="0">
              <a:buFontTx/>
              <a:buNone/>
              <a:defRPr sz="1800">
                <a:latin typeface="Beeline Sans V0.3 Regular" pitchFamily="2" charset="0"/>
              </a:defRPr>
            </a:lvl5pPr>
          </a:lstStyle>
          <a:p>
            <a:r>
              <a:rPr lang="en-US" dirty="0" err="1"/>
              <a:t>а</a:t>
            </a:r>
            <a:r>
              <a:rPr lang="ru-RU" dirty="0"/>
              <a:t>втор презентации.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18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9" name="Текст 10">
            <a:extLst>
              <a:ext uri="{FF2B5EF4-FFF2-40B4-BE49-F238E27FC236}">
                <a16:creationId xmlns:a16="http://schemas.microsoft.com/office/drawing/2014/main" id="{1AC7137C-8FA8-5F45-B76A-63D19225DA6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363" y="4075596"/>
            <a:ext cx="5761037" cy="104089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buFontTx/>
              <a:buNone/>
              <a:defRPr sz="2800" b="0" i="0">
                <a:latin typeface="+mn-lt"/>
              </a:defRPr>
            </a:lvl1pPr>
            <a:lvl2pPr marL="457200" indent="0">
              <a:buFontTx/>
              <a:buNone/>
              <a:defRPr>
                <a:latin typeface="Beeline Sans V0.3 Regular" pitchFamily="2" charset="0"/>
              </a:defRPr>
            </a:lvl2pPr>
            <a:lvl3pPr marL="914400" indent="0">
              <a:buFontTx/>
              <a:buNone/>
              <a:defRPr>
                <a:latin typeface="Beeline Sans V0.3 Regular" pitchFamily="2" charset="0"/>
              </a:defRPr>
            </a:lvl3pPr>
            <a:lvl4pPr marL="1371600" indent="0">
              <a:buFontTx/>
              <a:buNone/>
              <a:defRPr>
                <a:latin typeface="Beeline Sans V0.3 Regular" pitchFamily="2" charset="0"/>
              </a:defRPr>
            </a:lvl4pPr>
            <a:lvl5pPr marL="1828800" indent="0">
              <a:buFontTx/>
              <a:buNone/>
              <a:defRPr>
                <a:latin typeface="Beeline Sans V0.3 Regular" pitchFamily="2" charset="0"/>
              </a:defRPr>
            </a:lvl5pPr>
          </a:lstStyle>
          <a:p>
            <a:r>
              <a:rPr lang="ru-RU" dirty="0"/>
              <a:t>подзаголовок презентации.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beeline sans. 28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0" name="Текст 13">
            <a:extLst>
              <a:ext uri="{FF2B5EF4-FFF2-40B4-BE49-F238E27FC236}">
                <a16:creationId xmlns:a16="http://schemas.microsoft.com/office/drawing/2014/main" id="{7921A492-0D3C-2F40-9C2E-33D5166EC3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5756964"/>
            <a:ext cx="5761037" cy="3167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200">
                <a:latin typeface="+mn-lt"/>
              </a:defRPr>
            </a:lvl1pPr>
            <a:lvl2pPr marL="457200" indent="0">
              <a:buFontTx/>
              <a:buNone/>
              <a:defRPr sz="1800">
                <a:latin typeface="Beeline Sans V0.3 Regular" pitchFamily="2" charset="0"/>
              </a:defRPr>
            </a:lvl2pPr>
            <a:lvl3pPr marL="914400" indent="0">
              <a:buFontTx/>
              <a:buNone/>
              <a:defRPr sz="1800">
                <a:latin typeface="Beeline Sans V0.3 Regular" pitchFamily="2" charset="0"/>
              </a:defRPr>
            </a:lvl3pPr>
            <a:lvl4pPr marL="1371600" indent="0">
              <a:buFontTx/>
              <a:buNone/>
              <a:defRPr sz="1800">
                <a:latin typeface="Beeline Sans V0.3 Regular" pitchFamily="2" charset="0"/>
              </a:defRPr>
            </a:lvl4pPr>
            <a:lvl5pPr marL="1828800" indent="0">
              <a:buFontTx/>
              <a:buNone/>
              <a:defRPr sz="1800">
                <a:latin typeface="Beeline Sans V0.3 Regular" pitchFamily="2" charset="0"/>
              </a:defRPr>
            </a:lvl5pPr>
          </a:lstStyle>
          <a:p>
            <a:r>
              <a:rPr lang="ru-RU" sz="1200" dirty="0"/>
              <a:t>Город, дата. 12 </a:t>
            </a:r>
            <a:r>
              <a:rPr lang="ru-RU" sz="1200" dirty="0" err="1"/>
              <a:t>p</a:t>
            </a:r>
            <a:r>
              <a:rPr lang="en-US" sz="1200" dirty="0"/>
              <a:t>t</a:t>
            </a:r>
            <a:endParaRPr lang="ru-RU" sz="1200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3DB25DDF-F64F-1A42-9B52-AD3EF4245E5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10550" y="197437"/>
            <a:ext cx="3117876" cy="449477"/>
            <a:chOff x="-6416384" y="251406"/>
            <a:chExt cx="17747920" cy="2558564"/>
          </a:xfrm>
        </p:grpSpPr>
        <p:grpSp>
          <p:nvGrpSpPr>
            <p:cNvPr id="74" name="Graphic 5">
              <a:extLst>
                <a:ext uri="{FF2B5EF4-FFF2-40B4-BE49-F238E27FC236}">
                  <a16:creationId xmlns:a16="http://schemas.microsoft.com/office/drawing/2014/main" id="{89F2C925-CDCC-1749-80D6-B25B73710A9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016924" y="594048"/>
              <a:ext cx="7314612" cy="1695600"/>
              <a:chOff x="6035237" y="3068380"/>
              <a:chExt cx="1367580" cy="317019"/>
            </a:xfrm>
            <a:solidFill>
              <a:srgbClr val="FFCA05"/>
            </a:solidFill>
          </p:grpSpPr>
          <p:sp>
            <p:nvSpPr>
              <p:cNvPr id="89" name="Freeform 88">
                <a:extLst>
                  <a:ext uri="{FF2B5EF4-FFF2-40B4-BE49-F238E27FC236}">
                    <a16:creationId xmlns:a16="http://schemas.microsoft.com/office/drawing/2014/main" id="{05985A25-EC9A-2A4F-97F3-4BE229520F0F}"/>
                  </a:ext>
                </a:extLst>
              </p:cNvPr>
              <p:cNvSpPr/>
              <p:nvPr/>
            </p:nvSpPr>
            <p:spPr>
              <a:xfrm>
                <a:off x="6035237" y="3068380"/>
                <a:ext cx="217915" cy="317019"/>
              </a:xfrm>
              <a:custGeom>
                <a:avLst/>
                <a:gdLst>
                  <a:gd name="connsiteX0" fmla="*/ 217915 w 217915"/>
                  <a:gd name="connsiteY0" fmla="*/ 205164 h 317020"/>
                  <a:gd name="connsiteX1" fmla="*/ 109433 w 217915"/>
                  <a:gd name="connsiteY1" fmla="*/ 317020 h 317020"/>
                  <a:gd name="connsiteX2" fmla="*/ 0 w 217915"/>
                  <a:gd name="connsiteY2" fmla="*/ 178047 h 317020"/>
                  <a:gd name="connsiteX3" fmla="*/ 102683 w 217915"/>
                  <a:gd name="connsiteY3" fmla="*/ 12899 h 317020"/>
                  <a:gd name="connsiteX4" fmla="*/ 197759 w 217915"/>
                  <a:gd name="connsiteY4" fmla="*/ 0 h 317020"/>
                  <a:gd name="connsiteX5" fmla="*/ 197759 w 217915"/>
                  <a:gd name="connsiteY5" fmla="*/ 47078 h 317020"/>
                  <a:gd name="connsiteX6" fmla="*/ 109908 w 217915"/>
                  <a:gd name="connsiteY6" fmla="*/ 60353 h 317020"/>
                  <a:gd name="connsiteX7" fmla="*/ 45827 w 217915"/>
                  <a:gd name="connsiteY7" fmla="*/ 139820 h 317020"/>
                  <a:gd name="connsiteX8" fmla="*/ 122459 w 217915"/>
                  <a:gd name="connsiteY8" fmla="*/ 100275 h 317020"/>
                  <a:gd name="connsiteX9" fmla="*/ 217915 w 217915"/>
                  <a:gd name="connsiteY9" fmla="*/ 205164 h 317020"/>
                  <a:gd name="connsiteX10" fmla="*/ 47538 w 217915"/>
                  <a:gd name="connsiteY10" fmla="*/ 170044 h 317020"/>
                  <a:gd name="connsiteX11" fmla="*/ 47538 w 217915"/>
                  <a:gd name="connsiteY11" fmla="*/ 194901 h 317020"/>
                  <a:gd name="connsiteX12" fmla="*/ 109433 w 217915"/>
                  <a:gd name="connsiteY12" fmla="*/ 269096 h 317020"/>
                  <a:gd name="connsiteX13" fmla="*/ 172184 w 217915"/>
                  <a:gd name="connsiteY13" fmla="*/ 205164 h 317020"/>
                  <a:gd name="connsiteX14" fmla="*/ 112095 w 217915"/>
                  <a:gd name="connsiteY14" fmla="*/ 145187 h 317020"/>
                  <a:gd name="connsiteX15" fmla="*/ 47538 w 217915"/>
                  <a:gd name="connsiteY15" fmla="*/ 170044 h 317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7915" h="317020">
                    <a:moveTo>
                      <a:pt x="217915" y="205164"/>
                    </a:moveTo>
                    <a:cubicBezTo>
                      <a:pt x="217915" y="270037"/>
                      <a:pt x="177983" y="317020"/>
                      <a:pt x="109433" y="317020"/>
                    </a:cubicBezTo>
                    <a:cubicBezTo>
                      <a:pt x="40883" y="317020"/>
                      <a:pt x="0" y="270414"/>
                      <a:pt x="0" y="178047"/>
                    </a:cubicBezTo>
                    <a:cubicBezTo>
                      <a:pt x="0" y="80314"/>
                      <a:pt x="24245" y="24010"/>
                      <a:pt x="102683" y="12899"/>
                    </a:cubicBezTo>
                    <a:lnTo>
                      <a:pt x="197759" y="0"/>
                    </a:lnTo>
                    <a:lnTo>
                      <a:pt x="197759" y="47078"/>
                    </a:lnTo>
                    <a:lnTo>
                      <a:pt x="109908" y="60353"/>
                    </a:lnTo>
                    <a:cubicBezTo>
                      <a:pt x="63701" y="67415"/>
                      <a:pt x="49820" y="91895"/>
                      <a:pt x="45827" y="139820"/>
                    </a:cubicBezTo>
                    <a:cubicBezTo>
                      <a:pt x="62465" y="113175"/>
                      <a:pt x="89752" y="100275"/>
                      <a:pt x="122459" y="100275"/>
                    </a:cubicBezTo>
                    <a:cubicBezTo>
                      <a:pt x="180265" y="100369"/>
                      <a:pt x="217915" y="140291"/>
                      <a:pt x="217915" y="205164"/>
                    </a:cubicBezTo>
                    <a:close/>
                    <a:moveTo>
                      <a:pt x="47538" y="170044"/>
                    </a:moveTo>
                    <a:lnTo>
                      <a:pt x="47538" y="194901"/>
                    </a:lnTo>
                    <a:cubicBezTo>
                      <a:pt x="47538" y="242450"/>
                      <a:pt x="70357" y="269096"/>
                      <a:pt x="109433" y="269096"/>
                    </a:cubicBezTo>
                    <a:cubicBezTo>
                      <a:pt x="148034" y="269096"/>
                      <a:pt x="172184" y="246027"/>
                      <a:pt x="172184" y="205164"/>
                    </a:cubicBezTo>
                    <a:cubicBezTo>
                      <a:pt x="172184" y="164301"/>
                      <a:pt x="148890" y="145187"/>
                      <a:pt x="112095" y="145187"/>
                    </a:cubicBezTo>
                    <a:cubicBezTo>
                      <a:pt x="84713" y="145187"/>
                      <a:pt x="61419" y="153190"/>
                      <a:pt x="47538" y="170044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90" name="Freeform 89">
                <a:extLst>
                  <a:ext uri="{FF2B5EF4-FFF2-40B4-BE49-F238E27FC236}">
                    <a16:creationId xmlns:a16="http://schemas.microsoft.com/office/drawing/2014/main" id="{ADCD8BCC-00AD-7145-AEC6-02907B76D1FA}"/>
                  </a:ext>
                </a:extLst>
              </p:cNvPr>
              <p:cNvSpPr/>
              <p:nvPr/>
            </p:nvSpPr>
            <p:spPr>
              <a:xfrm>
                <a:off x="6295266" y="3163379"/>
                <a:ext cx="184257" cy="217593"/>
              </a:xfrm>
              <a:custGeom>
                <a:avLst/>
                <a:gdLst>
                  <a:gd name="connsiteX0" fmla="*/ 45732 w 184258"/>
                  <a:gd name="connsiteY0" fmla="*/ 143869 h 217592"/>
                  <a:gd name="connsiteX1" fmla="*/ 140808 w 184258"/>
                  <a:gd name="connsiteY1" fmla="*/ 0 h 217592"/>
                  <a:gd name="connsiteX2" fmla="*/ 184258 w 184258"/>
                  <a:gd name="connsiteY2" fmla="*/ 0 h 217592"/>
                  <a:gd name="connsiteX3" fmla="*/ 184258 w 184258"/>
                  <a:gd name="connsiteY3" fmla="*/ 217593 h 217592"/>
                  <a:gd name="connsiteX4" fmla="*/ 139002 w 184258"/>
                  <a:gd name="connsiteY4" fmla="*/ 217593 h 217592"/>
                  <a:gd name="connsiteX5" fmla="*/ 139002 w 184258"/>
                  <a:gd name="connsiteY5" fmla="*/ 71935 h 217592"/>
                  <a:gd name="connsiteX6" fmla="*/ 43450 w 184258"/>
                  <a:gd name="connsiteY6" fmla="*/ 217593 h 217592"/>
                  <a:gd name="connsiteX7" fmla="*/ 0 w 184258"/>
                  <a:gd name="connsiteY7" fmla="*/ 217593 h 217592"/>
                  <a:gd name="connsiteX8" fmla="*/ 0 w 184258"/>
                  <a:gd name="connsiteY8" fmla="*/ 0 h 217592"/>
                  <a:gd name="connsiteX9" fmla="*/ 45732 w 184258"/>
                  <a:gd name="connsiteY9" fmla="*/ 0 h 217592"/>
                  <a:gd name="connsiteX10" fmla="*/ 45732 w 184258"/>
                  <a:gd name="connsiteY10" fmla="*/ 143869 h 217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4258" h="217592">
                    <a:moveTo>
                      <a:pt x="45732" y="143869"/>
                    </a:moveTo>
                    <a:lnTo>
                      <a:pt x="140808" y="0"/>
                    </a:lnTo>
                    <a:lnTo>
                      <a:pt x="184258" y="0"/>
                    </a:lnTo>
                    <a:lnTo>
                      <a:pt x="184258" y="217593"/>
                    </a:lnTo>
                    <a:lnTo>
                      <a:pt x="139002" y="217593"/>
                    </a:lnTo>
                    <a:lnTo>
                      <a:pt x="139002" y="71935"/>
                    </a:lnTo>
                    <a:lnTo>
                      <a:pt x="43450" y="217593"/>
                    </a:lnTo>
                    <a:lnTo>
                      <a:pt x="0" y="217593"/>
                    </a:lnTo>
                    <a:lnTo>
                      <a:pt x="0" y="0"/>
                    </a:lnTo>
                    <a:lnTo>
                      <a:pt x="45732" y="0"/>
                    </a:lnTo>
                    <a:lnTo>
                      <a:pt x="45732" y="143869"/>
                    </a:ln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91" name="Freeform 90">
                <a:extLst>
                  <a:ext uri="{FF2B5EF4-FFF2-40B4-BE49-F238E27FC236}">
                    <a16:creationId xmlns:a16="http://schemas.microsoft.com/office/drawing/2014/main" id="{30EA877F-940A-3741-A42F-30CC6A7F7B52}"/>
                  </a:ext>
                </a:extLst>
              </p:cNvPr>
              <p:cNvSpPr/>
              <p:nvPr/>
            </p:nvSpPr>
            <p:spPr>
              <a:xfrm>
                <a:off x="6521649" y="3158861"/>
                <a:ext cx="174845" cy="226444"/>
              </a:xfrm>
              <a:custGeom>
                <a:avLst/>
                <a:gdLst>
                  <a:gd name="connsiteX0" fmla="*/ 131396 w 174845"/>
                  <a:gd name="connsiteY0" fmla="*/ 151966 h 226443"/>
                  <a:gd name="connsiteX1" fmla="*/ 91464 w 174845"/>
                  <a:gd name="connsiteY1" fmla="*/ 124850 h 226443"/>
                  <a:gd name="connsiteX2" fmla="*/ 58282 w 174845"/>
                  <a:gd name="connsiteY2" fmla="*/ 124850 h 226443"/>
                  <a:gd name="connsiteX3" fmla="*/ 58282 w 174845"/>
                  <a:gd name="connsiteY3" fmla="*/ 96415 h 226443"/>
                  <a:gd name="connsiteX4" fmla="*/ 89657 w 174845"/>
                  <a:gd name="connsiteY4" fmla="*/ 96415 h 226443"/>
                  <a:gd name="connsiteX5" fmla="*/ 125501 w 174845"/>
                  <a:gd name="connsiteY5" fmla="*/ 70616 h 226443"/>
                  <a:gd name="connsiteX6" fmla="*/ 86900 w 174845"/>
                  <a:gd name="connsiteY6" fmla="*/ 44818 h 226443"/>
                  <a:gd name="connsiteX7" fmla="*/ 40312 w 174845"/>
                  <a:gd name="connsiteY7" fmla="*/ 74571 h 226443"/>
                  <a:gd name="connsiteX8" fmla="*/ 1331 w 174845"/>
                  <a:gd name="connsiteY8" fmla="*/ 74571 h 226443"/>
                  <a:gd name="connsiteX9" fmla="*/ 88801 w 174845"/>
                  <a:gd name="connsiteY9" fmla="*/ 0 h 226443"/>
                  <a:gd name="connsiteX10" fmla="*/ 168571 w 174845"/>
                  <a:gd name="connsiteY10" fmla="*/ 63084 h 226443"/>
                  <a:gd name="connsiteX11" fmla="*/ 136245 w 174845"/>
                  <a:gd name="connsiteY11" fmla="*/ 107902 h 226443"/>
                  <a:gd name="connsiteX12" fmla="*/ 174846 w 174845"/>
                  <a:gd name="connsiteY12" fmla="*/ 156768 h 226443"/>
                  <a:gd name="connsiteX13" fmla="*/ 87851 w 174845"/>
                  <a:gd name="connsiteY13" fmla="*/ 226443 h 226443"/>
                  <a:gd name="connsiteX14" fmla="*/ 0 w 174845"/>
                  <a:gd name="connsiteY14" fmla="*/ 151402 h 226443"/>
                  <a:gd name="connsiteX15" fmla="*/ 39457 w 174845"/>
                  <a:gd name="connsiteY15" fmla="*/ 151402 h 226443"/>
                  <a:gd name="connsiteX16" fmla="*/ 86044 w 174845"/>
                  <a:gd name="connsiteY16" fmla="*/ 181155 h 226443"/>
                  <a:gd name="connsiteX17" fmla="*/ 131396 w 174845"/>
                  <a:gd name="connsiteY17" fmla="*/ 151966 h 226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74845" h="226443">
                    <a:moveTo>
                      <a:pt x="131396" y="151966"/>
                    </a:moveTo>
                    <a:cubicBezTo>
                      <a:pt x="131396" y="132853"/>
                      <a:pt x="117514" y="124850"/>
                      <a:pt x="91464" y="124850"/>
                    </a:cubicBezTo>
                    <a:lnTo>
                      <a:pt x="58282" y="124850"/>
                    </a:lnTo>
                    <a:lnTo>
                      <a:pt x="58282" y="96415"/>
                    </a:lnTo>
                    <a:lnTo>
                      <a:pt x="89657" y="96415"/>
                    </a:lnTo>
                    <a:cubicBezTo>
                      <a:pt x="113902" y="96415"/>
                      <a:pt x="125501" y="86623"/>
                      <a:pt x="125501" y="70616"/>
                    </a:cubicBezTo>
                    <a:cubicBezTo>
                      <a:pt x="125501" y="53292"/>
                      <a:pt x="112475" y="44818"/>
                      <a:pt x="86900" y="44818"/>
                    </a:cubicBezTo>
                    <a:cubicBezTo>
                      <a:pt x="60469" y="44818"/>
                      <a:pt x="44306" y="54987"/>
                      <a:pt x="40312" y="74571"/>
                    </a:cubicBezTo>
                    <a:lnTo>
                      <a:pt x="1331" y="74571"/>
                    </a:lnTo>
                    <a:cubicBezTo>
                      <a:pt x="6750" y="27964"/>
                      <a:pt x="39457" y="0"/>
                      <a:pt x="88801" y="0"/>
                    </a:cubicBezTo>
                    <a:cubicBezTo>
                      <a:pt x="137195" y="0"/>
                      <a:pt x="168571" y="23068"/>
                      <a:pt x="168571" y="63084"/>
                    </a:cubicBezTo>
                    <a:cubicBezTo>
                      <a:pt x="168571" y="84834"/>
                      <a:pt x="155545" y="102158"/>
                      <a:pt x="136245" y="107902"/>
                    </a:cubicBezTo>
                    <a:cubicBezTo>
                      <a:pt x="159538" y="113269"/>
                      <a:pt x="174846" y="130593"/>
                      <a:pt x="174846" y="156768"/>
                    </a:cubicBezTo>
                    <a:cubicBezTo>
                      <a:pt x="174846" y="202057"/>
                      <a:pt x="137195" y="226443"/>
                      <a:pt x="87851" y="226443"/>
                    </a:cubicBezTo>
                    <a:cubicBezTo>
                      <a:pt x="36699" y="226443"/>
                      <a:pt x="3993" y="200268"/>
                      <a:pt x="0" y="151402"/>
                    </a:cubicBezTo>
                    <a:lnTo>
                      <a:pt x="39457" y="151402"/>
                    </a:lnTo>
                    <a:cubicBezTo>
                      <a:pt x="42594" y="171833"/>
                      <a:pt x="58757" y="181155"/>
                      <a:pt x="86044" y="181155"/>
                    </a:cubicBezTo>
                    <a:cubicBezTo>
                      <a:pt x="113521" y="181249"/>
                      <a:pt x="131396" y="171927"/>
                      <a:pt x="131396" y="151966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92" name="Freeform 91">
                <a:extLst>
                  <a:ext uri="{FF2B5EF4-FFF2-40B4-BE49-F238E27FC236}">
                    <a16:creationId xmlns:a16="http://schemas.microsoft.com/office/drawing/2014/main" id="{8D62ADE7-42E9-4C40-89C7-056B0FEC48DC}"/>
                  </a:ext>
                </a:extLst>
              </p:cNvPr>
              <p:cNvSpPr/>
              <p:nvPr/>
            </p:nvSpPr>
            <p:spPr>
              <a:xfrm>
                <a:off x="6738233" y="3163381"/>
                <a:ext cx="181596" cy="217593"/>
              </a:xfrm>
              <a:custGeom>
                <a:avLst/>
                <a:gdLst>
                  <a:gd name="connsiteX0" fmla="*/ 135864 w 181596"/>
                  <a:gd name="connsiteY0" fmla="*/ 128804 h 217592"/>
                  <a:gd name="connsiteX1" fmla="*/ 45732 w 181596"/>
                  <a:gd name="connsiteY1" fmla="*/ 128804 h 217592"/>
                  <a:gd name="connsiteX2" fmla="*/ 45732 w 181596"/>
                  <a:gd name="connsiteY2" fmla="*/ 217593 h 217592"/>
                  <a:gd name="connsiteX3" fmla="*/ 0 w 181596"/>
                  <a:gd name="connsiteY3" fmla="*/ 217593 h 217592"/>
                  <a:gd name="connsiteX4" fmla="*/ 0 w 181596"/>
                  <a:gd name="connsiteY4" fmla="*/ 0 h 217592"/>
                  <a:gd name="connsiteX5" fmla="*/ 45732 w 181596"/>
                  <a:gd name="connsiteY5" fmla="*/ 0 h 217592"/>
                  <a:gd name="connsiteX6" fmla="*/ 45732 w 181596"/>
                  <a:gd name="connsiteY6" fmla="*/ 82103 h 217592"/>
                  <a:gd name="connsiteX7" fmla="*/ 135864 w 181596"/>
                  <a:gd name="connsiteY7" fmla="*/ 82103 h 217592"/>
                  <a:gd name="connsiteX8" fmla="*/ 135864 w 181596"/>
                  <a:gd name="connsiteY8" fmla="*/ 0 h 217592"/>
                  <a:gd name="connsiteX9" fmla="*/ 181596 w 181596"/>
                  <a:gd name="connsiteY9" fmla="*/ 0 h 217592"/>
                  <a:gd name="connsiteX10" fmla="*/ 181596 w 181596"/>
                  <a:gd name="connsiteY10" fmla="*/ 217593 h 217592"/>
                  <a:gd name="connsiteX11" fmla="*/ 135864 w 181596"/>
                  <a:gd name="connsiteY11" fmla="*/ 217593 h 217592"/>
                  <a:gd name="connsiteX12" fmla="*/ 135864 w 181596"/>
                  <a:gd name="connsiteY12" fmla="*/ 128804 h 217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81596" h="217592">
                    <a:moveTo>
                      <a:pt x="135864" y="128804"/>
                    </a:moveTo>
                    <a:lnTo>
                      <a:pt x="45732" y="128804"/>
                    </a:lnTo>
                    <a:lnTo>
                      <a:pt x="45732" y="217593"/>
                    </a:lnTo>
                    <a:lnTo>
                      <a:pt x="0" y="217593"/>
                    </a:lnTo>
                    <a:lnTo>
                      <a:pt x="0" y="0"/>
                    </a:lnTo>
                    <a:lnTo>
                      <a:pt x="45732" y="0"/>
                    </a:lnTo>
                    <a:lnTo>
                      <a:pt x="45732" y="82103"/>
                    </a:lnTo>
                    <a:lnTo>
                      <a:pt x="135864" y="82103"/>
                    </a:lnTo>
                    <a:lnTo>
                      <a:pt x="135864" y="0"/>
                    </a:lnTo>
                    <a:lnTo>
                      <a:pt x="181596" y="0"/>
                    </a:lnTo>
                    <a:lnTo>
                      <a:pt x="181596" y="217593"/>
                    </a:lnTo>
                    <a:lnTo>
                      <a:pt x="135864" y="217593"/>
                    </a:lnTo>
                    <a:lnTo>
                      <a:pt x="135864" y="128804"/>
                    </a:ln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93" name="Freeform 92">
                <a:extLst>
                  <a:ext uri="{FF2B5EF4-FFF2-40B4-BE49-F238E27FC236}">
                    <a16:creationId xmlns:a16="http://schemas.microsoft.com/office/drawing/2014/main" id="{D3C8CB2C-7CBB-B540-A555-4A3A69416D6F}"/>
                  </a:ext>
                </a:extLst>
              </p:cNvPr>
              <p:cNvSpPr/>
              <p:nvPr/>
            </p:nvSpPr>
            <p:spPr>
              <a:xfrm>
                <a:off x="6962043" y="3158861"/>
                <a:ext cx="208502" cy="226536"/>
              </a:xfrm>
              <a:custGeom>
                <a:avLst/>
                <a:gdLst>
                  <a:gd name="connsiteX0" fmla="*/ 104014 w 208502"/>
                  <a:gd name="connsiteY0" fmla="*/ 226537 h 226537"/>
                  <a:gd name="connsiteX1" fmla="*/ 0 w 208502"/>
                  <a:gd name="connsiteY1" fmla="*/ 113269 h 226537"/>
                  <a:gd name="connsiteX2" fmla="*/ 104964 w 208502"/>
                  <a:gd name="connsiteY2" fmla="*/ 0 h 226537"/>
                  <a:gd name="connsiteX3" fmla="*/ 208503 w 208502"/>
                  <a:gd name="connsiteY3" fmla="*/ 114963 h 226537"/>
                  <a:gd name="connsiteX4" fmla="*/ 208027 w 208502"/>
                  <a:gd name="connsiteY4" fmla="*/ 124285 h 226537"/>
                  <a:gd name="connsiteX5" fmla="*/ 45256 w 208502"/>
                  <a:gd name="connsiteY5" fmla="*/ 124285 h 226537"/>
                  <a:gd name="connsiteX6" fmla="*/ 104869 w 208502"/>
                  <a:gd name="connsiteY6" fmla="*/ 181531 h 226537"/>
                  <a:gd name="connsiteX7" fmla="*/ 162296 w 208502"/>
                  <a:gd name="connsiteY7" fmla="*/ 152626 h 226537"/>
                  <a:gd name="connsiteX8" fmla="*/ 203559 w 208502"/>
                  <a:gd name="connsiteY8" fmla="*/ 152626 h 226537"/>
                  <a:gd name="connsiteX9" fmla="*/ 104014 w 208502"/>
                  <a:gd name="connsiteY9" fmla="*/ 226537 h 226537"/>
                  <a:gd name="connsiteX10" fmla="*/ 46207 w 208502"/>
                  <a:gd name="connsiteY10" fmla="*/ 94626 h 226537"/>
                  <a:gd name="connsiteX11" fmla="*/ 162771 w 208502"/>
                  <a:gd name="connsiteY11" fmla="*/ 94626 h 226537"/>
                  <a:gd name="connsiteX12" fmla="*/ 104964 w 208502"/>
                  <a:gd name="connsiteY12" fmla="*/ 44912 h 226537"/>
                  <a:gd name="connsiteX13" fmla="*/ 46207 w 208502"/>
                  <a:gd name="connsiteY13" fmla="*/ 94626 h 226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02" h="226537">
                    <a:moveTo>
                      <a:pt x="104014" y="226537"/>
                    </a:moveTo>
                    <a:cubicBezTo>
                      <a:pt x="42594" y="226537"/>
                      <a:pt x="0" y="178612"/>
                      <a:pt x="0" y="113269"/>
                    </a:cubicBezTo>
                    <a:cubicBezTo>
                      <a:pt x="0" y="47925"/>
                      <a:pt x="43070" y="0"/>
                      <a:pt x="104964" y="0"/>
                    </a:cubicBezTo>
                    <a:cubicBezTo>
                      <a:pt x="166859" y="0"/>
                      <a:pt x="208503" y="46136"/>
                      <a:pt x="208503" y="114963"/>
                    </a:cubicBezTo>
                    <a:cubicBezTo>
                      <a:pt x="208503" y="116752"/>
                      <a:pt x="208027" y="122496"/>
                      <a:pt x="208027" y="124285"/>
                    </a:cubicBezTo>
                    <a:lnTo>
                      <a:pt x="45256" y="124285"/>
                    </a:lnTo>
                    <a:cubicBezTo>
                      <a:pt x="48869" y="160252"/>
                      <a:pt x="71307" y="181531"/>
                      <a:pt x="104869" y="181531"/>
                    </a:cubicBezTo>
                    <a:cubicBezTo>
                      <a:pt x="135389" y="181531"/>
                      <a:pt x="153739" y="169950"/>
                      <a:pt x="162296" y="152626"/>
                    </a:cubicBezTo>
                    <a:lnTo>
                      <a:pt x="203559" y="152626"/>
                    </a:lnTo>
                    <a:cubicBezTo>
                      <a:pt x="194146" y="192830"/>
                      <a:pt x="163627" y="226537"/>
                      <a:pt x="104014" y="226537"/>
                    </a:cubicBezTo>
                    <a:close/>
                    <a:moveTo>
                      <a:pt x="46207" y="94626"/>
                    </a:moveTo>
                    <a:lnTo>
                      <a:pt x="162771" y="94626"/>
                    </a:lnTo>
                    <a:cubicBezTo>
                      <a:pt x="158302" y="65344"/>
                      <a:pt x="139002" y="44912"/>
                      <a:pt x="104964" y="44912"/>
                    </a:cubicBezTo>
                    <a:cubicBezTo>
                      <a:pt x="73114" y="44912"/>
                      <a:pt x="52007" y="63178"/>
                      <a:pt x="46207" y="94626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94" name="Freeform 93">
                <a:extLst>
                  <a:ext uri="{FF2B5EF4-FFF2-40B4-BE49-F238E27FC236}">
                    <a16:creationId xmlns:a16="http://schemas.microsoft.com/office/drawing/2014/main" id="{FD7820F4-920F-6546-8C49-03980DED2668}"/>
                  </a:ext>
                </a:extLst>
              </p:cNvPr>
              <p:cNvSpPr/>
              <p:nvPr/>
            </p:nvSpPr>
            <p:spPr>
              <a:xfrm>
                <a:off x="7198783" y="3158861"/>
                <a:ext cx="204034" cy="226444"/>
              </a:xfrm>
              <a:custGeom>
                <a:avLst/>
                <a:gdLst>
                  <a:gd name="connsiteX0" fmla="*/ 204034 w 204034"/>
                  <a:gd name="connsiteY0" fmla="*/ 79844 h 226443"/>
                  <a:gd name="connsiteX1" fmla="*/ 163246 w 204034"/>
                  <a:gd name="connsiteY1" fmla="*/ 79844 h 226443"/>
                  <a:gd name="connsiteX2" fmla="*/ 106295 w 204034"/>
                  <a:gd name="connsiteY2" fmla="*/ 48773 h 226443"/>
                  <a:gd name="connsiteX3" fmla="*/ 45732 w 204034"/>
                  <a:gd name="connsiteY3" fmla="*/ 112704 h 226443"/>
                  <a:gd name="connsiteX4" fmla="*/ 106295 w 204034"/>
                  <a:gd name="connsiteY4" fmla="*/ 177577 h 226443"/>
                  <a:gd name="connsiteX5" fmla="*/ 163246 w 204034"/>
                  <a:gd name="connsiteY5" fmla="*/ 146976 h 226443"/>
                  <a:gd name="connsiteX6" fmla="*/ 204034 w 204034"/>
                  <a:gd name="connsiteY6" fmla="*/ 146976 h 226443"/>
                  <a:gd name="connsiteX7" fmla="*/ 105820 w 204034"/>
                  <a:gd name="connsiteY7" fmla="*/ 226443 h 226443"/>
                  <a:gd name="connsiteX8" fmla="*/ 0 w 204034"/>
                  <a:gd name="connsiteY8" fmla="*/ 112798 h 226443"/>
                  <a:gd name="connsiteX9" fmla="*/ 105820 w 204034"/>
                  <a:gd name="connsiteY9" fmla="*/ 0 h 226443"/>
                  <a:gd name="connsiteX10" fmla="*/ 204034 w 204034"/>
                  <a:gd name="connsiteY10" fmla="*/ 79844 h 226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04034" h="226443">
                    <a:moveTo>
                      <a:pt x="204034" y="79844"/>
                    </a:moveTo>
                    <a:lnTo>
                      <a:pt x="163246" y="79844"/>
                    </a:lnTo>
                    <a:cubicBezTo>
                      <a:pt x="157447" y="61201"/>
                      <a:pt x="139477" y="48773"/>
                      <a:pt x="106295" y="48773"/>
                    </a:cubicBezTo>
                    <a:cubicBezTo>
                      <a:pt x="68645" y="48773"/>
                      <a:pt x="45732" y="74948"/>
                      <a:pt x="45732" y="112704"/>
                    </a:cubicBezTo>
                    <a:cubicBezTo>
                      <a:pt x="45732" y="150931"/>
                      <a:pt x="68645" y="177577"/>
                      <a:pt x="106295" y="177577"/>
                    </a:cubicBezTo>
                    <a:cubicBezTo>
                      <a:pt x="139477" y="177577"/>
                      <a:pt x="157447" y="164678"/>
                      <a:pt x="163246" y="146976"/>
                    </a:cubicBezTo>
                    <a:lnTo>
                      <a:pt x="204034" y="146976"/>
                    </a:lnTo>
                    <a:cubicBezTo>
                      <a:pt x="195097" y="195843"/>
                      <a:pt x="159158" y="226443"/>
                      <a:pt x="105820" y="226443"/>
                    </a:cubicBezTo>
                    <a:cubicBezTo>
                      <a:pt x="40788" y="226443"/>
                      <a:pt x="0" y="176729"/>
                      <a:pt x="0" y="112798"/>
                    </a:cubicBezTo>
                    <a:cubicBezTo>
                      <a:pt x="0" y="49338"/>
                      <a:pt x="40788" y="0"/>
                      <a:pt x="105820" y="0"/>
                    </a:cubicBezTo>
                    <a:cubicBezTo>
                      <a:pt x="159158" y="-94"/>
                      <a:pt x="195002" y="30977"/>
                      <a:pt x="204034" y="79844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</p:grpSp>
        <p:grpSp>
          <p:nvGrpSpPr>
            <p:cNvPr id="75" name="Graphic 6">
              <a:extLst>
                <a:ext uri="{FF2B5EF4-FFF2-40B4-BE49-F238E27FC236}">
                  <a16:creationId xmlns:a16="http://schemas.microsoft.com/office/drawing/2014/main" id="{598E4AA5-0F61-D548-93E9-667DD102992B}"/>
                </a:ext>
              </a:extLst>
            </p:cNvPr>
            <p:cNvGrpSpPr/>
            <p:nvPr/>
          </p:nvGrpSpPr>
          <p:grpSpPr>
            <a:xfrm>
              <a:off x="-3634402" y="594048"/>
              <a:ext cx="7151384" cy="1695600"/>
              <a:chOff x="5858663" y="539363"/>
              <a:chExt cx="3733569" cy="884382"/>
            </a:xfrm>
            <a:solidFill>
              <a:srgbClr val="000000"/>
            </a:solidFill>
          </p:grpSpPr>
          <p:sp>
            <p:nvSpPr>
              <p:cNvPr id="82" name="Freeform 81">
                <a:extLst>
                  <a:ext uri="{FF2B5EF4-FFF2-40B4-BE49-F238E27FC236}">
                    <a16:creationId xmlns:a16="http://schemas.microsoft.com/office/drawing/2014/main" id="{39B8E0E6-C766-FF49-9C53-6A7EA27AA726}"/>
                  </a:ext>
                </a:extLst>
              </p:cNvPr>
              <p:cNvSpPr/>
              <p:nvPr/>
            </p:nvSpPr>
            <p:spPr>
              <a:xfrm>
                <a:off x="8518665" y="593100"/>
                <a:ext cx="368031" cy="166148"/>
              </a:xfrm>
              <a:custGeom>
                <a:avLst/>
                <a:gdLst>
                  <a:gd name="connsiteX0" fmla="*/ 184777 w 368031"/>
                  <a:gd name="connsiteY0" fmla="*/ 166148 h 166148"/>
                  <a:gd name="connsiteX1" fmla="*/ 368032 w 368031"/>
                  <a:gd name="connsiteY1" fmla="*/ 0 h 166148"/>
                  <a:gd name="connsiteX2" fmla="*/ 270556 w 368031"/>
                  <a:gd name="connsiteY2" fmla="*/ 0 h 166148"/>
                  <a:gd name="connsiteX3" fmla="*/ 184872 w 368031"/>
                  <a:gd name="connsiteY3" fmla="*/ 60383 h 166148"/>
                  <a:gd name="connsiteX4" fmla="*/ 97476 w 368031"/>
                  <a:gd name="connsiteY4" fmla="*/ 0 h 166148"/>
                  <a:gd name="connsiteX5" fmla="*/ 0 w 368031"/>
                  <a:gd name="connsiteY5" fmla="*/ 0 h 166148"/>
                  <a:gd name="connsiteX6" fmla="*/ 184777 w 368031"/>
                  <a:gd name="connsiteY6" fmla="*/ 166148 h 166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68031" h="166148">
                    <a:moveTo>
                      <a:pt x="184777" y="166148"/>
                    </a:moveTo>
                    <a:cubicBezTo>
                      <a:pt x="283964" y="166148"/>
                      <a:pt x="354527" y="114120"/>
                      <a:pt x="368032" y="0"/>
                    </a:cubicBezTo>
                    <a:lnTo>
                      <a:pt x="270556" y="0"/>
                    </a:lnTo>
                    <a:cubicBezTo>
                      <a:pt x="260475" y="40255"/>
                      <a:pt x="236891" y="60383"/>
                      <a:pt x="184872" y="60383"/>
                    </a:cubicBezTo>
                    <a:cubicBezTo>
                      <a:pt x="132758" y="60383"/>
                      <a:pt x="105845" y="40255"/>
                      <a:pt x="97476" y="0"/>
                    </a:cubicBezTo>
                    <a:lnTo>
                      <a:pt x="0" y="0"/>
                    </a:lnTo>
                    <a:cubicBezTo>
                      <a:pt x="13314" y="114120"/>
                      <a:pt x="85589" y="166148"/>
                      <a:pt x="184777" y="166148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3" name="Freeform 82">
                <a:extLst>
                  <a:ext uri="{FF2B5EF4-FFF2-40B4-BE49-F238E27FC236}">
                    <a16:creationId xmlns:a16="http://schemas.microsoft.com/office/drawing/2014/main" id="{16E46676-D2A3-734D-916C-55F9800954D6}"/>
                  </a:ext>
                </a:extLst>
              </p:cNvPr>
              <p:cNvSpPr/>
              <p:nvPr/>
            </p:nvSpPr>
            <p:spPr>
              <a:xfrm>
                <a:off x="6579415" y="811276"/>
                <a:ext cx="497555" cy="600791"/>
              </a:xfrm>
              <a:custGeom>
                <a:avLst/>
                <a:gdLst>
                  <a:gd name="connsiteX0" fmla="*/ 122677 w 497555"/>
                  <a:gd name="connsiteY0" fmla="*/ 412142 h 600791"/>
                  <a:gd name="connsiteX1" fmla="*/ 122677 w 497555"/>
                  <a:gd name="connsiteY1" fmla="*/ 0 h 600791"/>
                  <a:gd name="connsiteX2" fmla="*/ 0 w 497555"/>
                  <a:gd name="connsiteY2" fmla="*/ 0 h 600791"/>
                  <a:gd name="connsiteX3" fmla="*/ 0 w 497555"/>
                  <a:gd name="connsiteY3" fmla="*/ 600791 h 600791"/>
                  <a:gd name="connsiteX4" fmla="*/ 127813 w 497555"/>
                  <a:gd name="connsiteY4" fmla="*/ 600791 h 600791"/>
                  <a:gd name="connsiteX5" fmla="*/ 374878 w 497555"/>
                  <a:gd name="connsiteY5" fmla="*/ 181719 h 600791"/>
                  <a:gd name="connsiteX6" fmla="*/ 374878 w 497555"/>
                  <a:gd name="connsiteY6" fmla="*/ 600791 h 600791"/>
                  <a:gd name="connsiteX7" fmla="*/ 497556 w 497555"/>
                  <a:gd name="connsiteY7" fmla="*/ 600791 h 600791"/>
                  <a:gd name="connsiteX8" fmla="*/ 497556 w 497555"/>
                  <a:gd name="connsiteY8" fmla="*/ 0 h 600791"/>
                  <a:gd name="connsiteX9" fmla="*/ 369838 w 497555"/>
                  <a:gd name="connsiteY9" fmla="*/ 0 h 600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555" h="600791">
                    <a:moveTo>
                      <a:pt x="122677" y="412142"/>
                    </a:moveTo>
                    <a:lnTo>
                      <a:pt x="122677" y="0"/>
                    </a:lnTo>
                    <a:lnTo>
                      <a:pt x="0" y="0"/>
                    </a:lnTo>
                    <a:lnTo>
                      <a:pt x="0" y="600791"/>
                    </a:lnTo>
                    <a:lnTo>
                      <a:pt x="127813" y="600791"/>
                    </a:lnTo>
                    <a:lnTo>
                      <a:pt x="374878" y="181719"/>
                    </a:lnTo>
                    <a:lnTo>
                      <a:pt x="374878" y="600791"/>
                    </a:lnTo>
                    <a:lnTo>
                      <a:pt x="497556" y="600791"/>
                    </a:lnTo>
                    <a:lnTo>
                      <a:pt x="497556" y="0"/>
                    </a:lnTo>
                    <a:lnTo>
                      <a:pt x="36983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4" name="Freeform 83">
                <a:extLst>
                  <a:ext uri="{FF2B5EF4-FFF2-40B4-BE49-F238E27FC236}">
                    <a16:creationId xmlns:a16="http://schemas.microsoft.com/office/drawing/2014/main" id="{5F923A85-D991-5342-8676-8C98E7E98FE3}"/>
                  </a:ext>
                </a:extLst>
              </p:cNvPr>
              <p:cNvSpPr/>
              <p:nvPr/>
            </p:nvSpPr>
            <p:spPr>
              <a:xfrm>
                <a:off x="5858663" y="539363"/>
                <a:ext cx="598455" cy="884382"/>
              </a:xfrm>
              <a:custGeom>
                <a:avLst/>
                <a:gdLst>
                  <a:gd name="connsiteX0" fmla="*/ 334557 w 598455"/>
                  <a:gd name="connsiteY0" fmla="*/ 276945 h 884382"/>
                  <a:gd name="connsiteX1" fmla="*/ 111551 w 598455"/>
                  <a:gd name="connsiteY1" fmla="*/ 406066 h 884382"/>
                  <a:gd name="connsiteX2" fmla="*/ 302604 w 598455"/>
                  <a:gd name="connsiteY2" fmla="*/ 167857 h 884382"/>
                  <a:gd name="connsiteX3" fmla="*/ 548053 w 598455"/>
                  <a:gd name="connsiteY3" fmla="*/ 134248 h 884382"/>
                  <a:gd name="connsiteX4" fmla="*/ 537973 w 598455"/>
                  <a:gd name="connsiteY4" fmla="*/ 0 h 884382"/>
                  <a:gd name="connsiteX5" fmla="*/ 282443 w 598455"/>
                  <a:gd name="connsiteY5" fmla="*/ 35223 h 884382"/>
                  <a:gd name="connsiteX6" fmla="*/ 0 w 598455"/>
                  <a:gd name="connsiteY6" fmla="*/ 501767 h 884382"/>
                  <a:gd name="connsiteX7" fmla="*/ 302604 w 598455"/>
                  <a:gd name="connsiteY7" fmla="*/ 884382 h 884382"/>
                  <a:gd name="connsiteX8" fmla="*/ 598455 w 598455"/>
                  <a:gd name="connsiteY8" fmla="*/ 563859 h 884382"/>
                  <a:gd name="connsiteX9" fmla="*/ 334557 w 598455"/>
                  <a:gd name="connsiteY9" fmla="*/ 276945 h 884382"/>
                  <a:gd name="connsiteX10" fmla="*/ 302604 w 598455"/>
                  <a:gd name="connsiteY10" fmla="*/ 751844 h 884382"/>
                  <a:gd name="connsiteX11" fmla="*/ 126101 w 598455"/>
                  <a:gd name="connsiteY11" fmla="*/ 550472 h 884382"/>
                  <a:gd name="connsiteX12" fmla="*/ 126101 w 598455"/>
                  <a:gd name="connsiteY12" fmla="*/ 488380 h 884382"/>
                  <a:gd name="connsiteX13" fmla="*/ 302604 w 598455"/>
                  <a:gd name="connsiteY13" fmla="*/ 404452 h 884382"/>
                  <a:gd name="connsiteX14" fmla="*/ 472355 w 598455"/>
                  <a:gd name="connsiteY14" fmla="*/ 563859 h 884382"/>
                  <a:gd name="connsiteX15" fmla="*/ 302604 w 598455"/>
                  <a:gd name="connsiteY15" fmla="*/ 751844 h 884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98455" h="884382">
                    <a:moveTo>
                      <a:pt x="334557" y="276945"/>
                    </a:moveTo>
                    <a:cubicBezTo>
                      <a:pt x="237366" y="276945"/>
                      <a:pt x="154440" y="322137"/>
                      <a:pt x="111551" y="406066"/>
                    </a:cubicBezTo>
                    <a:cubicBezTo>
                      <a:pt x="117637" y="269919"/>
                      <a:pt x="144740" y="188934"/>
                      <a:pt x="302604" y="167857"/>
                    </a:cubicBezTo>
                    <a:lnTo>
                      <a:pt x="548053" y="134248"/>
                    </a:lnTo>
                    <a:lnTo>
                      <a:pt x="537973" y="0"/>
                    </a:lnTo>
                    <a:lnTo>
                      <a:pt x="282443" y="35223"/>
                    </a:lnTo>
                    <a:cubicBezTo>
                      <a:pt x="62194" y="65415"/>
                      <a:pt x="0" y="234981"/>
                      <a:pt x="0" y="501767"/>
                    </a:cubicBezTo>
                    <a:cubicBezTo>
                      <a:pt x="0" y="735039"/>
                      <a:pt x="105940" y="884382"/>
                      <a:pt x="302604" y="884382"/>
                    </a:cubicBezTo>
                    <a:cubicBezTo>
                      <a:pt x="494227" y="884382"/>
                      <a:pt x="598455" y="736653"/>
                      <a:pt x="598455" y="563859"/>
                    </a:cubicBezTo>
                    <a:cubicBezTo>
                      <a:pt x="598455" y="391065"/>
                      <a:pt x="482530" y="276945"/>
                      <a:pt x="334557" y="276945"/>
                    </a:cubicBezTo>
                    <a:close/>
                    <a:moveTo>
                      <a:pt x="302604" y="751844"/>
                    </a:moveTo>
                    <a:cubicBezTo>
                      <a:pt x="191624" y="751844"/>
                      <a:pt x="126101" y="671333"/>
                      <a:pt x="126101" y="550472"/>
                    </a:cubicBezTo>
                    <a:lnTo>
                      <a:pt x="126101" y="488380"/>
                    </a:lnTo>
                    <a:cubicBezTo>
                      <a:pt x="149590" y="441384"/>
                      <a:pt x="211880" y="404452"/>
                      <a:pt x="302604" y="404452"/>
                    </a:cubicBezTo>
                    <a:cubicBezTo>
                      <a:pt x="398463" y="404452"/>
                      <a:pt x="472355" y="449739"/>
                      <a:pt x="472355" y="563859"/>
                    </a:cubicBezTo>
                    <a:cubicBezTo>
                      <a:pt x="472355" y="677979"/>
                      <a:pt x="413584" y="751844"/>
                      <a:pt x="302604" y="751844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 dirty="0"/>
              </a:p>
            </p:txBody>
          </p:sp>
          <p:sp>
            <p:nvSpPr>
              <p:cNvPr id="85" name="Freeform 84">
                <a:extLst>
                  <a:ext uri="{FF2B5EF4-FFF2-40B4-BE49-F238E27FC236}">
                    <a16:creationId xmlns:a16="http://schemas.microsoft.com/office/drawing/2014/main" id="{B3B5B098-2100-5E49-8F79-0003D521654F}"/>
                  </a:ext>
                </a:extLst>
              </p:cNvPr>
              <p:cNvSpPr/>
              <p:nvPr/>
            </p:nvSpPr>
            <p:spPr>
              <a:xfrm>
                <a:off x="9108086" y="811276"/>
                <a:ext cx="484146" cy="600791"/>
              </a:xfrm>
              <a:custGeom>
                <a:avLst/>
                <a:gdLst>
                  <a:gd name="connsiteX0" fmla="*/ 361375 w 484146"/>
                  <a:gd name="connsiteY0" fmla="*/ 0 h 600791"/>
                  <a:gd name="connsiteX1" fmla="*/ 361375 w 484146"/>
                  <a:gd name="connsiteY1" fmla="*/ 224822 h 600791"/>
                  <a:gd name="connsiteX2" fmla="*/ 122677 w 484146"/>
                  <a:gd name="connsiteY2" fmla="*/ 224822 h 600791"/>
                  <a:gd name="connsiteX3" fmla="*/ 122677 w 484146"/>
                  <a:gd name="connsiteY3" fmla="*/ 0 h 600791"/>
                  <a:gd name="connsiteX4" fmla="*/ 0 w 484146"/>
                  <a:gd name="connsiteY4" fmla="*/ 0 h 600791"/>
                  <a:gd name="connsiteX5" fmla="*/ 0 w 484146"/>
                  <a:gd name="connsiteY5" fmla="*/ 600791 h 600791"/>
                  <a:gd name="connsiteX6" fmla="*/ 122677 w 484146"/>
                  <a:gd name="connsiteY6" fmla="*/ 600791 h 600791"/>
                  <a:gd name="connsiteX7" fmla="*/ 122677 w 484146"/>
                  <a:gd name="connsiteY7" fmla="*/ 349006 h 600791"/>
                  <a:gd name="connsiteX8" fmla="*/ 361375 w 484146"/>
                  <a:gd name="connsiteY8" fmla="*/ 349006 h 600791"/>
                  <a:gd name="connsiteX9" fmla="*/ 361375 w 484146"/>
                  <a:gd name="connsiteY9" fmla="*/ 600791 h 600791"/>
                  <a:gd name="connsiteX10" fmla="*/ 484147 w 484146"/>
                  <a:gd name="connsiteY10" fmla="*/ 600791 h 600791"/>
                  <a:gd name="connsiteX11" fmla="*/ 484147 w 484146"/>
                  <a:gd name="connsiteY11" fmla="*/ 0 h 600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84146" h="600791">
                    <a:moveTo>
                      <a:pt x="361375" y="0"/>
                    </a:moveTo>
                    <a:lnTo>
                      <a:pt x="361375" y="224822"/>
                    </a:lnTo>
                    <a:lnTo>
                      <a:pt x="122677" y="224822"/>
                    </a:lnTo>
                    <a:lnTo>
                      <a:pt x="122677" y="0"/>
                    </a:lnTo>
                    <a:lnTo>
                      <a:pt x="0" y="0"/>
                    </a:lnTo>
                    <a:lnTo>
                      <a:pt x="0" y="600791"/>
                    </a:lnTo>
                    <a:lnTo>
                      <a:pt x="122677" y="600791"/>
                    </a:lnTo>
                    <a:lnTo>
                      <a:pt x="122677" y="349006"/>
                    </a:lnTo>
                    <a:lnTo>
                      <a:pt x="361375" y="349006"/>
                    </a:lnTo>
                    <a:lnTo>
                      <a:pt x="361375" y="600791"/>
                    </a:lnTo>
                    <a:lnTo>
                      <a:pt x="484147" y="600791"/>
                    </a:lnTo>
                    <a:lnTo>
                      <a:pt x="48414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6" name="Freeform 85">
                <a:extLst>
                  <a:ext uri="{FF2B5EF4-FFF2-40B4-BE49-F238E27FC236}">
                    <a16:creationId xmlns:a16="http://schemas.microsoft.com/office/drawing/2014/main" id="{FC773959-8AE8-104E-8482-92E20096D07D}"/>
                  </a:ext>
                </a:extLst>
              </p:cNvPr>
              <p:cNvSpPr/>
              <p:nvPr/>
            </p:nvSpPr>
            <p:spPr>
              <a:xfrm>
                <a:off x="8456280" y="811276"/>
                <a:ext cx="497555" cy="600791"/>
              </a:xfrm>
              <a:custGeom>
                <a:avLst/>
                <a:gdLst>
                  <a:gd name="connsiteX0" fmla="*/ 122772 w 497555"/>
                  <a:gd name="connsiteY0" fmla="*/ 412142 h 600791"/>
                  <a:gd name="connsiteX1" fmla="*/ 122772 w 497555"/>
                  <a:gd name="connsiteY1" fmla="*/ 0 h 600791"/>
                  <a:gd name="connsiteX2" fmla="*/ 0 w 497555"/>
                  <a:gd name="connsiteY2" fmla="*/ 0 h 600791"/>
                  <a:gd name="connsiteX3" fmla="*/ 0 w 497555"/>
                  <a:gd name="connsiteY3" fmla="*/ 600791 h 600791"/>
                  <a:gd name="connsiteX4" fmla="*/ 127813 w 497555"/>
                  <a:gd name="connsiteY4" fmla="*/ 600791 h 600791"/>
                  <a:gd name="connsiteX5" fmla="*/ 374879 w 497555"/>
                  <a:gd name="connsiteY5" fmla="*/ 181719 h 600791"/>
                  <a:gd name="connsiteX6" fmla="*/ 374879 w 497555"/>
                  <a:gd name="connsiteY6" fmla="*/ 600791 h 600791"/>
                  <a:gd name="connsiteX7" fmla="*/ 497556 w 497555"/>
                  <a:gd name="connsiteY7" fmla="*/ 600791 h 600791"/>
                  <a:gd name="connsiteX8" fmla="*/ 497556 w 497555"/>
                  <a:gd name="connsiteY8" fmla="*/ 0 h 600791"/>
                  <a:gd name="connsiteX9" fmla="*/ 369838 w 497555"/>
                  <a:gd name="connsiteY9" fmla="*/ 0 h 600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555" h="600791">
                    <a:moveTo>
                      <a:pt x="122772" y="412142"/>
                    </a:moveTo>
                    <a:lnTo>
                      <a:pt x="122772" y="0"/>
                    </a:lnTo>
                    <a:lnTo>
                      <a:pt x="0" y="0"/>
                    </a:lnTo>
                    <a:lnTo>
                      <a:pt x="0" y="600791"/>
                    </a:lnTo>
                    <a:lnTo>
                      <a:pt x="127813" y="600791"/>
                    </a:lnTo>
                    <a:lnTo>
                      <a:pt x="374879" y="181719"/>
                    </a:lnTo>
                    <a:lnTo>
                      <a:pt x="374879" y="600791"/>
                    </a:lnTo>
                    <a:lnTo>
                      <a:pt x="497556" y="600791"/>
                    </a:lnTo>
                    <a:lnTo>
                      <a:pt x="497556" y="0"/>
                    </a:lnTo>
                    <a:lnTo>
                      <a:pt x="36983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7" name="Freeform 86">
                <a:extLst>
                  <a:ext uri="{FF2B5EF4-FFF2-40B4-BE49-F238E27FC236}">
                    <a16:creationId xmlns:a16="http://schemas.microsoft.com/office/drawing/2014/main" id="{983BCC8F-AE69-B143-BFE5-E1A6423FE2D1}"/>
                  </a:ext>
                </a:extLst>
              </p:cNvPr>
              <p:cNvSpPr/>
              <p:nvPr/>
            </p:nvSpPr>
            <p:spPr>
              <a:xfrm>
                <a:off x="7183386" y="811276"/>
                <a:ext cx="517811" cy="609241"/>
              </a:xfrm>
              <a:custGeom>
                <a:avLst/>
                <a:gdLst>
                  <a:gd name="connsiteX0" fmla="*/ 114309 w 517811"/>
                  <a:gd name="connsiteY0" fmla="*/ 367520 h 609241"/>
                  <a:gd name="connsiteX1" fmla="*/ 45362 w 517811"/>
                  <a:gd name="connsiteY1" fmla="*/ 463221 h 609241"/>
                  <a:gd name="connsiteX2" fmla="*/ 0 w 517811"/>
                  <a:gd name="connsiteY2" fmla="*/ 458189 h 609241"/>
                  <a:gd name="connsiteX3" fmla="*/ 0 w 517811"/>
                  <a:gd name="connsiteY3" fmla="*/ 597468 h 609241"/>
                  <a:gd name="connsiteX4" fmla="*/ 60483 w 517811"/>
                  <a:gd name="connsiteY4" fmla="*/ 609241 h 609241"/>
                  <a:gd name="connsiteX5" fmla="*/ 191624 w 517811"/>
                  <a:gd name="connsiteY5" fmla="*/ 515249 h 609241"/>
                  <a:gd name="connsiteX6" fmla="*/ 220248 w 517811"/>
                  <a:gd name="connsiteY6" fmla="*/ 369228 h 609241"/>
                  <a:gd name="connsiteX7" fmla="*/ 232041 w 517811"/>
                  <a:gd name="connsiteY7" fmla="*/ 127602 h 609241"/>
                  <a:gd name="connsiteX8" fmla="*/ 395135 w 517811"/>
                  <a:gd name="connsiteY8" fmla="*/ 127602 h 609241"/>
                  <a:gd name="connsiteX9" fmla="*/ 395135 w 517811"/>
                  <a:gd name="connsiteY9" fmla="*/ 600886 h 609241"/>
                  <a:gd name="connsiteX10" fmla="*/ 517812 w 517811"/>
                  <a:gd name="connsiteY10" fmla="*/ 600886 h 609241"/>
                  <a:gd name="connsiteX11" fmla="*/ 517812 w 517811"/>
                  <a:gd name="connsiteY11" fmla="*/ 0 h 609241"/>
                  <a:gd name="connsiteX12" fmla="*/ 129524 w 517811"/>
                  <a:gd name="connsiteY12" fmla="*/ 0 h 609241"/>
                  <a:gd name="connsiteX13" fmla="*/ 114309 w 517811"/>
                  <a:gd name="connsiteY13" fmla="*/ 367520 h 609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17811" h="609241">
                    <a:moveTo>
                      <a:pt x="114309" y="367520"/>
                    </a:moveTo>
                    <a:cubicBezTo>
                      <a:pt x="100900" y="434643"/>
                      <a:pt x="82355" y="463221"/>
                      <a:pt x="45362" y="463221"/>
                    </a:cubicBezTo>
                    <a:cubicBezTo>
                      <a:pt x="25201" y="463221"/>
                      <a:pt x="10080" y="461512"/>
                      <a:pt x="0" y="458189"/>
                    </a:cubicBezTo>
                    <a:lnTo>
                      <a:pt x="0" y="597468"/>
                    </a:lnTo>
                    <a:cubicBezTo>
                      <a:pt x="15121" y="604209"/>
                      <a:pt x="28625" y="609241"/>
                      <a:pt x="60483" y="609241"/>
                    </a:cubicBezTo>
                    <a:cubicBezTo>
                      <a:pt x="124389" y="609241"/>
                      <a:pt x="169751" y="572309"/>
                      <a:pt x="191624" y="515249"/>
                    </a:cubicBezTo>
                    <a:cubicBezTo>
                      <a:pt x="205032" y="480026"/>
                      <a:pt x="213496" y="431320"/>
                      <a:pt x="220248" y="369228"/>
                    </a:cubicBezTo>
                    <a:cubicBezTo>
                      <a:pt x="227001" y="307137"/>
                      <a:pt x="232041" y="224917"/>
                      <a:pt x="232041" y="127602"/>
                    </a:cubicBezTo>
                    <a:lnTo>
                      <a:pt x="395135" y="127602"/>
                    </a:lnTo>
                    <a:lnTo>
                      <a:pt x="395135" y="600886"/>
                    </a:lnTo>
                    <a:lnTo>
                      <a:pt x="517812" y="600886"/>
                    </a:lnTo>
                    <a:lnTo>
                      <a:pt x="517812" y="0"/>
                    </a:lnTo>
                    <a:lnTo>
                      <a:pt x="129524" y="0"/>
                    </a:lnTo>
                    <a:cubicBezTo>
                      <a:pt x="129524" y="181244"/>
                      <a:pt x="124484" y="300396"/>
                      <a:pt x="114309" y="36752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4AF716A1-E312-8447-8D86-EBDBDA1DE147}"/>
                  </a:ext>
                </a:extLst>
              </p:cNvPr>
              <p:cNvSpPr/>
              <p:nvPr/>
            </p:nvSpPr>
            <p:spPr>
              <a:xfrm>
                <a:off x="7829771" y="797794"/>
                <a:ext cx="514483" cy="624336"/>
              </a:xfrm>
              <a:custGeom>
                <a:avLst/>
                <a:gdLst>
                  <a:gd name="connsiteX0" fmla="*/ 450482 w 514483"/>
                  <a:gd name="connsiteY0" fmla="*/ 451448 h 624336"/>
                  <a:gd name="connsiteX1" fmla="*/ 452194 w 514483"/>
                  <a:gd name="connsiteY1" fmla="*/ 213144 h 624336"/>
                  <a:gd name="connsiteX2" fmla="*/ 226905 w 514483"/>
                  <a:gd name="connsiteY2" fmla="*/ 0 h 624336"/>
                  <a:gd name="connsiteX3" fmla="*/ 0 w 514483"/>
                  <a:gd name="connsiteY3" fmla="*/ 201371 h 624336"/>
                  <a:gd name="connsiteX4" fmla="*/ 117637 w 514483"/>
                  <a:gd name="connsiteY4" fmla="*/ 201371 h 624336"/>
                  <a:gd name="connsiteX5" fmla="*/ 226905 w 514483"/>
                  <a:gd name="connsiteY5" fmla="*/ 127507 h 624336"/>
                  <a:gd name="connsiteX6" fmla="*/ 333701 w 514483"/>
                  <a:gd name="connsiteY6" fmla="*/ 207827 h 624336"/>
                  <a:gd name="connsiteX7" fmla="*/ 183255 w 514483"/>
                  <a:gd name="connsiteY7" fmla="*/ 268495 h 624336"/>
                  <a:gd name="connsiteX8" fmla="*/ 3424 w 514483"/>
                  <a:gd name="connsiteY8" fmla="*/ 456480 h 624336"/>
                  <a:gd name="connsiteX9" fmla="*/ 174886 w 514483"/>
                  <a:gd name="connsiteY9" fmla="*/ 624337 h 624336"/>
                  <a:gd name="connsiteX10" fmla="*/ 343686 w 514483"/>
                  <a:gd name="connsiteY10" fmla="*/ 514964 h 624336"/>
                  <a:gd name="connsiteX11" fmla="*/ 480818 w 514483"/>
                  <a:gd name="connsiteY11" fmla="*/ 619305 h 624336"/>
                  <a:gd name="connsiteX12" fmla="*/ 514483 w 514483"/>
                  <a:gd name="connsiteY12" fmla="*/ 619305 h 624336"/>
                  <a:gd name="connsiteX13" fmla="*/ 514483 w 514483"/>
                  <a:gd name="connsiteY13" fmla="*/ 503476 h 624336"/>
                  <a:gd name="connsiteX14" fmla="*/ 504403 w 514483"/>
                  <a:gd name="connsiteY14" fmla="*/ 503476 h 624336"/>
                  <a:gd name="connsiteX15" fmla="*/ 450482 w 514483"/>
                  <a:gd name="connsiteY15" fmla="*/ 451448 h 624336"/>
                  <a:gd name="connsiteX16" fmla="*/ 220153 w 514483"/>
                  <a:gd name="connsiteY16" fmla="*/ 498444 h 624336"/>
                  <a:gd name="connsiteX17" fmla="*/ 120965 w 514483"/>
                  <a:gd name="connsiteY17" fmla="*/ 431320 h 624336"/>
                  <a:gd name="connsiteX18" fmla="*/ 216825 w 514483"/>
                  <a:gd name="connsiteY18" fmla="*/ 340651 h 624336"/>
                  <a:gd name="connsiteX19" fmla="*/ 333986 w 514483"/>
                  <a:gd name="connsiteY19" fmla="*/ 292041 h 624336"/>
                  <a:gd name="connsiteX20" fmla="*/ 332750 w 514483"/>
                  <a:gd name="connsiteY20" fmla="*/ 454771 h 624336"/>
                  <a:gd name="connsiteX21" fmla="*/ 220153 w 514483"/>
                  <a:gd name="connsiteY21" fmla="*/ 498444 h 624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14483" h="624336">
                    <a:moveTo>
                      <a:pt x="450482" y="451448"/>
                    </a:moveTo>
                    <a:lnTo>
                      <a:pt x="452194" y="213144"/>
                    </a:lnTo>
                    <a:cubicBezTo>
                      <a:pt x="453906" y="62092"/>
                      <a:pt x="361375" y="0"/>
                      <a:pt x="226905" y="0"/>
                    </a:cubicBezTo>
                    <a:cubicBezTo>
                      <a:pt x="115925" y="0"/>
                      <a:pt x="15121" y="60383"/>
                      <a:pt x="0" y="201371"/>
                    </a:cubicBezTo>
                    <a:lnTo>
                      <a:pt x="117637" y="201371"/>
                    </a:lnTo>
                    <a:cubicBezTo>
                      <a:pt x="124389" y="146020"/>
                      <a:pt x="168039" y="127507"/>
                      <a:pt x="226905" y="127507"/>
                    </a:cubicBezTo>
                    <a:cubicBezTo>
                      <a:pt x="287198" y="127507"/>
                      <a:pt x="327615" y="146020"/>
                      <a:pt x="333701" y="207827"/>
                    </a:cubicBezTo>
                    <a:lnTo>
                      <a:pt x="183255" y="268495"/>
                    </a:lnTo>
                    <a:cubicBezTo>
                      <a:pt x="80739" y="310460"/>
                      <a:pt x="3424" y="357456"/>
                      <a:pt x="3424" y="456480"/>
                    </a:cubicBezTo>
                    <a:cubicBezTo>
                      <a:pt x="3424" y="558827"/>
                      <a:pt x="60578" y="624337"/>
                      <a:pt x="174886" y="624337"/>
                    </a:cubicBezTo>
                    <a:cubicBezTo>
                      <a:pt x="253818" y="624337"/>
                      <a:pt x="303745" y="587310"/>
                      <a:pt x="343686" y="514964"/>
                    </a:cubicBezTo>
                    <a:cubicBezTo>
                      <a:pt x="349678" y="587310"/>
                      <a:pt x="397702" y="619305"/>
                      <a:pt x="480818" y="619305"/>
                    </a:cubicBezTo>
                    <a:lnTo>
                      <a:pt x="514483" y="619305"/>
                    </a:lnTo>
                    <a:lnTo>
                      <a:pt x="514483" y="503476"/>
                    </a:lnTo>
                    <a:lnTo>
                      <a:pt x="504403" y="503476"/>
                    </a:lnTo>
                    <a:cubicBezTo>
                      <a:pt x="465603" y="503476"/>
                      <a:pt x="450482" y="488380"/>
                      <a:pt x="450482" y="451448"/>
                    </a:cubicBezTo>
                    <a:close/>
                    <a:moveTo>
                      <a:pt x="220153" y="498444"/>
                    </a:moveTo>
                    <a:cubicBezTo>
                      <a:pt x="162999" y="498444"/>
                      <a:pt x="120965" y="483348"/>
                      <a:pt x="120965" y="431320"/>
                    </a:cubicBezTo>
                    <a:cubicBezTo>
                      <a:pt x="120965" y="386033"/>
                      <a:pt x="156247" y="365905"/>
                      <a:pt x="216825" y="340651"/>
                    </a:cubicBezTo>
                    <a:lnTo>
                      <a:pt x="333986" y="292041"/>
                    </a:lnTo>
                    <a:lnTo>
                      <a:pt x="332750" y="454771"/>
                    </a:lnTo>
                    <a:cubicBezTo>
                      <a:pt x="312589" y="480025"/>
                      <a:pt x="272267" y="498444"/>
                      <a:pt x="220153" y="498444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97592859-51E9-DD4C-AEB3-3038D3CB88BD}"/>
                </a:ext>
              </a:extLst>
            </p:cNvPr>
            <p:cNvGrpSpPr/>
            <p:nvPr userDrawn="1"/>
          </p:nvGrpSpPr>
          <p:grpSpPr>
            <a:xfrm>
              <a:off x="-6416384" y="251406"/>
              <a:ext cx="2558564" cy="2558564"/>
              <a:chOff x="8962070" y="251406"/>
              <a:chExt cx="321536" cy="321536"/>
            </a:xfrm>
          </p:grpSpPr>
          <p:grpSp>
            <p:nvGrpSpPr>
              <p:cNvPr id="77" name="Graphic 6">
                <a:extLst>
                  <a:ext uri="{FF2B5EF4-FFF2-40B4-BE49-F238E27FC236}">
                    <a16:creationId xmlns:a16="http://schemas.microsoft.com/office/drawing/2014/main" id="{5DFEED5F-82D7-FD4E-8A98-94B6F7447035}"/>
                  </a:ext>
                </a:extLst>
              </p:cNvPr>
              <p:cNvGrpSpPr/>
              <p:nvPr/>
            </p:nvGrpSpPr>
            <p:grpSpPr>
              <a:xfrm>
                <a:off x="9005394" y="293780"/>
                <a:ext cx="236379" cy="235840"/>
                <a:chOff x="4586236" y="536515"/>
                <a:chExt cx="981996" cy="979755"/>
              </a:xfrm>
            </p:grpSpPr>
            <p:sp>
              <p:nvSpPr>
                <p:cNvPr id="80" name="Freeform 79">
                  <a:extLst>
                    <a:ext uri="{FF2B5EF4-FFF2-40B4-BE49-F238E27FC236}">
                      <a16:creationId xmlns:a16="http://schemas.microsoft.com/office/drawing/2014/main" id="{3C35B921-6DA2-804A-A7EF-ACD448972F05}"/>
                    </a:ext>
                  </a:extLst>
                </p:cNvPr>
                <p:cNvSpPr/>
                <p:nvPr/>
              </p:nvSpPr>
              <p:spPr>
                <a:xfrm>
                  <a:off x="4587956" y="536515"/>
                  <a:ext cx="980276" cy="978659"/>
                </a:xfrm>
                <a:custGeom>
                  <a:avLst/>
                  <a:gdLst>
                    <a:gd name="connsiteX0" fmla="*/ 980276 w 980276"/>
                    <a:gd name="connsiteY0" fmla="*/ 489330 h 978659"/>
                    <a:gd name="connsiteX1" fmla="*/ 490138 w 980276"/>
                    <a:gd name="connsiteY1" fmla="*/ 978660 h 978659"/>
                    <a:gd name="connsiteX2" fmla="*/ 0 w 980276"/>
                    <a:gd name="connsiteY2" fmla="*/ 489330 h 978659"/>
                    <a:gd name="connsiteX3" fmla="*/ 490138 w 980276"/>
                    <a:gd name="connsiteY3" fmla="*/ 0 h 978659"/>
                    <a:gd name="connsiteX4" fmla="*/ 980276 w 980276"/>
                    <a:gd name="connsiteY4" fmla="*/ 489330 h 978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0276" h="978659">
                      <a:moveTo>
                        <a:pt x="980276" y="489330"/>
                      </a:moveTo>
                      <a:cubicBezTo>
                        <a:pt x="980276" y="759579"/>
                        <a:pt x="760834" y="978660"/>
                        <a:pt x="490138" y="978660"/>
                      </a:cubicBezTo>
                      <a:cubicBezTo>
                        <a:pt x="219442" y="978660"/>
                        <a:pt x="0" y="759579"/>
                        <a:pt x="0" y="489330"/>
                      </a:cubicBezTo>
                      <a:cubicBezTo>
                        <a:pt x="0" y="219080"/>
                        <a:pt x="219442" y="0"/>
                        <a:pt x="490138" y="0"/>
                      </a:cubicBezTo>
                      <a:cubicBezTo>
                        <a:pt x="760834" y="0"/>
                        <a:pt x="980276" y="219080"/>
                        <a:pt x="980276" y="489330"/>
                      </a:cubicBezTo>
                      <a:close/>
                    </a:path>
                  </a:pathLst>
                </a:custGeom>
                <a:solidFill>
                  <a:srgbClr val="FFC8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  <p:sp>
              <p:nvSpPr>
                <p:cNvPr id="81" name="Freeform 80">
                  <a:extLst>
                    <a:ext uri="{FF2B5EF4-FFF2-40B4-BE49-F238E27FC236}">
                      <a16:creationId xmlns:a16="http://schemas.microsoft.com/office/drawing/2014/main" id="{E1A8A736-F58E-C04E-B127-A5D45D50C03D}"/>
                    </a:ext>
                  </a:extLst>
                </p:cNvPr>
                <p:cNvSpPr/>
                <p:nvPr/>
              </p:nvSpPr>
              <p:spPr>
                <a:xfrm>
                  <a:off x="4586236" y="537071"/>
                  <a:ext cx="980476" cy="979199"/>
                </a:xfrm>
                <a:custGeom>
                  <a:avLst/>
                  <a:gdLst>
                    <a:gd name="connsiteX0" fmla="*/ 546019 w 980476"/>
                    <a:gd name="connsiteY0" fmla="*/ 123835 h 977664"/>
                    <a:gd name="connsiteX1" fmla="*/ 373035 w 980476"/>
                    <a:gd name="connsiteY1" fmla="*/ 285521 h 977664"/>
                    <a:gd name="connsiteX2" fmla="*/ 146415 w 980476"/>
                    <a:gd name="connsiteY2" fmla="*/ 354259 h 977664"/>
                    <a:gd name="connsiteX3" fmla="*/ 62158 w 980476"/>
                    <a:gd name="connsiteY3" fmla="*/ 306219 h 977664"/>
                    <a:gd name="connsiteX4" fmla="*/ 89070 w 980476"/>
                    <a:gd name="connsiteY4" fmla="*/ 206910 h 977664"/>
                    <a:gd name="connsiteX5" fmla="*/ 101623 w 980476"/>
                    <a:gd name="connsiteY5" fmla="*/ 189820 h 977664"/>
                    <a:gd name="connsiteX6" fmla="*/ 245222 w 980476"/>
                    <a:gd name="connsiteY6" fmla="*/ 64402 h 977664"/>
                    <a:gd name="connsiteX7" fmla="*/ 425814 w 980476"/>
                    <a:gd name="connsiteY7" fmla="*/ 2975 h 977664"/>
                    <a:gd name="connsiteX8" fmla="*/ 446831 w 980476"/>
                    <a:gd name="connsiteY8" fmla="*/ 696 h 977664"/>
                    <a:gd name="connsiteX9" fmla="*/ 546399 w 980476"/>
                    <a:gd name="connsiteY9" fmla="*/ 26995 h 977664"/>
                    <a:gd name="connsiteX10" fmla="*/ 546019 w 980476"/>
                    <a:gd name="connsiteY10" fmla="*/ 123835 h 977664"/>
                    <a:gd name="connsiteX11" fmla="*/ 898549 w 980476"/>
                    <a:gd name="connsiteY11" fmla="*/ 217353 h 977664"/>
                    <a:gd name="connsiteX12" fmla="*/ 877628 w 980476"/>
                    <a:gd name="connsiteY12" fmla="*/ 188301 h 977664"/>
                    <a:gd name="connsiteX13" fmla="*/ 720810 w 980476"/>
                    <a:gd name="connsiteY13" fmla="*/ 56332 h 977664"/>
                    <a:gd name="connsiteX14" fmla="*/ 760657 w 980476"/>
                    <a:gd name="connsiteY14" fmla="*/ 97821 h 977664"/>
                    <a:gd name="connsiteX15" fmla="*/ 771973 w 980476"/>
                    <a:gd name="connsiteY15" fmla="*/ 124690 h 977664"/>
                    <a:gd name="connsiteX16" fmla="*/ 757138 w 980476"/>
                    <a:gd name="connsiteY16" fmla="*/ 246310 h 977664"/>
                    <a:gd name="connsiteX17" fmla="*/ 499516 w 980476"/>
                    <a:gd name="connsiteY17" fmla="*/ 504267 h 977664"/>
                    <a:gd name="connsiteX18" fmla="*/ 146890 w 980476"/>
                    <a:gd name="connsiteY18" fmla="*/ 598164 h 977664"/>
                    <a:gd name="connsiteX19" fmla="*/ 34008 w 980476"/>
                    <a:gd name="connsiteY19" fmla="*/ 550124 h 977664"/>
                    <a:gd name="connsiteX20" fmla="*/ 16415 w 980476"/>
                    <a:gd name="connsiteY20" fmla="*/ 526863 h 977664"/>
                    <a:gd name="connsiteX21" fmla="*/ 343 w 980476"/>
                    <a:gd name="connsiteY21" fmla="*/ 470658 h 977664"/>
                    <a:gd name="connsiteX22" fmla="*/ 36956 w 980476"/>
                    <a:gd name="connsiteY22" fmla="*/ 674782 h 977664"/>
                    <a:gd name="connsiteX23" fmla="*/ 50270 w 980476"/>
                    <a:gd name="connsiteY23" fmla="*/ 704119 h 977664"/>
                    <a:gd name="connsiteX24" fmla="*/ 50936 w 980476"/>
                    <a:gd name="connsiteY24" fmla="*/ 705354 h 977664"/>
                    <a:gd name="connsiteX25" fmla="*/ 127585 w 980476"/>
                    <a:gd name="connsiteY25" fmla="*/ 777604 h 977664"/>
                    <a:gd name="connsiteX26" fmla="*/ 620101 w 980476"/>
                    <a:gd name="connsiteY26" fmla="*/ 712949 h 977664"/>
                    <a:gd name="connsiteX27" fmla="*/ 922419 w 980476"/>
                    <a:gd name="connsiteY27" fmla="*/ 319510 h 977664"/>
                    <a:gd name="connsiteX28" fmla="*/ 898549 w 980476"/>
                    <a:gd name="connsiteY28" fmla="*/ 217353 h 977664"/>
                    <a:gd name="connsiteX29" fmla="*/ 701125 w 980476"/>
                    <a:gd name="connsiteY29" fmla="*/ 852798 h 977664"/>
                    <a:gd name="connsiteX30" fmla="*/ 238851 w 980476"/>
                    <a:gd name="connsiteY30" fmla="*/ 908434 h 977664"/>
                    <a:gd name="connsiteX31" fmla="*/ 735265 w 980476"/>
                    <a:gd name="connsiteY31" fmla="*/ 912042 h 977664"/>
                    <a:gd name="connsiteX32" fmla="*/ 980429 w 980476"/>
                    <a:gd name="connsiteY32" fmla="*/ 480911 h 977664"/>
                    <a:gd name="connsiteX33" fmla="*/ 701125 w 980476"/>
                    <a:gd name="connsiteY33" fmla="*/ 852798 h 9776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980476" h="977664">
                      <a:moveTo>
                        <a:pt x="546019" y="123835"/>
                      </a:moveTo>
                      <a:cubicBezTo>
                        <a:pt x="518345" y="177288"/>
                        <a:pt x="455866" y="237860"/>
                        <a:pt x="373035" y="285521"/>
                      </a:cubicBezTo>
                      <a:cubicBezTo>
                        <a:pt x="290299" y="333182"/>
                        <a:pt x="206612" y="357012"/>
                        <a:pt x="146415" y="354259"/>
                      </a:cubicBezTo>
                      <a:cubicBezTo>
                        <a:pt x="113130" y="352740"/>
                        <a:pt x="73474" y="341632"/>
                        <a:pt x="62158" y="306219"/>
                      </a:cubicBezTo>
                      <a:cubicBezTo>
                        <a:pt x="53408" y="279065"/>
                        <a:pt x="63869" y="243937"/>
                        <a:pt x="89070" y="206910"/>
                      </a:cubicBezTo>
                      <a:cubicBezTo>
                        <a:pt x="93160" y="201118"/>
                        <a:pt x="97344" y="195422"/>
                        <a:pt x="101623" y="189820"/>
                      </a:cubicBezTo>
                      <a:cubicBezTo>
                        <a:pt x="139663" y="140355"/>
                        <a:pt x="187783" y="97442"/>
                        <a:pt x="245222" y="64402"/>
                      </a:cubicBezTo>
                      <a:cubicBezTo>
                        <a:pt x="302662" y="31267"/>
                        <a:pt x="363905" y="11140"/>
                        <a:pt x="425814" y="2975"/>
                      </a:cubicBezTo>
                      <a:cubicBezTo>
                        <a:pt x="433042" y="1930"/>
                        <a:pt x="440079" y="1171"/>
                        <a:pt x="446831" y="696"/>
                      </a:cubicBezTo>
                      <a:cubicBezTo>
                        <a:pt x="491528" y="-2627"/>
                        <a:pt x="527190" y="5918"/>
                        <a:pt x="546399" y="26995"/>
                      </a:cubicBezTo>
                      <a:cubicBezTo>
                        <a:pt x="571506" y="54338"/>
                        <a:pt x="561235" y="94404"/>
                        <a:pt x="546019" y="123835"/>
                      </a:cubicBezTo>
                      <a:close/>
                      <a:moveTo>
                        <a:pt x="898549" y="217353"/>
                      </a:moveTo>
                      <a:cubicBezTo>
                        <a:pt x="891893" y="207384"/>
                        <a:pt x="884950" y="197605"/>
                        <a:pt x="877628" y="188301"/>
                      </a:cubicBezTo>
                      <a:cubicBezTo>
                        <a:pt x="834358" y="132475"/>
                        <a:pt x="780627" y="88042"/>
                        <a:pt x="720810" y="56332"/>
                      </a:cubicBezTo>
                      <a:cubicBezTo>
                        <a:pt x="737548" y="67250"/>
                        <a:pt x="750956" y="81112"/>
                        <a:pt x="760657" y="97821"/>
                      </a:cubicBezTo>
                      <a:cubicBezTo>
                        <a:pt x="765602" y="106271"/>
                        <a:pt x="769311" y="115291"/>
                        <a:pt x="771973" y="124690"/>
                      </a:cubicBezTo>
                      <a:cubicBezTo>
                        <a:pt x="782149" y="160483"/>
                        <a:pt x="776348" y="202447"/>
                        <a:pt x="757138" y="246310"/>
                      </a:cubicBezTo>
                      <a:cubicBezTo>
                        <a:pt x="718528" y="334701"/>
                        <a:pt x="625712" y="431447"/>
                        <a:pt x="499516" y="504267"/>
                      </a:cubicBezTo>
                      <a:cubicBezTo>
                        <a:pt x="373225" y="577087"/>
                        <a:pt x="242845" y="608988"/>
                        <a:pt x="146890" y="598164"/>
                      </a:cubicBezTo>
                      <a:cubicBezTo>
                        <a:pt x="99151" y="592753"/>
                        <a:pt x="59970" y="576897"/>
                        <a:pt x="34008" y="550124"/>
                      </a:cubicBezTo>
                      <a:cubicBezTo>
                        <a:pt x="27161" y="543098"/>
                        <a:pt x="21265" y="535408"/>
                        <a:pt x="16415" y="526863"/>
                      </a:cubicBezTo>
                      <a:cubicBezTo>
                        <a:pt x="6620" y="509869"/>
                        <a:pt x="1390" y="490975"/>
                        <a:pt x="343" y="470658"/>
                      </a:cubicBezTo>
                      <a:cubicBezTo>
                        <a:pt x="-2224" y="539111"/>
                        <a:pt x="9568" y="608703"/>
                        <a:pt x="36956" y="674782"/>
                      </a:cubicBezTo>
                      <a:cubicBezTo>
                        <a:pt x="41046" y="684656"/>
                        <a:pt x="45420" y="694435"/>
                        <a:pt x="50270" y="704119"/>
                      </a:cubicBezTo>
                      <a:cubicBezTo>
                        <a:pt x="50460" y="704499"/>
                        <a:pt x="50746" y="704974"/>
                        <a:pt x="50936" y="705354"/>
                      </a:cubicBezTo>
                      <a:cubicBezTo>
                        <a:pt x="68719" y="736020"/>
                        <a:pt x="94967" y="760135"/>
                        <a:pt x="127585" y="777604"/>
                      </a:cubicBezTo>
                      <a:cubicBezTo>
                        <a:pt x="242845" y="839222"/>
                        <a:pt x="437797" y="818050"/>
                        <a:pt x="620101" y="712949"/>
                      </a:cubicBezTo>
                      <a:cubicBezTo>
                        <a:pt x="802310" y="607848"/>
                        <a:pt x="918140" y="449960"/>
                        <a:pt x="922419" y="319510"/>
                      </a:cubicBezTo>
                      <a:cubicBezTo>
                        <a:pt x="923751" y="282673"/>
                        <a:pt x="916143" y="248019"/>
                        <a:pt x="898549" y="217353"/>
                      </a:cubicBezTo>
                      <a:close/>
                      <a:moveTo>
                        <a:pt x="701125" y="852798"/>
                      </a:moveTo>
                      <a:cubicBezTo>
                        <a:pt x="534702" y="948689"/>
                        <a:pt x="354205" y="965874"/>
                        <a:pt x="238851" y="908434"/>
                      </a:cubicBezTo>
                      <a:cubicBezTo>
                        <a:pt x="386444" y="996255"/>
                        <a:pt x="575975" y="1003851"/>
                        <a:pt x="735265" y="912042"/>
                      </a:cubicBezTo>
                      <a:cubicBezTo>
                        <a:pt x="894650" y="820138"/>
                        <a:pt x="982807" y="652471"/>
                        <a:pt x="980429" y="480911"/>
                      </a:cubicBezTo>
                      <a:cubicBezTo>
                        <a:pt x="972726" y="609368"/>
                        <a:pt x="867547" y="756907"/>
                        <a:pt x="701125" y="85279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</p:grp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C7E03783-FF0D-DB4C-AA7A-0C5B1D34327D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8996704" y="286994"/>
                <a:ext cx="250964" cy="250964"/>
              </a:xfrm>
              <a:prstGeom prst="ellipse">
                <a:avLst/>
              </a:prstGeom>
              <a:gradFill flip="none" rotWithShape="1">
                <a:gsLst>
                  <a:gs pos="40000">
                    <a:schemeClr val="bg1">
                      <a:alpha val="0"/>
                      <a:lumMod val="100000"/>
                    </a:schemeClr>
                  </a:gs>
                  <a:gs pos="99000">
                    <a:schemeClr val="bg1">
                      <a:alpha val="79974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RU" sz="1400" dirty="0" err="1"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79" name="Freeform 78">
                <a:extLst>
                  <a:ext uri="{FF2B5EF4-FFF2-40B4-BE49-F238E27FC236}">
                    <a16:creationId xmlns:a16="http://schemas.microsoft.com/office/drawing/2014/main" id="{53543506-75A7-E144-8581-622DCDAC0FF0}"/>
                  </a:ext>
                </a:extLst>
              </p:cNvPr>
              <p:cNvSpPr/>
              <p:nvPr userDrawn="1"/>
            </p:nvSpPr>
            <p:spPr>
              <a:xfrm>
                <a:off x="8962070" y="251406"/>
                <a:ext cx="321536" cy="321536"/>
              </a:xfrm>
              <a:custGeom>
                <a:avLst/>
                <a:gdLst>
                  <a:gd name="connsiteX0" fmla="*/ 231423 w 461234"/>
                  <a:gd name="connsiteY0" fmla="*/ 60783 h 461234"/>
                  <a:gd name="connsiteX1" fmla="*/ 62180 w 461234"/>
                  <a:gd name="connsiteY1" fmla="*/ 229747 h 461234"/>
                  <a:gd name="connsiteX2" fmla="*/ 231423 w 461234"/>
                  <a:gd name="connsiteY2" fmla="*/ 398710 h 461234"/>
                  <a:gd name="connsiteX3" fmla="*/ 400665 w 461234"/>
                  <a:gd name="connsiteY3" fmla="*/ 229747 h 461234"/>
                  <a:gd name="connsiteX4" fmla="*/ 231423 w 461234"/>
                  <a:gd name="connsiteY4" fmla="*/ 60783 h 461234"/>
                  <a:gd name="connsiteX5" fmla="*/ 230617 w 461234"/>
                  <a:gd name="connsiteY5" fmla="*/ 0 h 461234"/>
                  <a:gd name="connsiteX6" fmla="*/ 461234 w 461234"/>
                  <a:gd name="connsiteY6" fmla="*/ 230617 h 461234"/>
                  <a:gd name="connsiteX7" fmla="*/ 230617 w 461234"/>
                  <a:gd name="connsiteY7" fmla="*/ 461234 h 461234"/>
                  <a:gd name="connsiteX8" fmla="*/ 0 w 461234"/>
                  <a:gd name="connsiteY8" fmla="*/ 230617 h 461234"/>
                  <a:gd name="connsiteX9" fmla="*/ 230617 w 461234"/>
                  <a:gd name="connsiteY9" fmla="*/ 0 h 4612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1234" h="461234">
                    <a:moveTo>
                      <a:pt x="231423" y="60783"/>
                    </a:moveTo>
                    <a:cubicBezTo>
                      <a:pt x="137952" y="60783"/>
                      <a:pt x="62180" y="136430"/>
                      <a:pt x="62180" y="229747"/>
                    </a:cubicBezTo>
                    <a:cubicBezTo>
                      <a:pt x="62180" y="323063"/>
                      <a:pt x="137952" y="398710"/>
                      <a:pt x="231423" y="398710"/>
                    </a:cubicBezTo>
                    <a:cubicBezTo>
                      <a:pt x="324893" y="398710"/>
                      <a:pt x="400665" y="323063"/>
                      <a:pt x="400665" y="229747"/>
                    </a:cubicBezTo>
                    <a:cubicBezTo>
                      <a:pt x="400665" y="136430"/>
                      <a:pt x="324893" y="60783"/>
                      <a:pt x="231423" y="60783"/>
                    </a:cubicBezTo>
                    <a:close/>
                    <a:moveTo>
                      <a:pt x="230617" y="0"/>
                    </a:moveTo>
                    <a:cubicBezTo>
                      <a:pt x="357983" y="0"/>
                      <a:pt x="461234" y="103251"/>
                      <a:pt x="461234" y="230617"/>
                    </a:cubicBezTo>
                    <a:cubicBezTo>
                      <a:pt x="461234" y="357983"/>
                      <a:pt x="357983" y="461234"/>
                      <a:pt x="230617" y="461234"/>
                    </a:cubicBezTo>
                    <a:cubicBezTo>
                      <a:pt x="103251" y="461234"/>
                      <a:pt x="0" y="357983"/>
                      <a:pt x="0" y="230617"/>
                    </a:cubicBezTo>
                    <a:cubicBezTo>
                      <a:pt x="0" y="103251"/>
                      <a:pt x="103251" y="0"/>
                      <a:pt x="23061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:endParaRPr lang="en-RU" sz="1400" dirty="0" err="1"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8606264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8D41FFB8-BFCB-D64D-84D1-296D95ED957F}"/>
              </a:ext>
            </a:extLst>
          </p:cNvPr>
          <p:cNvGrpSpPr/>
          <p:nvPr userDrawn="1"/>
        </p:nvGrpSpPr>
        <p:grpSpPr>
          <a:xfrm>
            <a:off x="5128552" y="-1787343"/>
            <a:ext cx="10285693" cy="10285693"/>
            <a:chOff x="285404" y="226734"/>
            <a:chExt cx="461234" cy="461234"/>
          </a:xfrm>
        </p:grpSpPr>
        <p:grpSp>
          <p:nvGrpSpPr>
            <p:cNvPr id="25" name="Graphic 6">
              <a:extLst>
                <a:ext uri="{FF2B5EF4-FFF2-40B4-BE49-F238E27FC236}">
                  <a16:creationId xmlns:a16="http://schemas.microsoft.com/office/drawing/2014/main" id="{9F9B1166-5C93-1B4F-A337-CA49A1B65358}"/>
                </a:ext>
              </a:extLst>
            </p:cNvPr>
            <p:cNvGrpSpPr/>
            <p:nvPr/>
          </p:nvGrpSpPr>
          <p:grpSpPr>
            <a:xfrm>
              <a:off x="347446" y="287710"/>
              <a:ext cx="338660" cy="338113"/>
              <a:chOff x="4585930" y="537071"/>
              <a:chExt cx="980782" cy="979199"/>
            </a:xfrm>
          </p:grpSpPr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BE1798C2-D998-3A4A-ACCD-6864BFCD2291}"/>
                  </a:ext>
                </a:extLst>
              </p:cNvPr>
              <p:cNvSpPr/>
              <p:nvPr/>
            </p:nvSpPr>
            <p:spPr>
              <a:xfrm>
                <a:off x="4585930" y="537533"/>
                <a:ext cx="980276" cy="978659"/>
              </a:xfrm>
              <a:custGeom>
                <a:avLst/>
                <a:gdLst>
                  <a:gd name="connsiteX0" fmla="*/ 980276 w 980276"/>
                  <a:gd name="connsiteY0" fmla="*/ 489330 h 978659"/>
                  <a:gd name="connsiteX1" fmla="*/ 490138 w 980276"/>
                  <a:gd name="connsiteY1" fmla="*/ 978660 h 978659"/>
                  <a:gd name="connsiteX2" fmla="*/ 0 w 980276"/>
                  <a:gd name="connsiteY2" fmla="*/ 489330 h 978659"/>
                  <a:gd name="connsiteX3" fmla="*/ 490138 w 980276"/>
                  <a:gd name="connsiteY3" fmla="*/ 0 h 978659"/>
                  <a:gd name="connsiteX4" fmla="*/ 980276 w 980276"/>
                  <a:gd name="connsiteY4" fmla="*/ 489330 h 9786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80276" h="978659">
                    <a:moveTo>
                      <a:pt x="980276" y="489330"/>
                    </a:moveTo>
                    <a:cubicBezTo>
                      <a:pt x="980276" y="759579"/>
                      <a:pt x="760834" y="978660"/>
                      <a:pt x="490138" y="978660"/>
                    </a:cubicBezTo>
                    <a:cubicBezTo>
                      <a:pt x="219442" y="978660"/>
                      <a:pt x="0" y="759579"/>
                      <a:pt x="0" y="489330"/>
                    </a:cubicBezTo>
                    <a:cubicBezTo>
                      <a:pt x="0" y="219080"/>
                      <a:pt x="219442" y="0"/>
                      <a:pt x="490138" y="0"/>
                    </a:cubicBezTo>
                    <a:cubicBezTo>
                      <a:pt x="760834" y="0"/>
                      <a:pt x="980276" y="219080"/>
                      <a:pt x="980276" y="489330"/>
                    </a:cubicBezTo>
                    <a:close/>
                  </a:path>
                </a:pathLst>
              </a:custGeom>
              <a:solidFill>
                <a:srgbClr val="FFC8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A7213A28-3292-F345-AAF4-F9C2277D48B9}"/>
                  </a:ext>
                </a:extLst>
              </p:cNvPr>
              <p:cNvSpPr/>
              <p:nvPr/>
            </p:nvSpPr>
            <p:spPr>
              <a:xfrm>
                <a:off x="4586236" y="537071"/>
                <a:ext cx="980476" cy="979199"/>
              </a:xfrm>
              <a:custGeom>
                <a:avLst/>
                <a:gdLst>
                  <a:gd name="connsiteX0" fmla="*/ 546019 w 980476"/>
                  <a:gd name="connsiteY0" fmla="*/ 123835 h 977664"/>
                  <a:gd name="connsiteX1" fmla="*/ 373035 w 980476"/>
                  <a:gd name="connsiteY1" fmla="*/ 285521 h 977664"/>
                  <a:gd name="connsiteX2" fmla="*/ 146415 w 980476"/>
                  <a:gd name="connsiteY2" fmla="*/ 354259 h 977664"/>
                  <a:gd name="connsiteX3" fmla="*/ 62158 w 980476"/>
                  <a:gd name="connsiteY3" fmla="*/ 306219 h 977664"/>
                  <a:gd name="connsiteX4" fmla="*/ 89070 w 980476"/>
                  <a:gd name="connsiteY4" fmla="*/ 206910 h 977664"/>
                  <a:gd name="connsiteX5" fmla="*/ 101623 w 980476"/>
                  <a:gd name="connsiteY5" fmla="*/ 189820 h 977664"/>
                  <a:gd name="connsiteX6" fmla="*/ 245222 w 980476"/>
                  <a:gd name="connsiteY6" fmla="*/ 64402 h 977664"/>
                  <a:gd name="connsiteX7" fmla="*/ 425814 w 980476"/>
                  <a:gd name="connsiteY7" fmla="*/ 2975 h 977664"/>
                  <a:gd name="connsiteX8" fmla="*/ 446831 w 980476"/>
                  <a:gd name="connsiteY8" fmla="*/ 696 h 977664"/>
                  <a:gd name="connsiteX9" fmla="*/ 546399 w 980476"/>
                  <a:gd name="connsiteY9" fmla="*/ 26995 h 977664"/>
                  <a:gd name="connsiteX10" fmla="*/ 546019 w 980476"/>
                  <a:gd name="connsiteY10" fmla="*/ 123835 h 977664"/>
                  <a:gd name="connsiteX11" fmla="*/ 898549 w 980476"/>
                  <a:gd name="connsiteY11" fmla="*/ 217353 h 977664"/>
                  <a:gd name="connsiteX12" fmla="*/ 877628 w 980476"/>
                  <a:gd name="connsiteY12" fmla="*/ 188301 h 977664"/>
                  <a:gd name="connsiteX13" fmla="*/ 720810 w 980476"/>
                  <a:gd name="connsiteY13" fmla="*/ 56332 h 977664"/>
                  <a:gd name="connsiteX14" fmla="*/ 760657 w 980476"/>
                  <a:gd name="connsiteY14" fmla="*/ 97821 h 977664"/>
                  <a:gd name="connsiteX15" fmla="*/ 771973 w 980476"/>
                  <a:gd name="connsiteY15" fmla="*/ 124690 h 977664"/>
                  <a:gd name="connsiteX16" fmla="*/ 757138 w 980476"/>
                  <a:gd name="connsiteY16" fmla="*/ 246310 h 977664"/>
                  <a:gd name="connsiteX17" fmla="*/ 499516 w 980476"/>
                  <a:gd name="connsiteY17" fmla="*/ 504267 h 977664"/>
                  <a:gd name="connsiteX18" fmla="*/ 146890 w 980476"/>
                  <a:gd name="connsiteY18" fmla="*/ 598164 h 977664"/>
                  <a:gd name="connsiteX19" fmla="*/ 34008 w 980476"/>
                  <a:gd name="connsiteY19" fmla="*/ 550124 h 977664"/>
                  <a:gd name="connsiteX20" fmla="*/ 16415 w 980476"/>
                  <a:gd name="connsiteY20" fmla="*/ 526863 h 977664"/>
                  <a:gd name="connsiteX21" fmla="*/ 343 w 980476"/>
                  <a:gd name="connsiteY21" fmla="*/ 470658 h 977664"/>
                  <a:gd name="connsiteX22" fmla="*/ 36956 w 980476"/>
                  <a:gd name="connsiteY22" fmla="*/ 674782 h 977664"/>
                  <a:gd name="connsiteX23" fmla="*/ 50270 w 980476"/>
                  <a:gd name="connsiteY23" fmla="*/ 704119 h 977664"/>
                  <a:gd name="connsiteX24" fmla="*/ 50936 w 980476"/>
                  <a:gd name="connsiteY24" fmla="*/ 705354 h 977664"/>
                  <a:gd name="connsiteX25" fmla="*/ 127585 w 980476"/>
                  <a:gd name="connsiteY25" fmla="*/ 777604 h 977664"/>
                  <a:gd name="connsiteX26" fmla="*/ 620101 w 980476"/>
                  <a:gd name="connsiteY26" fmla="*/ 712949 h 977664"/>
                  <a:gd name="connsiteX27" fmla="*/ 922419 w 980476"/>
                  <a:gd name="connsiteY27" fmla="*/ 319510 h 977664"/>
                  <a:gd name="connsiteX28" fmla="*/ 898549 w 980476"/>
                  <a:gd name="connsiteY28" fmla="*/ 217353 h 977664"/>
                  <a:gd name="connsiteX29" fmla="*/ 701125 w 980476"/>
                  <a:gd name="connsiteY29" fmla="*/ 852798 h 977664"/>
                  <a:gd name="connsiteX30" fmla="*/ 238851 w 980476"/>
                  <a:gd name="connsiteY30" fmla="*/ 908434 h 977664"/>
                  <a:gd name="connsiteX31" fmla="*/ 735265 w 980476"/>
                  <a:gd name="connsiteY31" fmla="*/ 912042 h 977664"/>
                  <a:gd name="connsiteX32" fmla="*/ 980429 w 980476"/>
                  <a:gd name="connsiteY32" fmla="*/ 480911 h 977664"/>
                  <a:gd name="connsiteX33" fmla="*/ 701125 w 980476"/>
                  <a:gd name="connsiteY33" fmla="*/ 852798 h 977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980476" h="977664">
                    <a:moveTo>
                      <a:pt x="546019" y="123835"/>
                    </a:moveTo>
                    <a:cubicBezTo>
                      <a:pt x="518345" y="177288"/>
                      <a:pt x="455866" y="237860"/>
                      <a:pt x="373035" y="285521"/>
                    </a:cubicBezTo>
                    <a:cubicBezTo>
                      <a:pt x="290299" y="333182"/>
                      <a:pt x="206612" y="357012"/>
                      <a:pt x="146415" y="354259"/>
                    </a:cubicBezTo>
                    <a:cubicBezTo>
                      <a:pt x="113130" y="352740"/>
                      <a:pt x="73474" y="341632"/>
                      <a:pt x="62158" y="306219"/>
                    </a:cubicBezTo>
                    <a:cubicBezTo>
                      <a:pt x="53408" y="279065"/>
                      <a:pt x="63869" y="243937"/>
                      <a:pt x="89070" y="206910"/>
                    </a:cubicBezTo>
                    <a:cubicBezTo>
                      <a:pt x="93160" y="201118"/>
                      <a:pt x="97344" y="195422"/>
                      <a:pt x="101623" y="189820"/>
                    </a:cubicBezTo>
                    <a:cubicBezTo>
                      <a:pt x="139663" y="140355"/>
                      <a:pt x="187783" y="97442"/>
                      <a:pt x="245222" y="64402"/>
                    </a:cubicBezTo>
                    <a:cubicBezTo>
                      <a:pt x="302662" y="31267"/>
                      <a:pt x="363905" y="11140"/>
                      <a:pt x="425814" y="2975"/>
                    </a:cubicBezTo>
                    <a:cubicBezTo>
                      <a:pt x="433042" y="1930"/>
                      <a:pt x="440079" y="1171"/>
                      <a:pt x="446831" y="696"/>
                    </a:cubicBezTo>
                    <a:cubicBezTo>
                      <a:pt x="491528" y="-2627"/>
                      <a:pt x="527190" y="5918"/>
                      <a:pt x="546399" y="26995"/>
                    </a:cubicBezTo>
                    <a:cubicBezTo>
                      <a:pt x="571506" y="54338"/>
                      <a:pt x="561235" y="94404"/>
                      <a:pt x="546019" y="123835"/>
                    </a:cubicBezTo>
                    <a:close/>
                    <a:moveTo>
                      <a:pt x="898549" y="217353"/>
                    </a:moveTo>
                    <a:cubicBezTo>
                      <a:pt x="891893" y="207384"/>
                      <a:pt x="884950" y="197605"/>
                      <a:pt x="877628" y="188301"/>
                    </a:cubicBezTo>
                    <a:cubicBezTo>
                      <a:pt x="834358" y="132475"/>
                      <a:pt x="780627" y="88042"/>
                      <a:pt x="720810" y="56332"/>
                    </a:cubicBezTo>
                    <a:cubicBezTo>
                      <a:pt x="737548" y="67250"/>
                      <a:pt x="750956" y="81112"/>
                      <a:pt x="760657" y="97821"/>
                    </a:cubicBezTo>
                    <a:cubicBezTo>
                      <a:pt x="765602" y="106271"/>
                      <a:pt x="769311" y="115291"/>
                      <a:pt x="771973" y="124690"/>
                    </a:cubicBezTo>
                    <a:cubicBezTo>
                      <a:pt x="782149" y="160483"/>
                      <a:pt x="776348" y="202447"/>
                      <a:pt x="757138" y="246310"/>
                    </a:cubicBezTo>
                    <a:cubicBezTo>
                      <a:pt x="718528" y="334701"/>
                      <a:pt x="625712" y="431447"/>
                      <a:pt x="499516" y="504267"/>
                    </a:cubicBezTo>
                    <a:cubicBezTo>
                      <a:pt x="373225" y="577087"/>
                      <a:pt x="242845" y="608988"/>
                      <a:pt x="146890" y="598164"/>
                    </a:cubicBezTo>
                    <a:cubicBezTo>
                      <a:pt x="99151" y="592753"/>
                      <a:pt x="59970" y="576897"/>
                      <a:pt x="34008" y="550124"/>
                    </a:cubicBezTo>
                    <a:cubicBezTo>
                      <a:pt x="27161" y="543098"/>
                      <a:pt x="21265" y="535408"/>
                      <a:pt x="16415" y="526863"/>
                    </a:cubicBezTo>
                    <a:cubicBezTo>
                      <a:pt x="6620" y="509869"/>
                      <a:pt x="1390" y="490975"/>
                      <a:pt x="343" y="470658"/>
                    </a:cubicBezTo>
                    <a:cubicBezTo>
                      <a:pt x="-2224" y="539111"/>
                      <a:pt x="9568" y="608703"/>
                      <a:pt x="36956" y="674782"/>
                    </a:cubicBezTo>
                    <a:cubicBezTo>
                      <a:pt x="41046" y="684656"/>
                      <a:pt x="45420" y="694435"/>
                      <a:pt x="50270" y="704119"/>
                    </a:cubicBezTo>
                    <a:cubicBezTo>
                      <a:pt x="50460" y="704499"/>
                      <a:pt x="50746" y="704974"/>
                      <a:pt x="50936" y="705354"/>
                    </a:cubicBezTo>
                    <a:cubicBezTo>
                      <a:pt x="68719" y="736020"/>
                      <a:pt x="94967" y="760135"/>
                      <a:pt x="127585" y="777604"/>
                    </a:cubicBezTo>
                    <a:cubicBezTo>
                      <a:pt x="242845" y="839222"/>
                      <a:pt x="437797" y="818050"/>
                      <a:pt x="620101" y="712949"/>
                    </a:cubicBezTo>
                    <a:cubicBezTo>
                      <a:pt x="802310" y="607848"/>
                      <a:pt x="918140" y="449960"/>
                      <a:pt x="922419" y="319510"/>
                    </a:cubicBezTo>
                    <a:cubicBezTo>
                      <a:pt x="923751" y="282673"/>
                      <a:pt x="916143" y="248019"/>
                      <a:pt x="898549" y="217353"/>
                    </a:cubicBezTo>
                    <a:close/>
                    <a:moveTo>
                      <a:pt x="701125" y="852798"/>
                    </a:moveTo>
                    <a:cubicBezTo>
                      <a:pt x="534702" y="948689"/>
                      <a:pt x="354205" y="965874"/>
                      <a:pt x="238851" y="908434"/>
                    </a:cubicBezTo>
                    <a:cubicBezTo>
                      <a:pt x="386444" y="996255"/>
                      <a:pt x="575975" y="1003851"/>
                      <a:pt x="735265" y="912042"/>
                    </a:cubicBezTo>
                    <a:cubicBezTo>
                      <a:pt x="894650" y="820138"/>
                      <a:pt x="982807" y="652471"/>
                      <a:pt x="980429" y="480911"/>
                    </a:cubicBezTo>
                    <a:cubicBezTo>
                      <a:pt x="972726" y="609368"/>
                      <a:pt x="867547" y="756907"/>
                      <a:pt x="701125" y="852798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</p:grp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699D011-9111-ED4B-96D0-24ABBD0C9E0D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335085" y="277784"/>
              <a:ext cx="360000" cy="360000"/>
            </a:xfrm>
            <a:prstGeom prst="ellipse">
              <a:avLst/>
            </a:prstGeom>
            <a:gradFill flip="none" rotWithShape="1">
              <a:gsLst>
                <a:gs pos="40000">
                  <a:schemeClr val="bg1">
                    <a:alpha val="0"/>
                    <a:lumMod val="100000"/>
                  </a:schemeClr>
                </a:gs>
                <a:gs pos="99000">
                  <a:schemeClr val="bg1">
                    <a:alpha val="79974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RU" sz="1400" dirty="0" err="1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C7E6F7A3-320D-9949-8F53-C6F7E07B3DF8}"/>
                </a:ext>
              </a:extLst>
            </p:cNvPr>
            <p:cNvSpPr/>
            <p:nvPr userDrawn="1"/>
          </p:nvSpPr>
          <p:spPr>
            <a:xfrm>
              <a:off x="285404" y="226734"/>
              <a:ext cx="461234" cy="461234"/>
            </a:xfrm>
            <a:custGeom>
              <a:avLst/>
              <a:gdLst>
                <a:gd name="connsiteX0" fmla="*/ 231423 w 461234"/>
                <a:gd name="connsiteY0" fmla="*/ 60783 h 461234"/>
                <a:gd name="connsiteX1" fmla="*/ 62180 w 461234"/>
                <a:gd name="connsiteY1" fmla="*/ 229747 h 461234"/>
                <a:gd name="connsiteX2" fmla="*/ 231423 w 461234"/>
                <a:gd name="connsiteY2" fmla="*/ 398710 h 461234"/>
                <a:gd name="connsiteX3" fmla="*/ 400665 w 461234"/>
                <a:gd name="connsiteY3" fmla="*/ 229747 h 461234"/>
                <a:gd name="connsiteX4" fmla="*/ 231423 w 461234"/>
                <a:gd name="connsiteY4" fmla="*/ 60783 h 461234"/>
                <a:gd name="connsiteX5" fmla="*/ 230617 w 461234"/>
                <a:gd name="connsiteY5" fmla="*/ 0 h 461234"/>
                <a:gd name="connsiteX6" fmla="*/ 461234 w 461234"/>
                <a:gd name="connsiteY6" fmla="*/ 230617 h 461234"/>
                <a:gd name="connsiteX7" fmla="*/ 230617 w 461234"/>
                <a:gd name="connsiteY7" fmla="*/ 461234 h 461234"/>
                <a:gd name="connsiteX8" fmla="*/ 0 w 461234"/>
                <a:gd name="connsiteY8" fmla="*/ 230617 h 461234"/>
                <a:gd name="connsiteX9" fmla="*/ 230617 w 461234"/>
                <a:gd name="connsiteY9" fmla="*/ 0 h 4612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1234" h="461234">
                  <a:moveTo>
                    <a:pt x="231423" y="60783"/>
                  </a:moveTo>
                  <a:cubicBezTo>
                    <a:pt x="137952" y="60783"/>
                    <a:pt x="62180" y="136430"/>
                    <a:pt x="62180" y="229747"/>
                  </a:cubicBezTo>
                  <a:cubicBezTo>
                    <a:pt x="62180" y="323063"/>
                    <a:pt x="137952" y="398710"/>
                    <a:pt x="231423" y="398710"/>
                  </a:cubicBezTo>
                  <a:cubicBezTo>
                    <a:pt x="324893" y="398710"/>
                    <a:pt x="400665" y="323063"/>
                    <a:pt x="400665" y="229747"/>
                  </a:cubicBezTo>
                  <a:cubicBezTo>
                    <a:pt x="400665" y="136430"/>
                    <a:pt x="324893" y="60783"/>
                    <a:pt x="231423" y="60783"/>
                  </a:cubicBezTo>
                  <a:close/>
                  <a:moveTo>
                    <a:pt x="230617" y="0"/>
                  </a:moveTo>
                  <a:cubicBezTo>
                    <a:pt x="357983" y="0"/>
                    <a:pt x="461234" y="103251"/>
                    <a:pt x="461234" y="230617"/>
                  </a:cubicBezTo>
                  <a:cubicBezTo>
                    <a:pt x="461234" y="357983"/>
                    <a:pt x="357983" y="461234"/>
                    <a:pt x="230617" y="461234"/>
                  </a:cubicBezTo>
                  <a:cubicBezTo>
                    <a:pt x="103251" y="461234"/>
                    <a:pt x="0" y="357983"/>
                    <a:pt x="0" y="230617"/>
                  </a:cubicBezTo>
                  <a:cubicBezTo>
                    <a:pt x="0" y="103251"/>
                    <a:pt x="103251" y="0"/>
                    <a:pt x="23061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/>
              <a:endParaRPr lang="en-RU" sz="1400" dirty="0" err="1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541F9394-278E-DB44-BB61-8C2FE668B8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363" y="1630100"/>
            <a:ext cx="5761037" cy="2116400"/>
          </a:xfrm>
          <a:ln>
            <a:noFill/>
          </a:ln>
        </p:spPr>
        <p:txBody>
          <a:bodyPr wrap="square" bIns="0" anchor="t">
            <a:noAutofit/>
          </a:bodyPr>
          <a:lstStyle>
            <a:lvl1pPr>
              <a:lnSpc>
                <a:spcPts val="5400"/>
              </a:lnSpc>
              <a:defRPr sz="5400">
                <a:latin typeface="+mn-lt"/>
              </a:defRPr>
            </a:lvl1pPr>
          </a:lstStyle>
          <a:p>
            <a:r>
              <a:rPr lang="en-US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презентации.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51pt</a:t>
            </a:r>
            <a:endParaRPr lang="ru-RU" dirty="0"/>
          </a:p>
        </p:txBody>
      </p:sp>
      <p:sp>
        <p:nvSpPr>
          <p:cNvPr id="16" name="Дата 2">
            <a:extLst>
              <a:ext uri="{FF2B5EF4-FFF2-40B4-BE49-F238E27FC236}">
                <a16:creationId xmlns:a16="http://schemas.microsoft.com/office/drawing/2014/main" id="{524034E5-A815-BB4B-AC9F-6CDCD55656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363" y="6001875"/>
            <a:ext cx="1844676" cy="69707"/>
          </a:xfrm>
        </p:spPr>
        <p:txBody>
          <a:bodyPr anchor="t">
            <a:noAutofit/>
          </a:bodyPr>
          <a:lstStyle>
            <a:lvl1pPr>
              <a:defRPr b="0" i="0">
                <a:latin typeface="+mn-lt"/>
              </a:defRPr>
            </a:lvl1pPr>
          </a:lstStyle>
          <a:p>
            <a:fld id="{EE66289B-A2AB-4587-A3A3-B596D35268D9}" type="datetime1">
              <a:rPr lang="ru-RU" smtClean="0"/>
              <a:pPr/>
              <a:t>15.06.2026</a:t>
            </a:fld>
            <a:endParaRPr lang="ru-RU" dirty="0"/>
          </a:p>
        </p:txBody>
      </p:sp>
      <p:sp>
        <p:nvSpPr>
          <p:cNvPr id="18" name="Текст 13">
            <a:extLst>
              <a:ext uri="{FF2B5EF4-FFF2-40B4-BE49-F238E27FC236}">
                <a16:creationId xmlns:a16="http://schemas.microsoft.com/office/drawing/2014/main" id="{520ED3FA-7B48-984F-9CC2-34DCD89E0C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5023676"/>
            <a:ext cx="5761037" cy="5072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800">
                <a:latin typeface="+mn-lt"/>
              </a:defRPr>
            </a:lvl1pPr>
            <a:lvl2pPr marL="457200" indent="0">
              <a:buFontTx/>
              <a:buNone/>
              <a:defRPr sz="1800">
                <a:latin typeface="Beeline Sans V0.3 Regular" pitchFamily="2" charset="0"/>
              </a:defRPr>
            </a:lvl2pPr>
            <a:lvl3pPr marL="914400" indent="0">
              <a:buFontTx/>
              <a:buNone/>
              <a:defRPr sz="1800">
                <a:latin typeface="Beeline Sans V0.3 Regular" pitchFamily="2" charset="0"/>
              </a:defRPr>
            </a:lvl3pPr>
            <a:lvl4pPr marL="1371600" indent="0">
              <a:buFontTx/>
              <a:buNone/>
              <a:defRPr sz="1800">
                <a:latin typeface="Beeline Sans V0.3 Regular" pitchFamily="2" charset="0"/>
              </a:defRPr>
            </a:lvl4pPr>
            <a:lvl5pPr marL="1828800" indent="0">
              <a:buFontTx/>
              <a:buNone/>
              <a:defRPr sz="1800">
                <a:latin typeface="Beeline Sans V0.3 Regular" pitchFamily="2" charset="0"/>
              </a:defRPr>
            </a:lvl5pPr>
          </a:lstStyle>
          <a:p>
            <a:r>
              <a:rPr lang="en-US" dirty="0" err="1"/>
              <a:t>а</a:t>
            </a:r>
            <a:r>
              <a:rPr lang="ru-RU" dirty="0"/>
              <a:t>втор презентации.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18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9" name="Текст 10">
            <a:extLst>
              <a:ext uri="{FF2B5EF4-FFF2-40B4-BE49-F238E27FC236}">
                <a16:creationId xmlns:a16="http://schemas.microsoft.com/office/drawing/2014/main" id="{1AC7137C-8FA8-5F45-B76A-63D19225DA6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363" y="4075596"/>
            <a:ext cx="5761037" cy="104089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>
              <a:buFontTx/>
              <a:buNone/>
              <a:defRPr sz="2800" b="0" i="0">
                <a:latin typeface="+mn-lt"/>
              </a:defRPr>
            </a:lvl1pPr>
            <a:lvl2pPr marL="457200" indent="0">
              <a:buFontTx/>
              <a:buNone/>
              <a:defRPr>
                <a:latin typeface="Beeline Sans V0.3 Regular" pitchFamily="2" charset="0"/>
              </a:defRPr>
            </a:lvl2pPr>
            <a:lvl3pPr marL="914400" indent="0">
              <a:buFontTx/>
              <a:buNone/>
              <a:defRPr>
                <a:latin typeface="Beeline Sans V0.3 Regular" pitchFamily="2" charset="0"/>
              </a:defRPr>
            </a:lvl3pPr>
            <a:lvl4pPr marL="1371600" indent="0">
              <a:buFontTx/>
              <a:buNone/>
              <a:defRPr>
                <a:latin typeface="Beeline Sans V0.3 Regular" pitchFamily="2" charset="0"/>
              </a:defRPr>
            </a:lvl4pPr>
            <a:lvl5pPr marL="1828800" indent="0">
              <a:buFontTx/>
              <a:buNone/>
              <a:defRPr>
                <a:latin typeface="Beeline Sans V0.3 Regular" pitchFamily="2" charset="0"/>
              </a:defRPr>
            </a:lvl5pPr>
          </a:lstStyle>
          <a:p>
            <a:r>
              <a:rPr lang="ru-RU" dirty="0"/>
              <a:t>подзаголовок презентации.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beeline sans. 28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0" name="Текст 13">
            <a:extLst>
              <a:ext uri="{FF2B5EF4-FFF2-40B4-BE49-F238E27FC236}">
                <a16:creationId xmlns:a16="http://schemas.microsoft.com/office/drawing/2014/main" id="{7921A492-0D3C-2F40-9C2E-33D5166EC3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5756964"/>
            <a:ext cx="5761037" cy="3167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200">
                <a:latin typeface="+mn-lt"/>
              </a:defRPr>
            </a:lvl1pPr>
            <a:lvl2pPr marL="457200" indent="0">
              <a:buFontTx/>
              <a:buNone/>
              <a:defRPr sz="1800">
                <a:latin typeface="Beeline Sans V0.3 Regular" pitchFamily="2" charset="0"/>
              </a:defRPr>
            </a:lvl2pPr>
            <a:lvl3pPr marL="914400" indent="0">
              <a:buFontTx/>
              <a:buNone/>
              <a:defRPr sz="1800">
                <a:latin typeface="Beeline Sans V0.3 Regular" pitchFamily="2" charset="0"/>
              </a:defRPr>
            </a:lvl3pPr>
            <a:lvl4pPr marL="1371600" indent="0">
              <a:buFontTx/>
              <a:buNone/>
              <a:defRPr sz="1800">
                <a:latin typeface="Beeline Sans V0.3 Regular" pitchFamily="2" charset="0"/>
              </a:defRPr>
            </a:lvl4pPr>
            <a:lvl5pPr marL="1828800" indent="0">
              <a:buFontTx/>
              <a:buNone/>
              <a:defRPr sz="1800">
                <a:latin typeface="Beeline Sans V0.3 Regular" pitchFamily="2" charset="0"/>
              </a:defRPr>
            </a:lvl5pPr>
          </a:lstStyle>
          <a:p>
            <a:r>
              <a:rPr lang="ru-RU" sz="1200" dirty="0"/>
              <a:t>Город, дата. 12 </a:t>
            </a:r>
            <a:r>
              <a:rPr lang="ru-RU" sz="1200" dirty="0" err="1"/>
              <a:t>p</a:t>
            </a:r>
            <a:r>
              <a:rPr lang="en-US" sz="1200" dirty="0"/>
              <a:t>t</a:t>
            </a:r>
            <a:endParaRPr lang="ru-RU" sz="1200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496B79D4-4F14-244D-ACE7-6353C2834C9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60363" y="257631"/>
            <a:ext cx="2629150" cy="297875"/>
            <a:chOff x="-3634402" y="594048"/>
            <a:chExt cx="14965938" cy="1695600"/>
          </a:xfrm>
        </p:grpSpPr>
        <p:grpSp>
          <p:nvGrpSpPr>
            <p:cNvPr id="64" name="Graphic 5">
              <a:extLst>
                <a:ext uri="{FF2B5EF4-FFF2-40B4-BE49-F238E27FC236}">
                  <a16:creationId xmlns:a16="http://schemas.microsoft.com/office/drawing/2014/main" id="{22E30A2D-40D0-6445-936F-C49A07443EE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016924" y="594048"/>
              <a:ext cx="7314612" cy="1695600"/>
              <a:chOff x="6035237" y="3068380"/>
              <a:chExt cx="1367580" cy="317019"/>
            </a:xfrm>
            <a:solidFill>
              <a:srgbClr val="FFCA05"/>
            </a:solidFill>
          </p:grpSpPr>
          <p:sp>
            <p:nvSpPr>
              <p:cNvPr id="79" name="Freeform 78">
                <a:extLst>
                  <a:ext uri="{FF2B5EF4-FFF2-40B4-BE49-F238E27FC236}">
                    <a16:creationId xmlns:a16="http://schemas.microsoft.com/office/drawing/2014/main" id="{03579804-A39E-7049-8C14-700B3AC749AE}"/>
                  </a:ext>
                </a:extLst>
              </p:cNvPr>
              <p:cNvSpPr/>
              <p:nvPr/>
            </p:nvSpPr>
            <p:spPr>
              <a:xfrm>
                <a:off x="6035237" y="3068380"/>
                <a:ext cx="217915" cy="317019"/>
              </a:xfrm>
              <a:custGeom>
                <a:avLst/>
                <a:gdLst>
                  <a:gd name="connsiteX0" fmla="*/ 217915 w 217915"/>
                  <a:gd name="connsiteY0" fmla="*/ 205164 h 317020"/>
                  <a:gd name="connsiteX1" fmla="*/ 109433 w 217915"/>
                  <a:gd name="connsiteY1" fmla="*/ 317020 h 317020"/>
                  <a:gd name="connsiteX2" fmla="*/ 0 w 217915"/>
                  <a:gd name="connsiteY2" fmla="*/ 178047 h 317020"/>
                  <a:gd name="connsiteX3" fmla="*/ 102683 w 217915"/>
                  <a:gd name="connsiteY3" fmla="*/ 12899 h 317020"/>
                  <a:gd name="connsiteX4" fmla="*/ 197759 w 217915"/>
                  <a:gd name="connsiteY4" fmla="*/ 0 h 317020"/>
                  <a:gd name="connsiteX5" fmla="*/ 197759 w 217915"/>
                  <a:gd name="connsiteY5" fmla="*/ 47078 h 317020"/>
                  <a:gd name="connsiteX6" fmla="*/ 109908 w 217915"/>
                  <a:gd name="connsiteY6" fmla="*/ 60353 h 317020"/>
                  <a:gd name="connsiteX7" fmla="*/ 45827 w 217915"/>
                  <a:gd name="connsiteY7" fmla="*/ 139820 h 317020"/>
                  <a:gd name="connsiteX8" fmla="*/ 122459 w 217915"/>
                  <a:gd name="connsiteY8" fmla="*/ 100275 h 317020"/>
                  <a:gd name="connsiteX9" fmla="*/ 217915 w 217915"/>
                  <a:gd name="connsiteY9" fmla="*/ 205164 h 317020"/>
                  <a:gd name="connsiteX10" fmla="*/ 47538 w 217915"/>
                  <a:gd name="connsiteY10" fmla="*/ 170044 h 317020"/>
                  <a:gd name="connsiteX11" fmla="*/ 47538 w 217915"/>
                  <a:gd name="connsiteY11" fmla="*/ 194901 h 317020"/>
                  <a:gd name="connsiteX12" fmla="*/ 109433 w 217915"/>
                  <a:gd name="connsiteY12" fmla="*/ 269096 h 317020"/>
                  <a:gd name="connsiteX13" fmla="*/ 172184 w 217915"/>
                  <a:gd name="connsiteY13" fmla="*/ 205164 h 317020"/>
                  <a:gd name="connsiteX14" fmla="*/ 112095 w 217915"/>
                  <a:gd name="connsiteY14" fmla="*/ 145187 h 317020"/>
                  <a:gd name="connsiteX15" fmla="*/ 47538 w 217915"/>
                  <a:gd name="connsiteY15" fmla="*/ 170044 h 317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7915" h="317020">
                    <a:moveTo>
                      <a:pt x="217915" y="205164"/>
                    </a:moveTo>
                    <a:cubicBezTo>
                      <a:pt x="217915" y="270037"/>
                      <a:pt x="177983" y="317020"/>
                      <a:pt x="109433" y="317020"/>
                    </a:cubicBezTo>
                    <a:cubicBezTo>
                      <a:pt x="40883" y="317020"/>
                      <a:pt x="0" y="270414"/>
                      <a:pt x="0" y="178047"/>
                    </a:cubicBezTo>
                    <a:cubicBezTo>
                      <a:pt x="0" y="80314"/>
                      <a:pt x="24245" y="24010"/>
                      <a:pt x="102683" y="12899"/>
                    </a:cubicBezTo>
                    <a:lnTo>
                      <a:pt x="197759" y="0"/>
                    </a:lnTo>
                    <a:lnTo>
                      <a:pt x="197759" y="47078"/>
                    </a:lnTo>
                    <a:lnTo>
                      <a:pt x="109908" y="60353"/>
                    </a:lnTo>
                    <a:cubicBezTo>
                      <a:pt x="63701" y="67415"/>
                      <a:pt x="49820" y="91895"/>
                      <a:pt x="45827" y="139820"/>
                    </a:cubicBezTo>
                    <a:cubicBezTo>
                      <a:pt x="62465" y="113175"/>
                      <a:pt x="89752" y="100275"/>
                      <a:pt x="122459" y="100275"/>
                    </a:cubicBezTo>
                    <a:cubicBezTo>
                      <a:pt x="180265" y="100369"/>
                      <a:pt x="217915" y="140291"/>
                      <a:pt x="217915" y="205164"/>
                    </a:cubicBezTo>
                    <a:close/>
                    <a:moveTo>
                      <a:pt x="47538" y="170044"/>
                    </a:moveTo>
                    <a:lnTo>
                      <a:pt x="47538" y="194901"/>
                    </a:lnTo>
                    <a:cubicBezTo>
                      <a:pt x="47538" y="242450"/>
                      <a:pt x="70357" y="269096"/>
                      <a:pt x="109433" y="269096"/>
                    </a:cubicBezTo>
                    <a:cubicBezTo>
                      <a:pt x="148034" y="269096"/>
                      <a:pt x="172184" y="246027"/>
                      <a:pt x="172184" y="205164"/>
                    </a:cubicBezTo>
                    <a:cubicBezTo>
                      <a:pt x="172184" y="164301"/>
                      <a:pt x="148890" y="145187"/>
                      <a:pt x="112095" y="145187"/>
                    </a:cubicBezTo>
                    <a:cubicBezTo>
                      <a:pt x="84713" y="145187"/>
                      <a:pt x="61419" y="153190"/>
                      <a:pt x="47538" y="170044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483D2D4B-CF1F-9E4F-BE1F-4B6EE5166721}"/>
                  </a:ext>
                </a:extLst>
              </p:cNvPr>
              <p:cNvSpPr/>
              <p:nvPr/>
            </p:nvSpPr>
            <p:spPr>
              <a:xfrm>
                <a:off x="6295266" y="3163379"/>
                <a:ext cx="184257" cy="217593"/>
              </a:xfrm>
              <a:custGeom>
                <a:avLst/>
                <a:gdLst>
                  <a:gd name="connsiteX0" fmla="*/ 45732 w 184258"/>
                  <a:gd name="connsiteY0" fmla="*/ 143869 h 217592"/>
                  <a:gd name="connsiteX1" fmla="*/ 140808 w 184258"/>
                  <a:gd name="connsiteY1" fmla="*/ 0 h 217592"/>
                  <a:gd name="connsiteX2" fmla="*/ 184258 w 184258"/>
                  <a:gd name="connsiteY2" fmla="*/ 0 h 217592"/>
                  <a:gd name="connsiteX3" fmla="*/ 184258 w 184258"/>
                  <a:gd name="connsiteY3" fmla="*/ 217593 h 217592"/>
                  <a:gd name="connsiteX4" fmla="*/ 139002 w 184258"/>
                  <a:gd name="connsiteY4" fmla="*/ 217593 h 217592"/>
                  <a:gd name="connsiteX5" fmla="*/ 139002 w 184258"/>
                  <a:gd name="connsiteY5" fmla="*/ 71935 h 217592"/>
                  <a:gd name="connsiteX6" fmla="*/ 43450 w 184258"/>
                  <a:gd name="connsiteY6" fmla="*/ 217593 h 217592"/>
                  <a:gd name="connsiteX7" fmla="*/ 0 w 184258"/>
                  <a:gd name="connsiteY7" fmla="*/ 217593 h 217592"/>
                  <a:gd name="connsiteX8" fmla="*/ 0 w 184258"/>
                  <a:gd name="connsiteY8" fmla="*/ 0 h 217592"/>
                  <a:gd name="connsiteX9" fmla="*/ 45732 w 184258"/>
                  <a:gd name="connsiteY9" fmla="*/ 0 h 217592"/>
                  <a:gd name="connsiteX10" fmla="*/ 45732 w 184258"/>
                  <a:gd name="connsiteY10" fmla="*/ 143869 h 217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4258" h="217592">
                    <a:moveTo>
                      <a:pt x="45732" y="143869"/>
                    </a:moveTo>
                    <a:lnTo>
                      <a:pt x="140808" y="0"/>
                    </a:lnTo>
                    <a:lnTo>
                      <a:pt x="184258" y="0"/>
                    </a:lnTo>
                    <a:lnTo>
                      <a:pt x="184258" y="217593"/>
                    </a:lnTo>
                    <a:lnTo>
                      <a:pt x="139002" y="217593"/>
                    </a:lnTo>
                    <a:lnTo>
                      <a:pt x="139002" y="71935"/>
                    </a:lnTo>
                    <a:lnTo>
                      <a:pt x="43450" y="217593"/>
                    </a:lnTo>
                    <a:lnTo>
                      <a:pt x="0" y="217593"/>
                    </a:lnTo>
                    <a:lnTo>
                      <a:pt x="0" y="0"/>
                    </a:lnTo>
                    <a:lnTo>
                      <a:pt x="45732" y="0"/>
                    </a:lnTo>
                    <a:lnTo>
                      <a:pt x="45732" y="143869"/>
                    </a:ln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1" name="Freeform 80">
                <a:extLst>
                  <a:ext uri="{FF2B5EF4-FFF2-40B4-BE49-F238E27FC236}">
                    <a16:creationId xmlns:a16="http://schemas.microsoft.com/office/drawing/2014/main" id="{5D0E4B88-9CFD-7E4C-8DE0-EB67D341BFE9}"/>
                  </a:ext>
                </a:extLst>
              </p:cNvPr>
              <p:cNvSpPr/>
              <p:nvPr/>
            </p:nvSpPr>
            <p:spPr>
              <a:xfrm>
                <a:off x="6521649" y="3158861"/>
                <a:ext cx="174845" cy="226444"/>
              </a:xfrm>
              <a:custGeom>
                <a:avLst/>
                <a:gdLst>
                  <a:gd name="connsiteX0" fmla="*/ 131396 w 174845"/>
                  <a:gd name="connsiteY0" fmla="*/ 151966 h 226443"/>
                  <a:gd name="connsiteX1" fmla="*/ 91464 w 174845"/>
                  <a:gd name="connsiteY1" fmla="*/ 124850 h 226443"/>
                  <a:gd name="connsiteX2" fmla="*/ 58282 w 174845"/>
                  <a:gd name="connsiteY2" fmla="*/ 124850 h 226443"/>
                  <a:gd name="connsiteX3" fmla="*/ 58282 w 174845"/>
                  <a:gd name="connsiteY3" fmla="*/ 96415 h 226443"/>
                  <a:gd name="connsiteX4" fmla="*/ 89657 w 174845"/>
                  <a:gd name="connsiteY4" fmla="*/ 96415 h 226443"/>
                  <a:gd name="connsiteX5" fmla="*/ 125501 w 174845"/>
                  <a:gd name="connsiteY5" fmla="*/ 70616 h 226443"/>
                  <a:gd name="connsiteX6" fmla="*/ 86900 w 174845"/>
                  <a:gd name="connsiteY6" fmla="*/ 44818 h 226443"/>
                  <a:gd name="connsiteX7" fmla="*/ 40312 w 174845"/>
                  <a:gd name="connsiteY7" fmla="*/ 74571 h 226443"/>
                  <a:gd name="connsiteX8" fmla="*/ 1331 w 174845"/>
                  <a:gd name="connsiteY8" fmla="*/ 74571 h 226443"/>
                  <a:gd name="connsiteX9" fmla="*/ 88801 w 174845"/>
                  <a:gd name="connsiteY9" fmla="*/ 0 h 226443"/>
                  <a:gd name="connsiteX10" fmla="*/ 168571 w 174845"/>
                  <a:gd name="connsiteY10" fmla="*/ 63084 h 226443"/>
                  <a:gd name="connsiteX11" fmla="*/ 136245 w 174845"/>
                  <a:gd name="connsiteY11" fmla="*/ 107902 h 226443"/>
                  <a:gd name="connsiteX12" fmla="*/ 174846 w 174845"/>
                  <a:gd name="connsiteY12" fmla="*/ 156768 h 226443"/>
                  <a:gd name="connsiteX13" fmla="*/ 87851 w 174845"/>
                  <a:gd name="connsiteY13" fmla="*/ 226443 h 226443"/>
                  <a:gd name="connsiteX14" fmla="*/ 0 w 174845"/>
                  <a:gd name="connsiteY14" fmla="*/ 151402 h 226443"/>
                  <a:gd name="connsiteX15" fmla="*/ 39457 w 174845"/>
                  <a:gd name="connsiteY15" fmla="*/ 151402 h 226443"/>
                  <a:gd name="connsiteX16" fmla="*/ 86044 w 174845"/>
                  <a:gd name="connsiteY16" fmla="*/ 181155 h 226443"/>
                  <a:gd name="connsiteX17" fmla="*/ 131396 w 174845"/>
                  <a:gd name="connsiteY17" fmla="*/ 151966 h 226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74845" h="226443">
                    <a:moveTo>
                      <a:pt x="131396" y="151966"/>
                    </a:moveTo>
                    <a:cubicBezTo>
                      <a:pt x="131396" y="132853"/>
                      <a:pt x="117514" y="124850"/>
                      <a:pt x="91464" y="124850"/>
                    </a:cubicBezTo>
                    <a:lnTo>
                      <a:pt x="58282" y="124850"/>
                    </a:lnTo>
                    <a:lnTo>
                      <a:pt x="58282" y="96415"/>
                    </a:lnTo>
                    <a:lnTo>
                      <a:pt x="89657" y="96415"/>
                    </a:lnTo>
                    <a:cubicBezTo>
                      <a:pt x="113902" y="96415"/>
                      <a:pt x="125501" y="86623"/>
                      <a:pt x="125501" y="70616"/>
                    </a:cubicBezTo>
                    <a:cubicBezTo>
                      <a:pt x="125501" y="53292"/>
                      <a:pt x="112475" y="44818"/>
                      <a:pt x="86900" y="44818"/>
                    </a:cubicBezTo>
                    <a:cubicBezTo>
                      <a:pt x="60469" y="44818"/>
                      <a:pt x="44306" y="54987"/>
                      <a:pt x="40312" y="74571"/>
                    </a:cubicBezTo>
                    <a:lnTo>
                      <a:pt x="1331" y="74571"/>
                    </a:lnTo>
                    <a:cubicBezTo>
                      <a:pt x="6750" y="27964"/>
                      <a:pt x="39457" y="0"/>
                      <a:pt x="88801" y="0"/>
                    </a:cubicBezTo>
                    <a:cubicBezTo>
                      <a:pt x="137195" y="0"/>
                      <a:pt x="168571" y="23068"/>
                      <a:pt x="168571" y="63084"/>
                    </a:cubicBezTo>
                    <a:cubicBezTo>
                      <a:pt x="168571" y="84834"/>
                      <a:pt x="155545" y="102158"/>
                      <a:pt x="136245" y="107902"/>
                    </a:cubicBezTo>
                    <a:cubicBezTo>
                      <a:pt x="159538" y="113269"/>
                      <a:pt x="174846" y="130593"/>
                      <a:pt x="174846" y="156768"/>
                    </a:cubicBezTo>
                    <a:cubicBezTo>
                      <a:pt x="174846" y="202057"/>
                      <a:pt x="137195" y="226443"/>
                      <a:pt x="87851" y="226443"/>
                    </a:cubicBezTo>
                    <a:cubicBezTo>
                      <a:pt x="36699" y="226443"/>
                      <a:pt x="3993" y="200268"/>
                      <a:pt x="0" y="151402"/>
                    </a:cubicBezTo>
                    <a:lnTo>
                      <a:pt x="39457" y="151402"/>
                    </a:lnTo>
                    <a:cubicBezTo>
                      <a:pt x="42594" y="171833"/>
                      <a:pt x="58757" y="181155"/>
                      <a:pt x="86044" y="181155"/>
                    </a:cubicBezTo>
                    <a:cubicBezTo>
                      <a:pt x="113521" y="181249"/>
                      <a:pt x="131396" y="171927"/>
                      <a:pt x="131396" y="151966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2" name="Freeform 81">
                <a:extLst>
                  <a:ext uri="{FF2B5EF4-FFF2-40B4-BE49-F238E27FC236}">
                    <a16:creationId xmlns:a16="http://schemas.microsoft.com/office/drawing/2014/main" id="{FB7AF6F1-0B65-2B49-AD18-2C8715313A3C}"/>
                  </a:ext>
                </a:extLst>
              </p:cNvPr>
              <p:cNvSpPr/>
              <p:nvPr/>
            </p:nvSpPr>
            <p:spPr>
              <a:xfrm>
                <a:off x="6738233" y="3163381"/>
                <a:ext cx="181596" cy="217593"/>
              </a:xfrm>
              <a:custGeom>
                <a:avLst/>
                <a:gdLst>
                  <a:gd name="connsiteX0" fmla="*/ 135864 w 181596"/>
                  <a:gd name="connsiteY0" fmla="*/ 128804 h 217592"/>
                  <a:gd name="connsiteX1" fmla="*/ 45732 w 181596"/>
                  <a:gd name="connsiteY1" fmla="*/ 128804 h 217592"/>
                  <a:gd name="connsiteX2" fmla="*/ 45732 w 181596"/>
                  <a:gd name="connsiteY2" fmla="*/ 217593 h 217592"/>
                  <a:gd name="connsiteX3" fmla="*/ 0 w 181596"/>
                  <a:gd name="connsiteY3" fmla="*/ 217593 h 217592"/>
                  <a:gd name="connsiteX4" fmla="*/ 0 w 181596"/>
                  <a:gd name="connsiteY4" fmla="*/ 0 h 217592"/>
                  <a:gd name="connsiteX5" fmla="*/ 45732 w 181596"/>
                  <a:gd name="connsiteY5" fmla="*/ 0 h 217592"/>
                  <a:gd name="connsiteX6" fmla="*/ 45732 w 181596"/>
                  <a:gd name="connsiteY6" fmla="*/ 82103 h 217592"/>
                  <a:gd name="connsiteX7" fmla="*/ 135864 w 181596"/>
                  <a:gd name="connsiteY7" fmla="*/ 82103 h 217592"/>
                  <a:gd name="connsiteX8" fmla="*/ 135864 w 181596"/>
                  <a:gd name="connsiteY8" fmla="*/ 0 h 217592"/>
                  <a:gd name="connsiteX9" fmla="*/ 181596 w 181596"/>
                  <a:gd name="connsiteY9" fmla="*/ 0 h 217592"/>
                  <a:gd name="connsiteX10" fmla="*/ 181596 w 181596"/>
                  <a:gd name="connsiteY10" fmla="*/ 217593 h 217592"/>
                  <a:gd name="connsiteX11" fmla="*/ 135864 w 181596"/>
                  <a:gd name="connsiteY11" fmla="*/ 217593 h 217592"/>
                  <a:gd name="connsiteX12" fmla="*/ 135864 w 181596"/>
                  <a:gd name="connsiteY12" fmla="*/ 128804 h 217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81596" h="217592">
                    <a:moveTo>
                      <a:pt x="135864" y="128804"/>
                    </a:moveTo>
                    <a:lnTo>
                      <a:pt x="45732" y="128804"/>
                    </a:lnTo>
                    <a:lnTo>
                      <a:pt x="45732" y="217593"/>
                    </a:lnTo>
                    <a:lnTo>
                      <a:pt x="0" y="217593"/>
                    </a:lnTo>
                    <a:lnTo>
                      <a:pt x="0" y="0"/>
                    </a:lnTo>
                    <a:lnTo>
                      <a:pt x="45732" y="0"/>
                    </a:lnTo>
                    <a:lnTo>
                      <a:pt x="45732" y="82103"/>
                    </a:lnTo>
                    <a:lnTo>
                      <a:pt x="135864" y="82103"/>
                    </a:lnTo>
                    <a:lnTo>
                      <a:pt x="135864" y="0"/>
                    </a:lnTo>
                    <a:lnTo>
                      <a:pt x="181596" y="0"/>
                    </a:lnTo>
                    <a:lnTo>
                      <a:pt x="181596" y="217593"/>
                    </a:lnTo>
                    <a:lnTo>
                      <a:pt x="135864" y="217593"/>
                    </a:lnTo>
                    <a:lnTo>
                      <a:pt x="135864" y="128804"/>
                    </a:ln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3" name="Freeform 82">
                <a:extLst>
                  <a:ext uri="{FF2B5EF4-FFF2-40B4-BE49-F238E27FC236}">
                    <a16:creationId xmlns:a16="http://schemas.microsoft.com/office/drawing/2014/main" id="{92F0ABCE-3FA9-484D-A7FA-6B95E617AB83}"/>
                  </a:ext>
                </a:extLst>
              </p:cNvPr>
              <p:cNvSpPr/>
              <p:nvPr/>
            </p:nvSpPr>
            <p:spPr>
              <a:xfrm>
                <a:off x="6962043" y="3158861"/>
                <a:ext cx="208502" cy="226536"/>
              </a:xfrm>
              <a:custGeom>
                <a:avLst/>
                <a:gdLst>
                  <a:gd name="connsiteX0" fmla="*/ 104014 w 208502"/>
                  <a:gd name="connsiteY0" fmla="*/ 226537 h 226537"/>
                  <a:gd name="connsiteX1" fmla="*/ 0 w 208502"/>
                  <a:gd name="connsiteY1" fmla="*/ 113269 h 226537"/>
                  <a:gd name="connsiteX2" fmla="*/ 104964 w 208502"/>
                  <a:gd name="connsiteY2" fmla="*/ 0 h 226537"/>
                  <a:gd name="connsiteX3" fmla="*/ 208503 w 208502"/>
                  <a:gd name="connsiteY3" fmla="*/ 114963 h 226537"/>
                  <a:gd name="connsiteX4" fmla="*/ 208027 w 208502"/>
                  <a:gd name="connsiteY4" fmla="*/ 124285 h 226537"/>
                  <a:gd name="connsiteX5" fmla="*/ 45256 w 208502"/>
                  <a:gd name="connsiteY5" fmla="*/ 124285 h 226537"/>
                  <a:gd name="connsiteX6" fmla="*/ 104869 w 208502"/>
                  <a:gd name="connsiteY6" fmla="*/ 181531 h 226537"/>
                  <a:gd name="connsiteX7" fmla="*/ 162296 w 208502"/>
                  <a:gd name="connsiteY7" fmla="*/ 152626 h 226537"/>
                  <a:gd name="connsiteX8" fmla="*/ 203559 w 208502"/>
                  <a:gd name="connsiteY8" fmla="*/ 152626 h 226537"/>
                  <a:gd name="connsiteX9" fmla="*/ 104014 w 208502"/>
                  <a:gd name="connsiteY9" fmla="*/ 226537 h 226537"/>
                  <a:gd name="connsiteX10" fmla="*/ 46207 w 208502"/>
                  <a:gd name="connsiteY10" fmla="*/ 94626 h 226537"/>
                  <a:gd name="connsiteX11" fmla="*/ 162771 w 208502"/>
                  <a:gd name="connsiteY11" fmla="*/ 94626 h 226537"/>
                  <a:gd name="connsiteX12" fmla="*/ 104964 w 208502"/>
                  <a:gd name="connsiteY12" fmla="*/ 44912 h 226537"/>
                  <a:gd name="connsiteX13" fmla="*/ 46207 w 208502"/>
                  <a:gd name="connsiteY13" fmla="*/ 94626 h 226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02" h="226537">
                    <a:moveTo>
                      <a:pt x="104014" y="226537"/>
                    </a:moveTo>
                    <a:cubicBezTo>
                      <a:pt x="42594" y="226537"/>
                      <a:pt x="0" y="178612"/>
                      <a:pt x="0" y="113269"/>
                    </a:cubicBezTo>
                    <a:cubicBezTo>
                      <a:pt x="0" y="47925"/>
                      <a:pt x="43070" y="0"/>
                      <a:pt x="104964" y="0"/>
                    </a:cubicBezTo>
                    <a:cubicBezTo>
                      <a:pt x="166859" y="0"/>
                      <a:pt x="208503" y="46136"/>
                      <a:pt x="208503" y="114963"/>
                    </a:cubicBezTo>
                    <a:cubicBezTo>
                      <a:pt x="208503" y="116752"/>
                      <a:pt x="208027" y="122496"/>
                      <a:pt x="208027" y="124285"/>
                    </a:cubicBezTo>
                    <a:lnTo>
                      <a:pt x="45256" y="124285"/>
                    </a:lnTo>
                    <a:cubicBezTo>
                      <a:pt x="48869" y="160252"/>
                      <a:pt x="71307" y="181531"/>
                      <a:pt x="104869" y="181531"/>
                    </a:cubicBezTo>
                    <a:cubicBezTo>
                      <a:pt x="135389" y="181531"/>
                      <a:pt x="153739" y="169950"/>
                      <a:pt x="162296" y="152626"/>
                    </a:cubicBezTo>
                    <a:lnTo>
                      <a:pt x="203559" y="152626"/>
                    </a:lnTo>
                    <a:cubicBezTo>
                      <a:pt x="194146" y="192830"/>
                      <a:pt x="163627" y="226537"/>
                      <a:pt x="104014" y="226537"/>
                    </a:cubicBezTo>
                    <a:close/>
                    <a:moveTo>
                      <a:pt x="46207" y="94626"/>
                    </a:moveTo>
                    <a:lnTo>
                      <a:pt x="162771" y="94626"/>
                    </a:lnTo>
                    <a:cubicBezTo>
                      <a:pt x="158302" y="65344"/>
                      <a:pt x="139002" y="44912"/>
                      <a:pt x="104964" y="44912"/>
                    </a:cubicBezTo>
                    <a:cubicBezTo>
                      <a:pt x="73114" y="44912"/>
                      <a:pt x="52007" y="63178"/>
                      <a:pt x="46207" y="94626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84" name="Freeform 83">
                <a:extLst>
                  <a:ext uri="{FF2B5EF4-FFF2-40B4-BE49-F238E27FC236}">
                    <a16:creationId xmlns:a16="http://schemas.microsoft.com/office/drawing/2014/main" id="{F00E4703-F0C5-3F42-9897-042CB6C1DD71}"/>
                  </a:ext>
                </a:extLst>
              </p:cNvPr>
              <p:cNvSpPr/>
              <p:nvPr/>
            </p:nvSpPr>
            <p:spPr>
              <a:xfrm>
                <a:off x="7198783" y="3158861"/>
                <a:ext cx="204034" cy="226444"/>
              </a:xfrm>
              <a:custGeom>
                <a:avLst/>
                <a:gdLst>
                  <a:gd name="connsiteX0" fmla="*/ 204034 w 204034"/>
                  <a:gd name="connsiteY0" fmla="*/ 79844 h 226443"/>
                  <a:gd name="connsiteX1" fmla="*/ 163246 w 204034"/>
                  <a:gd name="connsiteY1" fmla="*/ 79844 h 226443"/>
                  <a:gd name="connsiteX2" fmla="*/ 106295 w 204034"/>
                  <a:gd name="connsiteY2" fmla="*/ 48773 h 226443"/>
                  <a:gd name="connsiteX3" fmla="*/ 45732 w 204034"/>
                  <a:gd name="connsiteY3" fmla="*/ 112704 h 226443"/>
                  <a:gd name="connsiteX4" fmla="*/ 106295 w 204034"/>
                  <a:gd name="connsiteY4" fmla="*/ 177577 h 226443"/>
                  <a:gd name="connsiteX5" fmla="*/ 163246 w 204034"/>
                  <a:gd name="connsiteY5" fmla="*/ 146976 h 226443"/>
                  <a:gd name="connsiteX6" fmla="*/ 204034 w 204034"/>
                  <a:gd name="connsiteY6" fmla="*/ 146976 h 226443"/>
                  <a:gd name="connsiteX7" fmla="*/ 105820 w 204034"/>
                  <a:gd name="connsiteY7" fmla="*/ 226443 h 226443"/>
                  <a:gd name="connsiteX8" fmla="*/ 0 w 204034"/>
                  <a:gd name="connsiteY8" fmla="*/ 112798 h 226443"/>
                  <a:gd name="connsiteX9" fmla="*/ 105820 w 204034"/>
                  <a:gd name="connsiteY9" fmla="*/ 0 h 226443"/>
                  <a:gd name="connsiteX10" fmla="*/ 204034 w 204034"/>
                  <a:gd name="connsiteY10" fmla="*/ 79844 h 226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04034" h="226443">
                    <a:moveTo>
                      <a:pt x="204034" y="79844"/>
                    </a:moveTo>
                    <a:lnTo>
                      <a:pt x="163246" y="79844"/>
                    </a:lnTo>
                    <a:cubicBezTo>
                      <a:pt x="157447" y="61201"/>
                      <a:pt x="139477" y="48773"/>
                      <a:pt x="106295" y="48773"/>
                    </a:cubicBezTo>
                    <a:cubicBezTo>
                      <a:pt x="68645" y="48773"/>
                      <a:pt x="45732" y="74948"/>
                      <a:pt x="45732" y="112704"/>
                    </a:cubicBezTo>
                    <a:cubicBezTo>
                      <a:pt x="45732" y="150931"/>
                      <a:pt x="68645" y="177577"/>
                      <a:pt x="106295" y="177577"/>
                    </a:cubicBezTo>
                    <a:cubicBezTo>
                      <a:pt x="139477" y="177577"/>
                      <a:pt x="157447" y="164678"/>
                      <a:pt x="163246" y="146976"/>
                    </a:cubicBezTo>
                    <a:lnTo>
                      <a:pt x="204034" y="146976"/>
                    </a:lnTo>
                    <a:cubicBezTo>
                      <a:pt x="195097" y="195843"/>
                      <a:pt x="159158" y="226443"/>
                      <a:pt x="105820" y="226443"/>
                    </a:cubicBezTo>
                    <a:cubicBezTo>
                      <a:pt x="40788" y="226443"/>
                      <a:pt x="0" y="176729"/>
                      <a:pt x="0" y="112798"/>
                    </a:cubicBezTo>
                    <a:cubicBezTo>
                      <a:pt x="0" y="49338"/>
                      <a:pt x="40788" y="0"/>
                      <a:pt x="105820" y="0"/>
                    </a:cubicBezTo>
                    <a:cubicBezTo>
                      <a:pt x="159158" y="-94"/>
                      <a:pt x="195002" y="30977"/>
                      <a:pt x="204034" y="79844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</p:grpSp>
        <p:grpSp>
          <p:nvGrpSpPr>
            <p:cNvPr id="65" name="Graphic 6">
              <a:extLst>
                <a:ext uri="{FF2B5EF4-FFF2-40B4-BE49-F238E27FC236}">
                  <a16:creationId xmlns:a16="http://schemas.microsoft.com/office/drawing/2014/main" id="{9B29886E-7A53-A14F-A666-E6F90EC11504}"/>
                </a:ext>
              </a:extLst>
            </p:cNvPr>
            <p:cNvGrpSpPr/>
            <p:nvPr/>
          </p:nvGrpSpPr>
          <p:grpSpPr>
            <a:xfrm>
              <a:off x="-3634402" y="594048"/>
              <a:ext cx="7151384" cy="1695600"/>
              <a:chOff x="5858663" y="539363"/>
              <a:chExt cx="3733569" cy="884382"/>
            </a:xfrm>
            <a:solidFill>
              <a:srgbClr val="000000"/>
            </a:solidFill>
          </p:grpSpPr>
          <p:sp>
            <p:nvSpPr>
              <p:cNvPr id="72" name="Freeform 71">
                <a:extLst>
                  <a:ext uri="{FF2B5EF4-FFF2-40B4-BE49-F238E27FC236}">
                    <a16:creationId xmlns:a16="http://schemas.microsoft.com/office/drawing/2014/main" id="{B50E8F33-FD6D-D047-BA56-F03FA3A506E1}"/>
                  </a:ext>
                </a:extLst>
              </p:cNvPr>
              <p:cNvSpPr/>
              <p:nvPr/>
            </p:nvSpPr>
            <p:spPr>
              <a:xfrm>
                <a:off x="8518665" y="593100"/>
                <a:ext cx="368031" cy="166148"/>
              </a:xfrm>
              <a:custGeom>
                <a:avLst/>
                <a:gdLst>
                  <a:gd name="connsiteX0" fmla="*/ 184777 w 368031"/>
                  <a:gd name="connsiteY0" fmla="*/ 166148 h 166148"/>
                  <a:gd name="connsiteX1" fmla="*/ 368032 w 368031"/>
                  <a:gd name="connsiteY1" fmla="*/ 0 h 166148"/>
                  <a:gd name="connsiteX2" fmla="*/ 270556 w 368031"/>
                  <a:gd name="connsiteY2" fmla="*/ 0 h 166148"/>
                  <a:gd name="connsiteX3" fmla="*/ 184872 w 368031"/>
                  <a:gd name="connsiteY3" fmla="*/ 60383 h 166148"/>
                  <a:gd name="connsiteX4" fmla="*/ 97476 w 368031"/>
                  <a:gd name="connsiteY4" fmla="*/ 0 h 166148"/>
                  <a:gd name="connsiteX5" fmla="*/ 0 w 368031"/>
                  <a:gd name="connsiteY5" fmla="*/ 0 h 166148"/>
                  <a:gd name="connsiteX6" fmla="*/ 184777 w 368031"/>
                  <a:gd name="connsiteY6" fmla="*/ 166148 h 166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68031" h="166148">
                    <a:moveTo>
                      <a:pt x="184777" y="166148"/>
                    </a:moveTo>
                    <a:cubicBezTo>
                      <a:pt x="283964" y="166148"/>
                      <a:pt x="354527" y="114120"/>
                      <a:pt x="368032" y="0"/>
                    </a:cubicBezTo>
                    <a:lnTo>
                      <a:pt x="270556" y="0"/>
                    </a:lnTo>
                    <a:cubicBezTo>
                      <a:pt x="260475" y="40255"/>
                      <a:pt x="236891" y="60383"/>
                      <a:pt x="184872" y="60383"/>
                    </a:cubicBezTo>
                    <a:cubicBezTo>
                      <a:pt x="132758" y="60383"/>
                      <a:pt x="105845" y="40255"/>
                      <a:pt x="97476" y="0"/>
                    </a:cubicBezTo>
                    <a:lnTo>
                      <a:pt x="0" y="0"/>
                    </a:lnTo>
                    <a:cubicBezTo>
                      <a:pt x="13314" y="114120"/>
                      <a:pt x="85589" y="166148"/>
                      <a:pt x="184777" y="166148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73" name="Freeform 72">
                <a:extLst>
                  <a:ext uri="{FF2B5EF4-FFF2-40B4-BE49-F238E27FC236}">
                    <a16:creationId xmlns:a16="http://schemas.microsoft.com/office/drawing/2014/main" id="{B6886720-938A-1C42-BDA3-06636602B0CB}"/>
                  </a:ext>
                </a:extLst>
              </p:cNvPr>
              <p:cNvSpPr/>
              <p:nvPr/>
            </p:nvSpPr>
            <p:spPr>
              <a:xfrm>
                <a:off x="6579415" y="811276"/>
                <a:ext cx="497555" cy="600791"/>
              </a:xfrm>
              <a:custGeom>
                <a:avLst/>
                <a:gdLst>
                  <a:gd name="connsiteX0" fmla="*/ 122677 w 497555"/>
                  <a:gd name="connsiteY0" fmla="*/ 412142 h 600791"/>
                  <a:gd name="connsiteX1" fmla="*/ 122677 w 497555"/>
                  <a:gd name="connsiteY1" fmla="*/ 0 h 600791"/>
                  <a:gd name="connsiteX2" fmla="*/ 0 w 497555"/>
                  <a:gd name="connsiteY2" fmla="*/ 0 h 600791"/>
                  <a:gd name="connsiteX3" fmla="*/ 0 w 497555"/>
                  <a:gd name="connsiteY3" fmla="*/ 600791 h 600791"/>
                  <a:gd name="connsiteX4" fmla="*/ 127813 w 497555"/>
                  <a:gd name="connsiteY4" fmla="*/ 600791 h 600791"/>
                  <a:gd name="connsiteX5" fmla="*/ 374878 w 497555"/>
                  <a:gd name="connsiteY5" fmla="*/ 181719 h 600791"/>
                  <a:gd name="connsiteX6" fmla="*/ 374878 w 497555"/>
                  <a:gd name="connsiteY6" fmla="*/ 600791 h 600791"/>
                  <a:gd name="connsiteX7" fmla="*/ 497556 w 497555"/>
                  <a:gd name="connsiteY7" fmla="*/ 600791 h 600791"/>
                  <a:gd name="connsiteX8" fmla="*/ 497556 w 497555"/>
                  <a:gd name="connsiteY8" fmla="*/ 0 h 600791"/>
                  <a:gd name="connsiteX9" fmla="*/ 369838 w 497555"/>
                  <a:gd name="connsiteY9" fmla="*/ 0 h 600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555" h="600791">
                    <a:moveTo>
                      <a:pt x="122677" y="412142"/>
                    </a:moveTo>
                    <a:lnTo>
                      <a:pt x="122677" y="0"/>
                    </a:lnTo>
                    <a:lnTo>
                      <a:pt x="0" y="0"/>
                    </a:lnTo>
                    <a:lnTo>
                      <a:pt x="0" y="600791"/>
                    </a:lnTo>
                    <a:lnTo>
                      <a:pt x="127813" y="600791"/>
                    </a:lnTo>
                    <a:lnTo>
                      <a:pt x="374878" y="181719"/>
                    </a:lnTo>
                    <a:lnTo>
                      <a:pt x="374878" y="600791"/>
                    </a:lnTo>
                    <a:lnTo>
                      <a:pt x="497556" y="600791"/>
                    </a:lnTo>
                    <a:lnTo>
                      <a:pt x="497556" y="0"/>
                    </a:lnTo>
                    <a:lnTo>
                      <a:pt x="36983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74" name="Freeform 73">
                <a:extLst>
                  <a:ext uri="{FF2B5EF4-FFF2-40B4-BE49-F238E27FC236}">
                    <a16:creationId xmlns:a16="http://schemas.microsoft.com/office/drawing/2014/main" id="{F0CC5ADC-74E5-AD44-9767-4379C5916EC2}"/>
                  </a:ext>
                </a:extLst>
              </p:cNvPr>
              <p:cNvSpPr/>
              <p:nvPr/>
            </p:nvSpPr>
            <p:spPr>
              <a:xfrm>
                <a:off x="5858663" y="539363"/>
                <a:ext cx="598455" cy="884382"/>
              </a:xfrm>
              <a:custGeom>
                <a:avLst/>
                <a:gdLst>
                  <a:gd name="connsiteX0" fmla="*/ 334557 w 598455"/>
                  <a:gd name="connsiteY0" fmla="*/ 276945 h 884382"/>
                  <a:gd name="connsiteX1" fmla="*/ 111551 w 598455"/>
                  <a:gd name="connsiteY1" fmla="*/ 406066 h 884382"/>
                  <a:gd name="connsiteX2" fmla="*/ 302604 w 598455"/>
                  <a:gd name="connsiteY2" fmla="*/ 167857 h 884382"/>
                  <a:gd name="connsiteX3" fmla="*/ 548053 w 598455"/>
                  <a:gd name="connsiteY3" fmla="*/ 134248 h 884382"/>
                  <a:gd name="connsiteX4" fmla="*/ 537973 w 598455"/>
                  <a:gd name="connsiteY4" fmla="*/ 0 h 884382"/>
                  <a:gd name="connsiteX5" fmla="*/ 282443 w 598455"/>
                  <a:gd name="connsiteY5" fmla="*/ 35223 h 884382"/>
                  <a:gd name="connsiteX6" fmla="*/ 0 w 598455"/>
                  <a:gd name="connsiteY6" fmla="*/ 501767 h 884382"/>
                  <a:gd name="connsiteX7" fmla="*/ 302604 w 598455"/>
                  <a:gd name="connsiteY7" fmla="*/ 884382 h 884382"/>
                  <a:gd name="connsiteX8" fmla="*/ 598455 w 598455"/>
                  <a:gd name="connsiteY8" fmla="*/ 563859 h 884382"/>
                  <a:gd name="connsiteX9" fmla="*/ 334557 w 598455"/>
                  <a:gd name="connsiteY9" fmla="*/ 276945 h 884382"/>
                  <a:gd name="connsiteX10" fmla="*/ 302604 w 598455"/>
                  <a:gd name="connsiteY10" fmla="*/ 751844 h 884382"/>
                  <a:gd name="connsiteX11" fmla="*/ 126101 w 598455"/>
                  <a:gd name="connsiteY11" fmla="*/ 550472 h 884382"/>
                  <a:gd name="connsiteX12" fmla="*/ 126101 w 598455"/>
                  <a:gd name="connsiteY12" fmla="*/ 488380 h 884382"/>
                  <a:gd name="connsiteX13" fmla="*/ 302604 w 598455"/>
                  <a:gd name="connsiteY13" fmla="*/ 404452 h 884382"/>
                  <a:gd name="connsiteX14" fmla="*/ 472355 w 598455"/>
                  <a:gd name="connsiteY14" fmla="*/ 563859 h 884382"/>
                  <a:gd name="connsiteX15" fmla="*/ 302604 w 598455"/>
                  <a:gd name="connsiteY15" fmla="*/ 751844 h 884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98455" h="884382">
                    <a:moveTo>
                      <a:pt x="334557" y="276945"/>
                    </a:moveTo>
                    <a:cubicBezTo>
                      <a:pt x="237366" y="276945"/>
                      <a:pt x="154440" y="322137"/>
                      <a:pt x="111551" y="406066"/>
                    </a:cubicBezTo>
                    <a:cubicBezTo>
                      <a:pt x="117637" y="269919"/>
                      <a:pt x="144740" y="188934"/>
                      <a:pt x="302604" y="167857"/>
                    </a:cubicBezTo>
                    <a:lnTo>
                      <a:pt x="548053" y="134248"/>
                    </a:lnTo>
                    <a:lnTo>
                      <a:pt x="537973" y="0"/>
                    </a:lnTo>
                    <a:lnTo>
                      <a:pt x="282443" y="35223"/>
                    </a:lnTo>
                    <a:cubicBezTo>
                      <a:pt x="62194" y="65415"/>
                      <a:pt x="0" y="234981"/>
                      <a:pt x="0" y="501767"/>
                    </a:cubicBezTo>
                    <a:cubicBezTo>
                      <a:pt x="0" y="735039"/>
                      <a:pt x="105940" y="884382"/>
                      <a:pt x="302604" y="884382"/>
                    </a:cubicBezTo>
                    <a:cubicBezTo>
                      <a:pt x="494227" y="884382"/>
                      <a:pt x="598455" y="736653"/>
                      <a:pt x="598455" y="563859"/>
                    </a:cubicBezTo>
                    <a:cubicBezTo>
                      <a:pt x="598455" y="391065"/>
                      <a:pt x="482530" y="276945"/>
                      <a:pt x="334557" y="276945"/>
                    </a:cubicBezTo>
                    <a:close/>
                    <a:moveTo>
                      <a:pt x="302604" y="751844"/>
                    </a:moveTo>
                    <a:cubicBezTo>
                      <a:pt x="191624" y="751844"/>
                      <a:pt x="126101" y="671333"/>
                      <a:pt x="126101" y="550472"/>
                    </a:cubicBezTo>
                    <a:lnTo>
                      <a:pt x="126101" y="488380"/>
                    </a:lnTo>
                    <a:cubicBezTo>
                      <a:pt x="149590" y="441384"/>
                      <a:pt x="211880" y="404452"/>
                      <a:pt x="302604" y="404452"/>
                    </a:cubicBezTo>
                    <a:cubicBezTo>
                      <a:pt x="398463" y="404452"/>
                      <a:pt x="472355" y="449739"/>
                      <a:pt x="472355" y="563859"/>
                    </a:cubicBezTo>
                    <a:cubicBezTo>
                      <a:pt x="472355" y="677979"/>
                      <a:pt x="413584" y="751844"/>
                      <a:pt x="302604" y="751844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 dirty="0"/>
              </a:p>
            </p:txBody>
          </p:sp>
          <p:sp>
            <p:nvSpPr>
              <p:cNvPr id="75" name="Freeform 74">
                <a:extLst>
                  <a:ext uri="{FF2B5EF4-FFF2-40B4-BE49-F238E27FC236}">
                    <a16:creationId xmlns:a16="http://schemas.microsoft.com/office/drawing/2014/main" id="{87AF7CED-4B88-1A4B-8388-2A11883537F1}"/>
                  </a:ext>
                </a:extLst>
              </p:cNvPr>
              <p:cNvSpPr/>
              <p:nvPr/>
            </p:nvSpPr>
            <p:spPr>
              <a:xfrm>
                <a:off x="9108086" y="811276"/>
                <a:ext cx="484146" cy="600791"/>
              </a:xfrm>
              <a:custGeom>
                <a:avLst/>
                <a:gdLst>
                  <a:gd name="connsiteX0" fmla="*/ 361375 w 484146"/>
                  <a:gd name="connsiteY0" fmla="*/ 0 h 600791"/>
                  <a:gd name="connsiteX1" fmla="*/ 361375 w 484146"/>
                  <a:gd name="connsiteY1" fmla="*/ 224822 h 600791"/>
                  <a:gd name="connsiteX2" fmla="*/ 122677 w 484146"/>
                  <a:gd name="connsiteY2" fmla="*/ 224822 h 600791"/>
                  <a:gd name="connsiteX3" fmla="*/ 122677 w 484146"/>
                  <a:gd name="connsiteY3" fmla="*/ 0 h 600791"/>
                  <a:gd name="connsiteX4" fmla="*/ 0 w 484146"/>
                  <a:gd name="connsiteY4" fmla="*/ 0 h 600791"/>
                  <a:gd name="connsiteX5" fmla="*/ 0 w 484146"/>
                  <a:gd name="connsiteY5" fmla="*/ 600791 h 600791"/>
                  <a:gd name="connsiteX6" fmla="*/ 122677 w 484146"/>
                  <a:gd name="connsiteY6" fmla="*/ 600791 h 600791"/>
                  <a:gd name="connsiteX7" fmla="*/ 122677 w 484146"/>
                  <a:gd name="connsiteY7" fmla="*/ 349006 h 600791"/>
                  <a:gd name="connsiteX8" fmla="*/ 361375 w 484146"/>
                  <a:gd name="connsiteY8" fmla="*/ 349006 h 600791"/>
                  <a:gd name="connsiteX9" fmla="*/ 361375 w 484146"/>
                  <a:gd name="connsiteY9" fmla="*/ 600791 h 600791"/>
                  <a:gd name="connsiteX10" fmla="*/ 484147 w 484146"/>
                  <a:gd name="connsiteY10" fmla="*/ 600791 h 600791"/>
                  <a:gd name="connsiteX11" fmla="*/ 484147 w 484146"/>
                  <a:gd name="connsiteY11" fmla="*/ 0 h 600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84146" h="600791">
                    <a:moveTo>
                      <a:pt x="361375" y="0"/>
                    </a:moveTo>
                    <a:lnTo>
                      <a:pt x="361375" y="224822"/>
                    </a:lnTo>
                    <a:lnTo>
                      <a:pt x="122677" y="224822"/>
                    </a:lnTo>
                    <a:lnTo>
                      <a:pt x="122677" y="0"/>
                    </a:lnTo>
                    <a:lnTo>
                      <a:pt x="0" y="0"/>
                    </a:lnTo>
                    <a:lnTo>
                      <a:pt x="0" y="600791"/>
                    </a:lnTo>
                    <a:lnTo>
                      <a:pt x="122677" y="600791"/>
                    </a:lnTo>
                    <a:lnTo>
                      <a:pt x="122677" y="349006"/>
                    </a:lnTo>
                    <a:lnTo>
                      <a:pt x="361375" y="349006"/>
                    </a:lnTo>
                    <a:lnTo>
                      <a:pt x="361375" y="600791"/>
                    </a:lnTo>
                    <a:lnTo>
                      <a:pt x="484147" y="600791"/>
                    </a:lnTo>
                    <a:lnTo>
                      <a:pt x="48414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76" name="Freeform 75">
                <a:extLst>
                  <a:ext uri="{FF2B5EF4-FFF2-40B4-BE49-F238E27FC236}">
                    <a16:creationId xmlns:a16="http://schemas.microsoft.com/office/drawing/2014/main" id="{AF8EF01D-E3AE-DB4E-B59E-40BE610B9398}"/>
                  </a:ext>
                </a:extLst>
              </p:cNvPr>
              <p:cNvSpPr/>
              <p:nvPr/>
            </p:nvSpPr>
            <p:spPr>
              <a:xfrm>
                <a:off x="8456280" y="811276"/>
                <a:ext cx="497555" cy="600791"/>
              </a:xfrm>
              <a:custGeom>
                <a:avLst/>
                <a:gdLst>
                  <a:gd name="connsiteX0" fmla="*/ 122772 w 497555"/>
                  <a:gd name="connsiteY0" fmla="*/ 412142 h 600791"/>
                  <a:gd name="connsiteX1" fmla="*/ 122772 w 497555"/>
                  <a:gd name="connsiteY1" fmla="*/ 0 h 600791"/>
                  <a:gd name="connsiteX2" fmla="*/ 0 w 497555"/>
                  <a:gd name="connsiteY2" fmla="*/ 0 h 600791"/>
                  <a:gd name="connsiteX3" fmla="*/ 0 w 497555"/>
                  <a:gd name="connsiteY3" fmla="*/ 600791 h 600791"/>
                  <a:gd name="connsiteX4" fmla="*/ 127813 w 497555"/>
                  <a:gd name="connsiteY4" fmla="*/ 600791 h 600791"/>
                  <a:gd name="connsiteX5" fmla="*/ 374879 w 497555"/>
                  <a:gd name="connsiteY5" fmla="*/ 181719 h 600791"/>
                  <a:gd name="connsiteX6" fmla="*/ 374879 w 497555"/>
                  <a:gd name="connsiteY6" fmla="*/ 600791 h 600791"/>
                  <a:gd name="connsiteX7" fmla="*/ 497556 w 497555"/>
                  <a:gd name="connsiteY7" fmla="*/ 600791 h 600791"/>
                  <a:gd name="connsiteX8" fmla="*/ 497556 w 497555"/>
                  <a:gd name="connsiteY8" fmla="*/ 0 h 600791"/>
                  <a:gd name="connsiteX9" fmla="*/ 369838 w 497555"/>
                  <a:gd name="connsiteY9" fmla="*/ 0 h 600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555" h="600791">
                    <a:moveTo>
                      <a:pt x="122772" y="412142"/>
                    </a:moveTo>
                    <a:lnTo>
                      <a:pt x="122772" y="0"/>
                    </a:lnTo>
                    <a:lnTo>
                      <a:pt x="0" y="0"/>
                    </a:lnTo>
                    <a:lnTo>
                      <a:pt x="0" y="600791"/>
                    </a:lnTo>
                    <a:lnTo>
                      <a:pt x="127813" y="600791"/>
                    </a:lnTo>
                    <a:lnTo>
                      <a:pt x="374879" y="181719"/>
                    </a:lnTo>
                    <a:lnTo>
                      <a:pt x="374879" y="600791"/>
                    </a:lnTo>
                    <a:lnTo>
                      <a:pt x="497556" y="600791"/>
                    </a:lnTo>
                    <a:lnTo>
                      <a:pt x="497556" y="0"/>
                    </a:lnTo>
                    <a:lnTo>
                      <a:pt x="36983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77" name="Freeform 76">
                <a:extLst>
                  <a:ext uri="{FF2B5EF4-FFF2-40B4-BE49-F238E27FC236}">
                    <a16:creationId xmlns:a16="http://schemas.microsoft.com/office/drawing/2014/main" id="{C5C5B8EA-45B9-4D40-9C4F-7592FBA753FF}"/>
                  </a:ext>
                </a:extLst>
              </p:cNvPr>
              <p:cNvSpPr/>
              <p:nvPr/>
            </p:nvSpPr>
            <p:spPr>
              <a:xfrm>
                <a:off x="7183386" y="811276"/>
                <a:ext cx="517811" cy="609241"/>
              </a:xfrm>
              <a:custGeom>
                <a:avLst/>
                <a:gdLst>
                  <a:gd name="connsiteX0" fmla="*/ 114309 w 517811"/>
                  <a:gd name="connsiteY0" fmla="*/ 367520 h 609241"/>
                  <a:gd name="connsiteX1" fmla="*/ 45362 w 517811"/>
                  <a:gd name="connsiteY1" fmla="*/ 463221 h 609241"/>
                  <a:gd name="connsiteX2" fmla="*/ 0 w 517811"/>
                  <a:gd name="connsiteY2" fmla="*/ 458189 h 609241"/>
                  <a:gd name="connsiteX3" fmla="*/ 0 w 517811"/>
                  <a:gd name="connsiteY3" fmla="*/ 597468 h 609241"/>
                  <a:gd name="connsiteX4" fmla="*/ 60483 w 517811"/>
                  <a:gd name="connsiteY4" fmla="*/ 609241 h 609241"/>
                  <a:gd name="connsiteX5" fmla="*/ 191624 w 517811"/>
                  <a:gd name="connsiteY5" fmla="*/ 515249 h 609241"/>
                  <a:gd name="connsiteX6" fmla="*/ 220248 w 517811"/>
                  <a:gd name="connsiteY6" fmla="*/ 369228 h 609241"/>
                  <a:gd name="connsiteX7" fmla="*/ 232041 w 517811"/>
                  <a:gd name="connsiteY7" fmla="*/ 127602 h 609241"/>
                  <a:gd name="connsiteX8" fmla="*/ 395135 w 517811"/>
                  <a:gd name="connsiteY8" fmla="*/ 127602 h 609241"/>
                  <a:gd name="connsiteX9" fmla="*/ 395135 w 517811"/>
                  <a:gd name="connsiteY9" fmla="*/ 600886 h 609241"/>
                  <a:gd name="connsiteX10" fmla="*/ 517812 w 517811"/>
                  <a:gd name="connsiteY10" fmla="*/ 600886 h 609241"/>
                  <a:gd name="connsiteX11" fmla="*/ 517812 w 517811"/>
                  <a:gd name="connsiteY11" fmla="*/ 0 h 609241"/>
                  <a:gd name="connsiteX12" fmla="*/ 129524 w 517811"/>
                  <a:gd name="connsiteY12" fmla="*/ 0 h 609241"/>
                  <a:gd name="connsiteX13" fmla="*/ 114309 w 517811"/>
                  <a:gd name="connsiteY13" fmla="*/ 367520 h 609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17811" h="609241">
                    <a:moveTo>
                      <a:pt x="114309" y="367520"/>
                    </a:moveTo>
                    <a:cubicBezTo>
                      <a:pt x="100900" y="434643"/>
                      <a:pt x="82355" y="463221"/>
                      <a:pt x="45362" y="463221"/>
                    </a:cubicBezTo>
                    <a:cubicBezTo>
                      <a:pt x="25201" y="463221"/>
                      <a:pt x="10080" y="461512"/>
                      <a:pt x="0" y="458189"/>
                    </a:cubicBezTo>
                    <a:lnTo>
                      <a:pt x="0" y="597468"/>
                    </a:lnTo>
                    <a:cubicBezTo>
                      <a:pt x="15121" y="604209"/>
                      <a:pt x="28625" y="609241"/>
                      <a:pt x="60483" y="609241"/>
                    </a:cubicBezTo>
                    <a:cubicBezTo>
                      <a:pt x="124389" y="609241"/>
                      <a:pt x="169751" y="572309"/>
                      <a:pt x="191624" y="515249"/>
                    </a:cubicBezTo>
                    <a:cubicBezTo>
                      <a:pt x="205032" y="480026"/>
                      <a:pt x="213496" y="431320"/>
                      <a:pt x="220248" y="369228"/>
                    </a:cubicBezTo>
                    <a:cubicBezTo>
                      <a:pt x="227001" y="307137"/>
                      <a:pt x="232041" y="224917"/>
                      <a:pt x="232041" y="127602"/>
                    </a:cubicBezTo>
                    <a:lnTo>
                      <a:pt x="395135" y="127602"/>
                    </a:lnTo>
                    <a:lnTo>
                      <a:pt x="395135" y="600886"/>
                    </a:lnTo>
                    <a:lnTo>
                      <a:pt x="517812" y="600886"/>
                    </a:lnTo>
                    <a:lnTo>
                      <a:pt x="517812" y="0"/>
                    </a:lnTo>
                    <a:lnTo>
                      <a:pt x="129524" y="0"/>
                    </a:lnTo>
                    <a:cubicBezTo>
                      <a:pt x="129524" y="181244"/>
                      <a:pt x="124484" y="300396"/>
                      <a:pt x="114309" y="36752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78" name="Freeform 77">
                <a:extLst>
                  <a:ext uri="{FF2B5EF4-FFF2-40B4-BE49-F238E27FC236}">
                    <a16:creationId xmlns:a16="http://schemas.microsoft.com/office/drawing/2014/main" id="{C350ECDB-EFCE-FF48-B232-778D9D51AECF}"/>
                  </a:ext>
                </a:extLst>
              </p:cNvPr>
              <p:cNvSpPr/>
              <p:nvPr/>
            </p:nvSpPr>
            <p:spPr>
              <a:xfrm>
                <a:off x="7829771" y="797794"/>
                <a:ext cx="514483" cy="624336"/>
              </a:xfrm>
              <a:custGeom>
                <a:avLst/>
                <a:gdLst>
                  <a:gd name="connsiteX0" fmla="*/ 450482 w 514483"/>
                  <a:gd name="connsiteY0" fmla="*/ 451448 h 624336"/>
                  <a:gd name="connsiteX1" fmla="*/ 452194 w 514483"/>
                  <a:gd name="connsiteY1" fmla="*/ 213144 h 624336"/>
                  <a:gd name="connsiteX2" fmla="*/ 226905 w 514483"/>
                  <a:gd name="connsiteY2" fmla="*/ 0 h 624336"/>
                  <a:gd name="connsiteX3" fmla="*/ 0 w 514483"/>
                  <a:gd name="connsiteY3" fmla="*/ 201371 h 624336"/>
                  <a:gd name="connsiteX4" fmla="*/ 117637 w 514483"/>
                  <a:gd name="connsiteY4" fmla="*/ 201371 h 624336"/>
                  <a:gd name="connsiteX5" fmla="*/ 226905 w 514483"/>
                  <a:gd name="connsiteY5" fmla="*/ 127507 h 624336"/>
                  <a:gd name="connsiteX6" fmla="*/ 333701 w 514483"/>
                  <a:gd name="connsiteY6" fmla="*/ 207827 h 624336"/>
                  <a:gd name="connsiteX7" fmla="*/ 183255 w 514483"/>
                  <a:gd name="connsiteY7" fmla="*/ 268495 h 624336"/>
                  <a:gd name="connsiteX8" fmla="*/ 3424 w 514483"/>
                  <a:gd name="connsiteY8" fmla="*/ 456480 h 624336"/>
                  <a:gd name="connsiteX9" fmla="*/ 174886 w 514483"/>
                  <a:gd name="connsiteY9" fmla="*/ 624337 h 624336"/>
                  <a:gd name="connsiteX10" fmla="*/ 343686 w 514483"/>
                  <a:gd name="connsiteY10" fmla="*/ 514964 h 624336"/>
                  <a:gd name="connsiteX11" fmla="*/ 480818 w 514483"/>
                  <a:gd name="connsiteY11" fmla="*/ 619305 h 624336"/>
                  <a:gd name="connsiteX12" fmla="*/ 514483 w 514483"/>
                  <a:gd name="connsiteY12" fmla="*/ 619305 h 624336"/>
                  <a:gd name="connsiteX13" fmla="*/ 514483 w 514483"/>
                  <a:gd name="connsiteY13" fmla="*/ 503476 h 624336"/>
                  <a:gd name="connsiteX14" fmla="*/ 504403 w 514483"/>
                  <a:gd name="connsiteY14" fmla="*/ 503476 h 624336"/>
                  <a:gd name="connsiteX15" fmla="*/ 450482 w 514483"/>
                  <a:gd name="connsiteY15" fmla="*/ 451448 h 624336"/>
                  <a:gd name="connsiteX16" fmla="*/ 220153 w 514483"/>
                  <a:gd name="connsiteY16" fmla="*/ 498444 h 624336"/>
                  <a:gd name="connsiteX17" fmla="*/ 120965 w 514483"/>
                  <a:gd name="connsiteY17" fmla="*/ 431320 h 624336"/>
                  <a:gd name="connsiteX18" fmla="*/ 216825 w 514483"/>
                  <a:gd name="connsiteY18" fmla="*/ 340651 h 624336"/>
                  <a:gd name="connsiteX19" fmla="*/ 333986 w 514483"/>
                  <a:gd name="connsiteY19" fmla="*/ 292041 h 624336"/>
                  <a:gd name="connsiteX20" fmla="*/ 332750 w 514483"/>
                  <a:gd name="connsiteY20" fmla="*/ 454771 h 624336"/>
                  <a:gd name="connsiteX21" fmla="*/ 220153 w 514483"/>
                  <a:gd name="connsiteY21" fmla="*/ 498444 h 624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14483" h="624336">
                    <a:moveTo>
                      <a:pt x="450482" y="451448"/>
                    </a:moveTo>
                    <a:lnTo>
                      <a:pt x="452194" y="213144"/>
                    </a:lnTo>
                    <a:cubicBezTo>
                      <a:pt x="453906" y="62092"/>
                      <a:pt x="361375" y="0"/>
                      <a:pt x="226905" y="0"/>
                    </a:cubicBezTo>
                    <a:cubicBezTo>
                      <a:pt x="115925" y="0"/>
                      <a:pt x="15121" y="60383"/>
                      <a:pt x="0" y="201371"/>
                    </a:cubicBezTo>
                    <a:lnTo>
                      <a:pt x="117637" y="201371"/>
                    </a:lnTo>
                    <a:cubicBezTo>
                      <a:pt x="124389" y="146020"/>
                      <a:pt x="168039" y="127507"/>
                      <a:pt x="226905" y="127507"/>
                    </a:cubicBezTo>
                    <a:cubicBezTo>
                      <a:pt x="287198" y="127507"/>
                      <a:pt x="327615" y="146020"/>
                      <a:pt x="333701" y="207827"/>
                    </a:cubicBezTo>
                    <a:lnTo>
                      <a:pt x="183255" y="268495"/>
                    </a:lnTo>
                    <a:cubicBezTo>
                      <a:pt x="80739" y="310460"/>
                      <a:pt x="3424" y="357456"/>
                      <a:pt x="3424" y="456480"/>
                    </a:cubicBezTo>
                    <a:cubicBezTo>
                      <a:pt x="3424" y="558827"/>
                      <a:pt x="60578" y="624337"/>
                      <a:pt x="174886" y="624337"/>
                    </a:cubicBezTo>
                    <a:cubicBezTo>
                      <a:pt x="253818" y="624337"/>
                      <a:pt x="303745" y="587310"/>
                      <a:pt x="343686" y="514964"/>
                    </a:cubicBezTo>
                    <a:cubicBezTo>
                      <a:pt x="349678" y="587310"/>
                      <a:pt x="397702" y="619305"/>
                      <a:pt x="480818" y="619305"/>
                    </a:cubicBezTo>
                    <a:lnTo>
                      <a:pt x="514483" y="619305"/>
                    </a:lnTo>
                    <a:lnTo>
                      <a:pt x="514483" y="503476"/>
                    </a:lnTo>
                    <a:lnTo>
                      <a:pt x="504403" y="503476"/>
                    </a:lnTo>
                    <a:cubicBezTo>
                      <a:pt x="465603" y="503476"/>
                      <a:pt x="450482" y="488380"/>
                      <a:pt x="450482" y="451448"/>
                    </a:cubicBezTo>
                    <a:close/>
                    <a:moveTo>
                      <a:pt x="220153" y="498444"/>
                    </a:moveTo>
                    <a:cubicBezTo>
                      <a:pt x="162999" y="498444"/>
                      <a:pt x="120965" y="483348"/>
                      <a:pt x="120965" y="431320"/>
                    </a:cubicBezTo>
                    <a:cubicBezTo>
                      <a:pt x="120965" y="386033"/>
                      <a:pt x="156247" y="365905"/>
                      <a:pt x="216825" y="340651"/>
                    </a:cubicBezTo>
                    <a:lnTo>
                      <a:pt x="333986" y="292041"/>
                    </a:lnTo>
                    <a:lnTo>
                      <a:pt x="332750" y="454771"/>
                    </a:lnTo>
                    <a:cubicBezTo>
                      <a:pt x="312589" y="480025"/>
                      <a:pt x="272267" y="498444"/>
                      <a:pt x="220153" y="498444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3124695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3_Пользовательский маке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5B9DFF-1971-584D-AB8D-C3A229BB80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>
            <a:lvl1pPr>
              <a:defRPr b="0" i="0">
                <a:solidFill>
                  <a:schemeClr val="tx1"/>
                </a:solidFill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07B5B5D1-5A5B-0E47-80C9-E95951AA802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21175" y="0"/>
            <a:ext cx="7200900" cy="64801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Tx/>
              <a:buNone/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13FAD0D-122B-884C-87C3-B0E9D79F80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725" y="360363"/>
            <a:ext cx="10080625" cy="5759449"/>
          </a:xfrm>
        </p:spPr>
        <p:txBody>
          <a:bodyPr wrap="square" rIns="36000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7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2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раздела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92pt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7701914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5B9DFF-1971-584D-AB8D-C3A229BB80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54DC7D86-FCFC-4141-A2D4-6F38885FFB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725" y="360363"/>
            <a:ext cx="10080625" cy="5759449"/>
          </a:xfrm>
        </p:spPr>
        <p:txBody>
          <a:bodyPr wrap="square" rIns="540000" anchor="ctr"/>
          <a:lstStyle>
            <a:lvl1pPr marL="0" marR="0" indent="0" algn="l" defTabSz="914400" rtl="0" eaLnBrk="1" fontAlgn="auto" latinLnBrk="0" hangingPunct="1">
              <a:lnSpc>
                <a:spcPct val="7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200" b="0" i="0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</a:lstStyle>
          <a:p>
            <a:r>
              <a:rPr lang="en-US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раздела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92pt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0854660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7_Пользовательский макет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5B9DFF-1971-584D-AB8D-C3A229BB80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B21EF4B3-B624-3041-A342-C6957486AA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725" y="360363"/>
            <a:ext cx="10080625" cy="5759449"/>
          </a:xfrm>
        </p:spPr>
        <p:txBody>
          <a:bodyPr wrap="square" rIns="360000" anchor="ctr"/>
          <a:lstStyle>
            <a:lvl1pPr marL="0" marR="0" indent="0" algn="l" defTabSz="914400" rtl="0" eaLnBrk="1" fontAlgn="auto" latinLnBrk="0" hangingPunct="1">
              <a:lnSpc>
                <a:spcPct val="7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2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раздела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92pt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5177731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1_Пользовательский макет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5B9DFF-1971-584D-AB8D-C3A229BB80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6689B45-03D7-0944-B08F-36B744ABCB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725" y="360363"/>
            <a:ext cx="10080625" cy="5759449"/>
          </a:xfrm>
        </p:spPr>
        <p:txBody>
          <a:bodyPr wrap="square" rIns="360000" anchor="ctr"/>
          <a:lstStyle>
            <a:lvl1pPr marL="0" marR="0" indent="0" algn="l" defTabSz="914400" rtl="0" eaLnBrk="1" fontAlgn="auto" latinLnBrk="0" hangingPunct="1">
              <a:lnSpc>
                <a:spcPct val="7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раздела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92pt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8329689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2_Пользовательский макет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5B9DFF-1971-584D-AB8D-C3A229BB80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A0D37E4-DFAA-054F-A7B9-389D7B76FA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725" y="360363"/>
            <a:ext cx="10080625" cy="5759449"/>
          </a:xfrm>
        </p:spPr>
        <p:txBody>
          <a:bodyPr wrap="square" rIns="360000" anchor="ctr"/>
          <a:lstStyle>
            <a:lvl1pPr marL="0" marR="0" indent="0" algn="l" defTabSz="914400" rtl="0" eaLnBrk="1" fontAlgn="auto" latinLnBrk="0" hangingPunct="1">
              <a:lnSpc>
                <a:spcPct val="7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раздела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92pt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7319344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3_Пользовательский макет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5B9DFF-1971-584D-AB8D-C3A229BB80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975D3902-8FE2-1741-AEAA-10CA706208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725" y="360363"/>
            <a:ext cx="10080625" cy="5759449"/>
          </a:xfrm>
        </p:spPr>
        <p:txBody>
          <a:bodyPr wrap="square" rIns="360000" anchor="ctr"/>
          <a:lstStyle>
            <a:lvl1pPr marL="0" marR="0" indent="0" algn="l" defTabSz="914400" rtl="0" eaLnBrk="1" fontAlgn="auto" latinLnBrk="0" hangingPunct="1">
              <a:lnSpc>
                <a:spcPct val="7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раздела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92pt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9064050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13">
            <a:extLst>
              <a:ext uri="{FF2B5EF4-FFF2-40B4-BE49-F238E27FC236}">
                <a16:creationId xmlns:a16="http://schemas.microsoft.com/office/drawing/2014/main" id="{21B9F8A9-2801-9C4A-B8F5-A566542408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363" y="1253001"/>
            <a:ext cx="558138" cy="46513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FontTx/>
              <a:buNone/>
              <a:defRPr sz="3700" b="1" i="0">
                <a:solidFill>
                  <a:srgbClr val="E5E5E5"/>
                </a:solidFill>
                <a:latin typeface="+mn-lt"/>
              </a:defRPr>
            </a:lvl1pPr>
            <a:lvl2pPr marL="457200" indent="0">
              <a:buFontTx/>
              <a:buNone/>
              <a:defRPr sz="2000" b="1" i="0">
                <a:latin typeface="Beeline Sans V0.3 Black" pitchFamily="2" charset="0"/>
              </a:defRPr>
            </a:lvl2pPr>
            <a:lvl3pPr marL="914400" indent="0">
              <a:buFontTx/>
              <a:buNone/>
              <a:defRPr sz="2000" b="1" i="0">
                <a:latin typeface="Beeline Sans V0.3 Black" pitchFamily="2" charset="0"/>
              </a:defRPr>
            </a:lvl3pPr>
            <a:lvl4pPr marL="1371600" indent="0">
              <a:buFontTx/>
              <a:buNone/>
              <a:defRPr sz="2000" b="1" i="0">
                <a:latin typeface="Beeline Sans V0.3 Black" pitchFamily="2" charset="0"/>
              </a:defRPr>
            </a:lvl4pPr>
            <a:lvl5pPr marL="1828800" indent="0">
              <a:buFontTx/>
              <a:buNone/>
              <a:defRPr sz="2000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О1</a:t>
            </a:r>
          </a:p>
        </p:txBody>
      </p:sp>
      <p:sp>
        <p:nvSpPr>
          <p:cNvPr id="16" name="Текст 13">
            <a:extLst>
              <a:ext uri="{FF2B5EF4-FFF2-40B4-BE49-F238E27FC236}">
                <a16:creationId xmlns:a16="http://schemas.microsoft.com/office/drawing/2014/main" id="{51858426-CF7C-8E4E-8DD7-F283587BF2F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0363" y="3256845"/>
            <a:ext cx="660400" cy="46513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FontTx/>
              <a:buNone/>
              <a:defRPr sz="3700" b="1" i="0">
                <a:solidFill>
                  <a:srgbClr val="E5E5E5"/>
                </a:solidFill>
                <a:latin typeface="+mn-lt"/>
              </a:defRPr>
            </a:lvl1pPr>
            <a:lvl2pPr marL="457200" indent="0">
              <a:buFontTx/>
              <a:buNone/>
              <a:defRPr sz="2000" b="1" i="0">
                <a:latin typeface="Beeline Sans V0.3 Black" pitchFamily="2" charset="0"/>
              </a:defRPr>
            </a:lvl2pPr>
            <a:lvl3pPr marL="914400" indent="0">
              <a:buFontTx/>
              <a:buNone/>
              <a:defRPr sz="2000" b="1" i="0">
                <a:latin typeface="Beeline Sans V0.3 Black" pitchFamily="2" charset="0"/>
              </a:defRPr>
            </a:lvl3pPr>
            <a:lvl4pPr marL="1371600" indent="0">
              <a:buFontTx/>
              <a:buNone/>
              <a:defRPr sz="2000" b="1" i="0">
                <a:latin typeface="Beeline Sans V0.3 Black" pitchFamily="2" charset="0"/>
              </a:defRPr>
            </a:lvl4pPr>
            <a:lvl5pPr marL="1828800" indent="0">
              <a:buFontTx/>
              <a:buNone/>
              <a:defRPr sz="2000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О2</a:t>
            </a:r>
          </a:p>
        </p:txBody>
      </p:sp>
      <p:sp>
        <p:nvSpPr>
          <p:cNvPr id="18" name="Текст 13">
            <a:extLst>
              <a:ext uri="{FF2B5EF4-FFF2-40B4-BE49-F238E27FC236}">
                <a16:creationId xmlns:a16="http://schemas.microsoft.com/office/drawing/2014/main" id="{6CF61F74-0873-5348-BE36-D619E2C8D78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69275" y="1253001"/>
            <a:ext cx="660400" cy="46513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FontTx/>
              <a:buNone/>
              <a:defRPr sz="3700" b="1" i="0">
                <a:solidFill>
                  <a:srgbClr val="E5E5E5"/>
                </a:solidFill>
                <a:latin typeface="+mn-lt"/>
              </a:defRPr>
            </a:lvl1pPr>
            <a:lvl2pPr marL="457200" indent="0">
              <a:buFontTx/>
              <a:buNone/>
              <a:defRPr sz="2000" b="1" i="0">
                <a:latin typeface="Beeline Sans V0.3 Black" pitchFamily="2" charset="0"/>
              </a:defRPr>
            </a:lvl2pPr>
            <a:lvl3pPr marL="914400" indent="0">
              <a:buFontTx/>
              <a:buNone/>
              <a:defRPr sz="2000" b="1" i="0">
                <a:latin typeface="Beeline Sans V0.3 Black" pitchFamily="2" charset="0"/>
              </a:defRPr>
            </a:lvl3pPr>
            <a:lvl4pPr marL="1371600" indent="0">
              <a:buFontTx/>
              <a:buNone/>
              <a:defRPr sz="2000" b="1" i="0">
                <a:latin typeface="Beeline Sans V0.3 Black" pitchFamily="2" charset="0"/>
              </a:defRPr>
            </a:lvl4pPr>
            <a:lvl5pPr marL="1828800" indent="0">
              <a:buFontTx/>
              <a:buNone/>
              <a:defRPr sz="2000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О3</a:t>
            </a:r>
          </a:p>
        </p:txBody>
      </p:sp>
      <p:sp>
        <p:nvSpPr>
          <p:cNvPr id="23" name="Текст 24">
            <a:extLst>
              <a:ext uri="{FF2B5EF4-FFF2-40B4-BE49-F238E27FC236}">
                <a16:creationId xmlns:a16="http://schemas.microsoft.com/office/drawing/2014/main" id="{AECB0370-EA8C-084A-8A41-77AEC867877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89721" y="3256846"/>
            <a:ext cx="3824288" cy="4651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en-GB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раздела.</a:t>
            </a:r>
            <a:r>
              <a:rPr lang="en-GB" dirty="0"/>
              <a:t/>
            </a:r>
            <a:br>
              <a:rPr lang="en-GB" dirty="0"/>
            </a:br>
            <a:r>
              <a:rPr lang="en-GB" dirty="0"/>
              <a:t>beeline sans. 16 </a:t>
            </a:r>
            <a:r>
              <a:rPr lang="en-GB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359EDD0A-4DF3-BD44-8CAB-2C437360095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83134" y="1268995"/>
            <a:ext cx="3599079" cy="7579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en-GB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раздела.</a:t>
            </a:r>
            <a:r>
              <a:rPr lang="en-GB" dirty="0"/>
              <a:t/>
            </a:r>
            <a:br>
              <a:rPr lang="en-GB" dirty="0"/>
            </a:br>
            <a:r>
              <a:rPr lang="en-GB" dirty="0"/>
              <a:t>beeline sans. </a:t>
            </a:r>
            <a:r>
              <a:rPr lang="ru-RU" dirty="0"/>
              <a:t/>
            </a:r>
            <a:br>
              <a:rPr lang="ru-RU" dirty="0"/>
            </a:br>
            <a:r>
              <a:rPr lang="en-GB" dirty="0"/>
              <a:t>16 </a:t>
            </a:r>
            <a:r>
              <a:rPr lang="en-GB" dirty="0" err="1"/>
              <a:t>pt</a:t>
            </a:r>
            <a:endParaRPr lang="ru-RU" dirty="0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51BCE453-7893-1543-9EEF-B8EBF78201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89721" y="1268994"/>
            <a:ext cx="3824288" cy="75799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en-GB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раздела.</a:t>
            </a:r>
            <a:r>
              <a:rPr lang="en-GB" dirty="0"/>
              <a:t/>
            </a:r>
            <a:br>
              <a:rPr lang="en-GB" dirty="0"/>
            </a:br>
            <a:r>
              <a:rPr lang="en-GB" dirty="0"/>
              <a:t>beeline sans. </a:t>
            </a:r>
            <a:r>
              <a:rPr lang="ru-RU" dirty="0"/>
              <a:t/>
            </a:r>
            <a:br>
              <a:rPr lang="ru-RU" dirty="0"/>
            </a:br>
            <a:r>
              <a:rPr lang="en-GB" dirty="0"/>
              <a:t>16 </a:t>
            </a:r>
            <a:r>
              <a:rPr lang="en-GB" dirty="0" err="1"/>
              <a:t>pt</a:t>
            </a:r>
            <a:endParaRPr lang="ru-RU" dirty="0"/>
          </a:p>
        </p:txBody>
      </p:sp>
      <p:sp>
        <p:nvSpPr>
          <p:cNvPr id="26" name="Текст 13">
            <a:extLst>
              <a:ext uri="{FF2B5EF4-FFF2-40B4-BE49-F238E27FC236}">
                <a16:creationId xmlns:a16="http://schemas.microsoft.com/office/drawing/2014/main" id="{9763252D-D805-CB49-8DC9-18CA0131990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69275" y="3252283"/>
            <a:ext cx="660400" cy="46513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FontTx/>
              <a:buNone/>
              <a:defRPr sz="3700" b="1" i="0">
                <a:solidFill>
                  <a:srgbClr val="E5E5E5"/>
                </a:solidFill>
                <a:latin typeface="+mn-lt"/>
              </a:defRPr>
            </a:lvl1pPr>
            <a:lvl2pPr marL="457200" indent="0">
              <a:buFontTx/>
              <a:buNone/>
              <a:defRPr sz="2000" b="1" i="0">
                <a:latin typeface="Beeline Sans V0.3 Black" pitchFamily="2" charset="0"/>
              </a:defRPr>
            </a:lvl2pPr>
            <a:lvl3pPr marL="914400" indent="0">
              <a:buFontTx/>
              <a:buNone/>
              <a:defRPr sz="2000" b="1" i="0">
                <a:latin typeface="Beeline Sans V0.3 Black" pitchFamily="2" charset="0"/>
              </a:defRPr>
            </a:lvl3pPr>
            <a:lvl4pPr marL="1371600" indent="0">
              <a:buFontTx/>
              <a:buNone/>
              <a:defRPr sz="2000" b="1" i="0">
                <a:latin typeface="Beeline Sans V0.3 Black" pitchFamily="2" charset="0"/>
              </a:defRPr>
            </a:lvl4pPr>
            <a:lvl5pPr marL="1828800" indent="0">
              <a:buFontTx/>
              <a:buNone/>
              <a:defRPr sz="2000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О4</a:t>
            </a:r>
          </a:p>
        </p:txBody>
      </p:sp>
      <p:sp>
        <p:nvSpPr>
          <p:cNvPr id="27" name="Текст 24">
            <a:extLst>
              <a:ext uri="{FF2B5EF4-FFF2-40B4-BE49-F238E27FC236}">
                <a16:creationId xmlns:a16="http://schemas.microsoft.com/office/drawing/2014/main" id="{6426CB11-88C5-3A42-A295-7120FA79041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83134" y="3268277"/>
            <a:ext cx="3599079" cy="4651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en-GB" dirty="0" err="1"/>
              <a:t>з</a:t>
            </a:r>
            <a:r>
              <a:rPr lang="ru-RU" dirty="0" err="1"/>
              <a:t>аголовок</a:t>
            </a:r>
            <a:r>
              <a:rPr lang="ru-RU" dirty="0"/>
              <a:t> раздела.</a:t>
            </a:r>
            <a:r>
              <a:rPr lang="en-GB" dirty="0"/>
              <a:t/>
            </a:r>
            <a:br>
              <a:rPr lang="en-GB" dirty="0"/>
            </a:br>
            <a:r>
              <a:rPr lang="en-GB" dirty="0"/>
              <a:t>beeline sans. 16 </a:t>
            </a:r>
            <a:r>
              <a:rPr lang="en-GB" dirty="0" err="1"/>
              <a:t>pt</a:t>
            </a:r>
            <a:endParaRPr lang="ru-RU" dirty="0"/>
          </a:p>
        </p:txBody>
      </p:sp>
      <p:sp>
        <p:nvSpPr>
          <p:cNvPr id="28" name="Текст 24">
            <a:extLst>
              <a:ext uri="{FF2B5EF4-FFF2-40B4-BE49-F238E27FC236}">
                <a16:creationId xmlns:a16="http://schemas.microsoft.com/office/drawing/2014/main" id="{6020471C-EFA1-3041-9F7B-0B37C2ABF0C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89721" y="2065918"/>
            <a:ext cx="3824288" cy="757993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 lang="ru-RU" sz="9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en-US" dirty="0"/>
              <a:t>04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lvl="0"/>
            <a:r>
              <a:rPr lang="en-US" dirty="0"/>
              <a:t>05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en-US" dirty="0"/>
              <a:t>06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lvl="0"/>
            <a:endParaRPr lang="ru-RU" dirty="0"/>
          </a:p>
        </p:txBody>
      </p:sp>
      <p:sp>
        <p:nvSpPr>
          <p:cNvPr id="20" name="Текст 24">
            <a:extLst>
              <a:ext uri="{FF2B5EF4-FFF2-40B4-BE49-F238E27FC236}">
                <a16:creationId xmlns:a16="http://schemas.microsoft.com/office/drawing/2014/main" id="{0172D42D-2C23-FF42-9948-3845673F2E9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89721" y="3820733"/>
            <a:ext cx="3824288" cy="1820507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 lang="ru-RU" sz="900" b="0" i="0" kern="1200" cap="none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en-US" dirty="0"/>
              <a:t>07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en-US" dirty="0"/>
              <a:t>08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en-US" dirty="0"/>
              <a:t>10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ru-RU" dirty="0"/>
              <a:t>12	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ru-RU" dirty="0"/>
              <a:t>14	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lvl="0"/>
            <a:endParaRPr lang="ru-RU" dirty="0"/>
          </a:p>
        </p:txBody>
      </p:sp>
      <p:sp>
        <p:nvSpPr>
          <p:cNvPr id="21" name="Текст 24">
            <a:extLst>
              <a:ext uri="{FF2B5EF4-FFF2-40B4-BE49-F238E27FC236}">
                <a16:creationId xmlns:a16="http://schemas.microsoft.com/office/drawing/2014/main" id="{459D5DC8-5BF3-ED40-A1DA-79608BFF375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486912" y="2065918"/>
            <a:ext cx="3824288" cy="757993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 lang="ru-RU" sz="9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16</a:t>
            </a:r>
            <a:r>
              <a:rPr lang="en-US" dirty="0"/>
              <a:t>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ru-RU" dirty="0"/>
              <a:t>20</a:t>
            </a:r>
            <a:r>
              <a:rPr lang="en-US" dirty="0"/>
              <a:t>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b="0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ru-RU" dirty="0"/>
              <a:t>21</a:t>
            </a:r>
            <a:r>
              <a:rPr lang="en-US" dirty="0"/>
              <a:t>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lvl="0"/>
            <a:endParaRPr lang="ru-RU" dirty="0"/>
          </a:p>
        </p:txBody>
      </p:sp>
      <p:sp>
        <p:nvSpPr>
          <p:cNvPr id="22" name="Текст 24">
            <a:extLst>
              <a:ext uri="{FF2B5EF4-FFF2-40B4-BE49-F238E27FC236}">
                <a16:creationId xmlns:a16="http://schemas.microsoft.com/office/drawing/2014/main" id="{B5A4C9C8-9BD1-0348-9FE1-A6E0FC28ED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86912" y="3820733"/>
            <a:ext cx="3824288" cy="1820507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 lang="ru-RU" sz="900" b="0" i="0" kern="1200" cap="none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ru-RU" dirty="0"/>
              <a:t>23</a:t>
            </a:r>
            <a:r>
              <a:rPr lang="en-US" dirty="0"/>
              <a:t>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ru-RU" dirty="0"/>
              <a:t>26</a:t>
            </a:r>
            <a:r>
              <a:rPr lang="en-US" dirty="0"/>
              <a:t>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ru-RU" dirty="0"/>
              <a:t>27</a:t>
            </a:r>
            <a:r>
              <a:rPr lang="en-US" dirty="0"/>
              <a:t>	</a:t>
            </a:r>
            <a:r>
              <a:rPr lang="ru-RU" dirty="0"/>
              <a:t>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ru-RU" dirty="0"/>
              <a:t>29	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258763" algn="l"/>
              </a:tabLst>
              <a:defRPr/>
            </a:pPr>
            <a:r>
              <a:rPr lang="ru-RU" dirty="0"/>
              <a:t>30	Заголовок подраздела.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9</a:t>
            </a:r>
            <a:r>
              <a:rPr lang="en-US" dirty="0"/>
              <a:t> </a:t>
            </a:r>
            <a:r>
              <a:rPr lang="en-US" dirty="0" err="1"/>
              <a:t>pt</a:t>
            </a:r>
            <a:r>
              <a:rPr lang="en-US" dirty="0"/>
              <a:t> </a:t>
            </a:r>
            <a:endParaRPr lang="ru-RU" dirty="0"/>
          </a:p>
          <a:p>
            <a:pPr lvl="0"/>
            <a:endParaRPr lang="ru-RU" dirty="0"/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82086ED6-7054-AF4E-A4D8-88E8A451A461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EBC65712-EF34-447A-9FD7-A381423AB0E0}" type="datetime1">
              <a:rPr lang="ru-RU" smtClean="0"/>
              <a:t>15.06.2026</a:t>
            </a:fld>
            <a:endParaRPr lang="ru-RU" dirty="0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68BA1543-7AA8-A048-97A8-2D260DFB5954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10C5C0A6-6083-484F-834D-F7D996B9849A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9BF057-7F29-E144-AA64-2FE0E06F02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85805091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24">
            <a:extLst>
              <a:ext uri="{FF2B5EF4-FFF2-40B4-BE49-F238E27FC236}">
                <a16:creationId xmlns:a16="http://schemas.microsoft.com/office/drawing/2014/main" id="{FE78981C-18E0-ED4A-9E39-ACC8AF495E6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20950" y="1220420"/>
            <a:ext cx="6119812" cy="17208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6" name="Текст 24">
            <a:extLst>
              <a:ext uri="{FF2B5EF4-FFF2-40B4-BE49-F238E27FC236}">
                <a16:creationId xmlns:a16="http://schemas.microsoft.com/office/drawing/2014/main" id="{8C3011D6-DDFC-BE4D-80FB-87A4CE2D7F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32101" y="4148943"/>
            <a:ext cx="6119812" cy="18345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7" name="Текст 24">
            <a:extLst>
              <a:ext uri="{FF2B5EF4-FFF2-40B4-BE49-F238E27FC236}">
                <a16:creationId xmlns:a16="http://schemas.microsoft.com/office/drawing/2014/main" id="{CCB861CA-4A82-8147-90EA-B3624AF4D30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41450" y="3251743"/>
            <a:ext cx="7199311" cy="51350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100" b="0" i="0" kern="1200" cap="none" spc="100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31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746A1A7B-2013-BE45-928C-7FAFDD0BEB87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15.06.2026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33BA106D-C138-EE4C-9504-5C25498D153B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7E856D9E-D6ED-5A42-B72B-9D991422447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C0863E-F418-F64E-ACA7-4CF299DC8F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61692718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24">
            <a:extLst>
              <a:ext uri="{FF2B5EF4-FFF2-40B4-BE49-F238E27FC236}">
                <a16:creationId xmlns:a16="http://schemas.microsoft.com/office/drawing/2014/main" id="{FE78981C-18E0-ED4A-9E39-ACC8AF495E6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0726" y="1586294"/>
            <a:ext cx="4679952" cy="3716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6" name="Текст 24">
            <a:extLst>
              <a:ext uri="{FF2B5EF4-FFF2-40B4-BE49-F238E27FC236}">
                <a16:creationId xmlns:a16="http://schemas.microsoft.com/office/drawing/2014/main" id="{8C3011D6-DDFC-BE4D-80FB-87A4CE2D7F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121400" y="1586294"/>
            <a:ext cx="5046665" cy="3716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746A1A7B-2013-BE45-928C-7FAFDD0BEB87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EBC65712-EF34-447A-9FD7-A381423AB0E0}" type="datetime1">
              <a:rPr lang="ru-RU" smtClean="0"/>
              <a:t>15.06.2026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33BA106D-C138-EE4C-9504-5C25498D153B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7E856D9E-D6ED-5A42-B72B-9D991422447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C0863E-F418-F64E-ACA7-4CF299DC8F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420864973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24">
            <a:extLst>
              <a:ext uri="{FF2B5EF4-FFF2-40B4-BE49-F238E27FC236}">
                <a16:creationId xmlns:a16="http://schemas.microsoft.com/office/drawing/2014/main" id="{FE78981C-18E0-ED4A-9E39-ACC8AF495E6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20726" y="1586294"/>
            <a:ext cx="4679952" cy="371609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746A1A7B-2013-BE45-928C-7FAFDD0BEB87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EBC65712-EF34-447A-9FD7-A381423AB0E0}" type="datetime1">
              <a:rPr lang="ru-RU" smtClean="0"/>
              <a:t>15.06.2026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33BA106D-C138-EE4C-9504-5C25498D153B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7E856D9E-D6ED-5A42-B72B-9D991422447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4C0863E-F418-F64E-ACA7-4CF299DC8F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8" name="Рисунок 4">
            <a:extLst>
              <a:ext uri="{FF2B5EF4-FFF2-40B4-BE49-F238E27FC236}">
                <a16:creationId xmlns:a16="http://schemas.microsoft.com/office/drawing/2014/main" id="{6559FB5A-D0E5-D84A-9858-569B9100378B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761037" y="0"/>
            <a:ext cx="5761038" cy="648017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>
                <a:latin typeface="+mn-lt"/>
              </a:defRPr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2874197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Текст 24">
            <a:extLst>
              <a:ext uri="{FF2B5EF4-FFF2-40B4-BE49-F238E27FC236}">
                <a16:creationId xmlns:a16="http://schemas.microsoft.com/office/drawing/2014/main" id="{8C3011D6-DDFC-BE4D-80FB-87A4CE2D7F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40088" y="2066321"/>
            <a:ext cx="2178041" cy="34077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0" name="Текст 24">
            <a:extLst>
              <a:ext uri="{FF2B5EF4-FFF2-40B4-BE49-F238E27FC236}">
                <a16:creationId xmlns:a16="http://schemas.microsoft.com/office/drawing/2014/main" id="{6B44583D-A24A-9041-A846-415364EAD21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780874" y="2066322"/>
            <a:ext cx="2140752" cy="34077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1" name="Текст 24">
            <a:extLst>
              <a:ext uri="{FF2B5EF4-FFF2-40B4-BE49-F238E27FC236}">
                <a16:creationId xmlns:a16="http://schemas.microsoft.com/office/drawing/2014/main" id="{46ED6349-8CBB-FD4E-ACBF-AF497CA824E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95473" y="2066322"/>
            <a:ext cx="2178041" cy="34077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2AA157D1-00CA-3748-8D34-14F2CB4C2C4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2" y="1469217"/>
            <a:ext cx="2157061" cy="501688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D427A1AA-55A3-E341-A753-CD4CDCEB7D1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6152" y="1469217"/>
            <a:ext cx="2191977" cy="50168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ru-RU" sz="2800" cap="none" spc="100" baseline="0" dirty="0">
                <a:latin typeface="+mn-lt"/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6" name="Текст 24">
            <a:extLst>
              <a:ext uri="{FF2B5EF4-FFF2-40B4-BE49-F238E27FC236}">
                <a16:creationId xmlns:a16="http://schemas.microsoft.com/office/drawing/2014/main" id="{6AEAD224-7400-214F-86E2-F5F05B6AC43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766152" y="1469217"/>
            <a:ext cx="2191977" cy="50168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ru-RU" sz="2800" cap="none" spc="100" baseline="0" dirty="0">
                <a:latin typeface="+mn-lt"/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ункт3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7" name="Текст 24">
            <a:extLst>
              <a:ext uri="{FF2B5EF4-FFF2-40B4-BE49-F238E27FC236}">
                <a16:creationId xmlns:a16="http://schemas.microsoft.com/office/drawing/2014/main" id="{16DE5F84-7723-864C-A76F-3E229E1C872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280752" y="1469217"/>
            <a:ext cx="2191977" cy="50168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lang="ru-RU" sz="2800" cap="none" spc="100" baseline="0" dirty="0">
                <a:latin typeface="+mn-lt"/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ункт4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99F3D996-EBB5-6F49-93AF-D07FC01D46CB}"/>
              </a:ext>
            </a:extLst>
          </p:cNvPr>
          <p:cNvSpPr>
            <a:spLocks noGrp="1"/>
          </p:cNvSpPr>
          <p:nvPr>
            <p:ph type="dt" sz="half" idx="37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15.06.2026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987AB065-5FE1-4741-AB13-7648478CB029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BCB45B33-FB1D-934F-ADA9-239FC78FDDCC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E36578-7223-414A-B61C-C1540924D2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14" name="Текст 24">
            <a:extLst>
              <a:ext uri="{FF2B5EF4-FFF2-40B4-BE49-F238E27FC236}">
                <a16:creationId xmlns:a16="http://schemas.microsoft.com/office/drawing/2014/main" id="{E3C97F8E-B38C-144E-8F6E-23CE03AFEBE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25488" y="2066321"/>
            <a:ext cx="2178041" cy="34077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1400" b="0" i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6350967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Рисунок 4">
            <a:extLst>
              <a:ext uri="{FF2B5EF4-FFF2-40B4-BE49-F238E27FC236}">
                <a16:creationId xmlns:a16="http://schemas.microsoft.com/office/drawing/2014/main" id="{36666D68-C2EB-1E4F-9E7A-B21FB3C4ED6C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761037" y="0"/>
            <a:ext cx="5761038" cy="64801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Tx/>
              <a:buNone/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16" name="Текст 24">
            <a:extLst>
              <a:ext uri="{FF2B5EF4-FFF2-40B4-BE49-F238E27FC236}">
                <a16:creationId xmlns:a16="http://schemas.microsoft.com/office/drawing/2014/main" id="{8C3011D6-DDFC-BE4D-80FB-87A4CE2D7F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40088" y="2066321"/>
            <a:ext cx="2178041" cy="34077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2AA157D1-00CA-3748-8D34-14F2CB4C2C4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2" y="1469217"/>
            <a:ext cx="2157061" cy="5016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D427A1AA-55A3-E341-A753-CD4CDCEB7D1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6152" y="1469217"/>
            <a:ext cx="2191977" cy="5016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ru-RU" sz="2800" cap="none" spc="100" baseline="0" dirty="0">
                <a:latin typeface="+mn-lt"/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FDA34002-7516-4A48-A280-56EE8047C36B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15.06.2026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93204254-D213-D54E-ACEF-1FC8DAD2C901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89A54D81-2C12-824E-8B4F-4688B806717C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59953A-3CE2-7044-8DC5-35FA4A6660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11" name="Текст 24">
            <a:extLst>
              <a:ext uri="{FF2B5EF4-FFF2-40B4-BE49-F238E27FC236}">
                <a16:creationId xmlns:a16="http://schemas.microsoft.com/office/drawing/2014/main" id="{A9495DCD-9F8C-0E45-BE6B-658C281C706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24252" y="2066321"/>
            <a:ext cx="2178041" cy="34077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0875043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Рисунок 4">
            <a:extLst>
              <a:ext uri="{FF2B5EF4-FFF2-40B4-BE49-F238E27FC236}">
                <a16:creationId xmlns:a16="http://schemas.microsoft.com/office/drawing/2014/main" id="{36666D68-C2EB-1E4F-9E7A-B21FB3C4ED6C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7921625" y="0"/>
            <a:ext cx="3600450" cy="64801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Tx/>
              <a:buNone/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16" name="Текст 24">
            <a:extLst>
              <a:ext uri="{FF2B5EF4-FFF2-40B4-BE49-F238E27FC236}">
                <a16:creationId xmlns:a16="http://schemas.microsoft.com/office/drawing/2014/main" id="{8C3011D6-DDFC-BE4D-80FB-87A4CE2D7F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40088" y="2066321"/>
            <a:ext cx="2178041" cy="34077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9" name="Текст 24">
            <a:extLst>
              <a:ext uri="{FF2B5EF4-FFF2-40B4-BE49-F238E27FC236}">
                <a16:creationId xmlns:a16="http://schemas.microsoft.com/office/drawing/2014/main" id="{AC2052B2-0DFD-5447-BB17-EA883E5249E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4252" y="2066322"/>
            <a:ext cx="2119755" cy="34077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ru-RU" sz="140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2AA157D1-00CA-3748-8D34-14F2CB4C2C4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2" y="1469217"/>
            <a:ext cx="2157061" cy="5016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ru-RU" sz="2800" cap="none" spc="100" baseline="0" dirty="0">
                <a:latin typeface="+mn-lt"/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D427A1AA-55A3-E341-A753-CD4CDCEB7D1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6152" y="1469217"/>
            <a:ext cx="2191977" cy="5016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ru-RU" sz="2800" cap="none" spc="100" baseline="0" dirty="0">
                <a:latin typeface="+mn-lt"/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FDA34002-7516-4A48-A280-56EE8047C36B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15.06.2026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93204254-D213-D54E-ACEF-1FC8DAD2C901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89A54D81-2C12-824E-8B4F-4688B806717C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2" name="Текст 24">
            <a:extLst>
              <a:ext uri="{FF2B5EF4-FFF2-40B4-BE49-F238E27FC236}">
                <a16:creationId xmlns:a16="http://schemas.microsoft.com/office/drawing/2014/main" id="{CFA9A0B1-DF4E-9A44-A43B-82F17741C5F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780874" y="2066322"/>
            <a:ext cx="2140752" cy="34077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3" name="Текст 24">
            <a:extLst>
              <a:ext uri="{FF2B5EF4-FFF2-40B4-BE49-F238E27FC236}">
                <a16:creationId xmlns:a16="http://schemas.microsoft.com/office/drawing/2014/main" id="{AC79BFEA-FDAD-FA45-98EE-D8F1DE63621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766152" y="1469217"/>
            <a:ext cx="2191977" cy="5016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ru-RU" sz="2800" cap="none" spc="100" baseline="0" dirty="0">
                <a:latin typeface="+mn-lt"/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ункт3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1BF4780-F2BE-1F4D-A230-65519C2DE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88932061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Рисунок 4">
            <a:extLst>
              <a:ext uri="{FF2B5EF4-FFF2-40B4-BE49-F238E27FC236}">
                <a16:creationId xmlns:a16="http://schemas.microsoft.com/office/drawing/2014/main" id="{36666D68-C2EB-1E4F-9E7A-B21FB3C4ED6C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0" y="0"/>
            <a:ext cx="2881313" cy="648017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16" name="Текст 24">
            <a:extLst>
              <a:ext uri="{FF2B5EF4-FFF2-40B4-BE49-F238E27FC236}">
                <a16:creationId xmlns:a16="http://schemas.microsoft.com/office/drawing/2014/main" id="{8C3011D6-DDFC-BE4D-80FB-87A4CE2D7F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40088" y="2066321"/>
            <a:ext cx="2178041" cy="34077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D427A1AA-55A3-E341-A753-CD4CDCEB7D1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6152" y="14692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FDA34002-7516-4A48-A280-56EE8047C36B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15.06.2026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93204254-D213-D54E-ACEF-1FC8DAD2C901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89A54D81-2C12-824E-8B4F-4688B806717C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2" name="Текст 24">
            <a:extLst>
              <a:ext uri="{FF2B5EF4-FFF2-40B4-BE49-F238E27FC236}">
                <a16:creationId xmlns:a16="http://schemas.microsoft.com/office/drawing/2014/main" id="{CFA9A0B1-DF4E-9A44-A43B-82F17741C5F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780874" y="2066322"/>
            <a:ext cx="2140752" cy="34077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3" name="Текст 24">
            <a:extLst>
              <a:ext uri="{FF2B5EF4-FFF2-40B4-BE49-F238E27FC236}">
                <a16:creationId xmlns:a16="http://schemas.microsoft.com/office/drawing/2014/main" id="{AC79BFEA-FDAD-FA45-98EE-D8F1DE63621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766152" y="14692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1D2894F1-31B1-1442-BD65-4165C451CD1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95473" y="2066322"/>
            <a:ext cx="2178041" cy="34077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8" name="Текст 24">
            <a:extLst>
              <a:ext uri="{FF2B5EF4-FFF2-40B4-BE49-F238E27FC236}">
                <a16:creationId xmlns:a16="http://schemas.microsoft.com/office/drawing/2014/main" id="{3EAC707B-E111-CD47-A1B2-B7EAD3439A0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280752" y="14692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ункт3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1998C1-98EF-8549-8B29-B3B748D493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15109346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Рисунок 4">
            <a:extLst>
              <a:ext uri="{FF2B5EF4-FFF2-40B4-BE49-F238E27FC236}">
                <a16:creationId xmlns:a16="http://schemas.microsoft.com/office/drawing/2014/main" id="{36666D68-C2EB-1E4F-9E7A-B21FB3C4ED6C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0" y="0"/>
            <a:ext cx="5392305" cy="64801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Tx/>
              <a:buNone/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FDA34002-7516-4A48-A280-56EE8047C36B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15.06.2026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93204254-D213-D54E-ACEF-1FC8DAD2C901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89A54D81-2C12-824E-8B4F-4688B806717C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2" name="Текст 24">
            <a:extLst>
              <a:ext uri="{FF2B5EF4-FFF2-40B4-BE49-F238E27FC236}">
                <a16:creationId xmlns:a16="http://schemas.microsoft.com/office/drawing/2014/main" id="{CFA9A0B1-DF4E-9A44-A43B-82F17741C5F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780874" y="2066322"/>
            <a:ext cx="2140752" cy="340770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ru-RU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3" name="Текст 24">
            <a:extLst>
              <a:ext uri="{FF2B5EF4-FFF2-40B4-BE49-F238E27FC236}">
                <a16:creationId xmlns:a16="http://schemas.microsoft.com/office/drawing/2014/main" id="{AC79BFEA-FDAD-FA45-98EE-D8F1DE63621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766152" y="1469217"/>
            <a:ext cx="2191977" cy="5016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ru-RU" sz="2800" cap="none" spc="100" baseline="0" dirty="0"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1D2894F1-31B1-1442-BD65-4165C451CD1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95473" y="2066322"/>
            <a:ext cx="2178041" cy="340770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8" name="Текст 24">
            <a:extLst>
              <a:ext uri="{FF2B5EF4-FFF2-40B4-BE49-F238E27FC236}">
                <a16:creationId xmlns:a16="http://schemas.microsoft.com/office/drawing/2014/main" id="{3EAC707B-E111-CD47-A1B2-B7EAD3439A0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280752" y="1469217"/>
            <a:ext cx="2191977" cy="5016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ru-RU" sz="2800" cap="none" spc="100" baseline="0" dirty="0">
                <a:latin typeface="+mn-lt"/>
                <a:ea typeface="Beeline Sans V0.3 Regular" pitchFamily="2" charset="0"/>
                <a:cs typeface="Arial Black" charset="0"/>
              </a:defRPr>
            </a:lvl1pPr>
          </a:lstStyle>
          <a:p>
            <a:pPr marR="0" lvl="0" fontAlgn="auto">
              <a:lnSpc>
                <a:spcPct val="100000"/>
              </a:lnSpc>
              <a:buClrTx/>
              <a:buSzTx/>
              <a:tabLst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1998C1-98EF-8549-8B29-B3B748D493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1038" y="228599"/>
            <a:ext cx="2879726" cy="995363"/>
          </a:xfrm>
        </p:spPr>
        <p:txBody>
          <a:bodyPr wrap="square"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en-US" dirty="0"/>
              <a:t>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24417792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Скругленный прямоугольник 25">
            <a:extLst>
              <a:ext uri="{FF2B5EF4-FFF2-40B4-BE49-F238E27FC236}">
                <a16:creationId xmlns:a16="http://schemas.microsoft.com/office/drawing/2014/main" id="{43D627EA-EDE4-1346-848D-58264DFC6A1D}"/>
              </a:ext>
            </a:extLst>
          </p:cNvPr>
          <p:cNvSpPr/>
          <p:nvPr userDrawn="1"/>
        </p:nvSpPr>
        <p:spPr>
          <a:xfrm>
            <a:off x="7670510" y="982173"/>
            <a:ext cx="2361764" cy="5022578"/>
          </a:xfrm>
          <a:prstGeom prst="roundRect">
            <a:avLst>
              <a:gd name="adj" fmla="val 1202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ru-RU" sz="1400" dirty="0" err="1">
              <a:latin typeface="+mn-lt"/>
              <a:ea typeface="Arial" charset="0"/>
              <a:cs typeface="Arial" charset="0"/>
            </a:endParaRPr>
          </a:p>
        </p:txBody>
      </p:sp>
      <p:sp>
        <p:nvSpPr>
          <p:cNvPr id="14" name="Текст 24">
            <a:extLst>
              <a:ext uri="{FF2B5EF4-FFF2-40B4-BE49-F238E27FC236}">
                <a16:creationId xmlns:a16="http://schemas.microsoft.com/office/drawing/2014/main" id="{6C8696EB-F308-F14D-9242-9F1B93BB21D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81088" y="1220420"/>
            <a:ext cx="5400675" cy="281668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0234E193-B65C-0F4F-B348-B462FF9369C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0726" y="4106809"/>
            <a:ext cx="4679950" cy="102216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100" b="0" i="0" kern="1200" cap="none" spc="100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слоган.</a:t>
            </a:r>
          </a:p>
          <a:p>
            <a:pPr lvl="0"/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9" name="Рисунок 28">
            <a:extLst>
              <a:ext uri="{FF2B5EF4-FFF2-40B4-BE49-F238E27FC236}">
                <a16:creationId xmlns:a16="http://schemas.microsoft.com/office/drawing/2014/main" id="{9A345701-2B5B-3743-A923-E4C13F051C6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719237" y="982409"/>
            <a:ext cx="2271236" cy="4922040"/>
          </a:xfrm>
          <a:custGeom>
            <a:avLst/>
            <a:gdLst>
              <a:gd name="connsiteX0" fmla="*/ 221786 w 2271236"/>
              <a:gd name="connsiteY0" fmla="*/ 0 h 4922040"/>
              <a:gd name="connsiteX1" fmla="*/ 502989 w 2271236"/>
              <a:gd name="connsiteY1" fmla="*/ 0 h 4922040"/>
              <a:gd name="connsiteX2" fmla="*/ 502989 w 2271236"/>
              <a:gd name="connsiteY2" fmla="*/ 58275 h 4922040"/>
              <a:gd name="connsiteX3" fmla="*/ 625404 w 2271236"/>
              <a:gd name="connsiteY3" fmla="*/ 180690 h 4922040"/>
              <a:gd name="connsiteX4" fmla="*/ 1634187 w 2271236"/>
              <a:gd name="connsiteY4" fmla="*/ 180690 h 4922040"/>
              <a:gd name="connsiteX5" fmla="*/ 1756602 w 2271236"/>
              <a:gd name="connsiteY5" fmla="*/ 58275 h 4922040"/>
              <a:gd name="connsiteX6" fmla="*/ 1756602 w 2271236"/>
              <a:gd name="connsiteY6" fmla="*/ 0 h 4922040"/>
              <a:gd name="connsiteX7" fmla="*/ 2049450 w 2271236"/>
              <a:gd name="connsiteY7" fmla="*/ 0 h 4922040"/>
              <a:gd name="connsiteX8" fmla="*/ 2271236 w 2271236"/>
              <a:gd name="connsiteY8" fmla="*/ 221786 h 4922040"/>
              <a:gd name="connsiteX9" fmla="*/ 2271236 w 2271236"/>
              <a:gd name="connsiteY9" fmla="*/ 4700254 h 4922040"/>
              <a:gd name="connsiteX10" fmla="*/ 2049450 w 2271236"/>
              <a:gd name="connsiteY10" fmla="*/ 4922040 h 4922040"/>
              <a:gd name="connsiteX11" fmla="*/ 221786 w 2271236"/>
              <a:gd name="connsiteY11" fmla="*/ 4922040 h 4922040"/>
              <a:gd name="connsiteX12" fmla="*/ 0 w 2271236"/>
              <a:gd name="connsiteY12" fmla="*/ 4700254 h 4922040"/>
              <a:gd name="connsiteX13" fmla="*/ 0 w 2271236"/>
              <a:gd name="connsiteY13" fmla="*/ 221786 h 4922040"/>
              <a:gd name="connsiteX14" fmla="*/ 221786 w 2271236"/>
              <a:gd name="connsiteY14" fmla="*/ 0 h 4922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71236" h="4922040">
                <a:moveTo>
                  <a:pt x="221786" y="0"/>
                </a:moveTo>
                <a:lnTo>
                  <a:pt x="502989" y="0"/>
                </a:lnTo>
                <a:lnTo>
                  <a:pt x="502989" y="58275"/>
                </a:lnTo>
                <a:cubicBezTo>
                  <a:pt x="502989" y="125883"/>
                  <a:pt x="557796" y="180690"/>
                  <a:pt x="625404" y="180690"/>
                </a:cubicBezTo>
                <a:lnTo>
                  <a:pt x="1634187" y="180690"/>
                </a:lnTo>
                <a:cubicBezTo>
                  <a:pt x="1701795" y="180690"/>
                  <a:pt x="1756602" y="125883"/>
                  <a:pt x="1756602" y="58275"/>
                </a:cubicBezTo>
                <a:lnTo>
                  <a:pt x="1756602" y="0"/>
                </a:lnTo>
                <a:lnTo>
                  <a:pt x="2049450" y="0"/>
                </a:lnTo>
                <a:cubicBezTo>
                  <a:pt x="2171939" y="0"/>
                  <a:pt x="2271236" y="99297"/>
                  <a:pt x="2271236" y="221786"/>
                </a:cubicBezTo>
                <a:lnTo>
                  <a:pt x="2271236" y="4700254"/>
                </a:lnTo>
                <a:cubicBezTo>
                  <a:pt x="2271236" y="4822743"/>
                  <a:pt x="2171939" y="4922040"/>
                  <a:pt x="2049450" y="4922040"/>
                </a:cubicBezTo>
                <a:lnTo>
                  <a:pt x="221786" y="4922040"/>
                </a:lnTo>
                <a:cubicBezTo>
                  <a:pt x="99297" y="4922040"/>
                  <a:pt x="0" y="4822743"/>
                  <a:pt x="0" y="4700254"/>
                </a:cubicBezTo>
                <a:lnTo>
                  <a:pt x="0" y="221786"/>
                </a:lnTo>
                <a:cubicBezTo>
                  <a:pt x="0" y="99297"/>
                  <a:pt x="99297" y="0"/>
                  <a:pt x="221786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400" b="0" i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C8A4AAD4-DD7C-A649-8D8A-906F4FACAB6E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15.06.2026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FFF3D0CD-EFE0-8A4F-BF95-2BC6EA550D00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7CEFBA52-F0B3-E743-A7CA-5D7CD55BEB03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447E16-1B04-E341-A0CC-F09B54E7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42486109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Скругленный прямоугольник 25">
            <a:extLst>
              <a:ext uri="{FF2B5EF4-FFF2-40B4-BE49-F238E27FC236}">
                <a16:creationId xmlns:a16="http://schemas.microsoft.com/office/drawing/2014/main" id="{43D627EA-EDE4-1346-848D-58264DFC6A1D}"/>
              </a:ext>
            </a:extLst>
          </p:cNvPr>
          <p:cNvSpPr/>
          <p:nvPr userDrawn="1"/>
        </p:nvSpPr>
        <p:spPr>
          <a:xfrm>
            <a:off x="7670510" y="982174"/>
            <a:ext cx="2361764" cy="5022578"/>
          </a:xfrm>
          <a:prstGeom prst="roundRect">
            <a:avLst>
              <a:gd name="adj" fmla="val 1202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ru-RU" sz="1400" dirty="0" err="1">
              <a:latin typeface="+mn-lt"/>
              <a:ea typeface="Arial" charset="0"/>
              <a:cs typeface="Arial" charset="0"/>
            </a:endParaRPr>
          </a:p>
        </p:txBody>
      </p:sp>
      <p:sp>
        <p:nvSpPr>
          <p:cNvPr id="14" name="Текст 24">
            <a:extLst>
              <a:ext uri="{FF2B5EF4-FFF2-40B4-BE49-F238E27FC236}">
                <a16:creationId xmlns:a16="http://schemas.microsoft.com/office/drawing/2014/main" id="{6C8696EB-F308-F14D-9242-9F1B93BB21D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81088" y="1220420"/>
            <a:ext cx="5400675" cy="288638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0234E193-B65C-0F4F-B348-B462FF9369C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0726" y="4106809"/>
            <a:ext cx="4679950" cy="102216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100" b="0" i="0" kern="1200" cap="none" spc="100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слоган.</a:t>
            </a:r>
          </a:p>
          <a:p>
            <a:pPr lvl="0"/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0" name="Рисунок 19">
            <a:extLst>
              <a:ext uri="{FF2B5EF4-FFF2-40B4-BE49-F238E27FC236}">
                <a16:creationId xmlns:a16="http://schemas.microsoft.com/office/drawing/2014/main" id="{FD39F8E9-6795-654F-940A-3A49268EDB4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707086" y="1112077"/>
            <a:ext cx="2298927" cy="4756150"/>
          </a:xfrm>
          <a:prstGeom prst="roundRect">
            <a:avLst>
              <a:gd name="adj" fmla="val 9470"/>
            </a:avLst>
          </a:prstGeom>
        </p:spPr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4279E7A0-9870-5948-BA00-ECC865347B9A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15.06.2026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36022E6C-13E5-E54D-8933-6167818AE94F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F7326BBD-E07C-5C4A-A1B7-A5F12B8C0845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188C4F-F2CD-144C-BDA6-BC169F08EC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47146525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24">
            <a:extLst>
              <a:ext uri="{FF2B5EF4-FFF2-40B4-BE49-F238E27FC236}">
                <a16:creationId xmlns:a16="http://schemas.microsoft.com/office/drawing/2014/main" id="{6C8696EB-F308-F14D-9242-9F1B93BB21D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81088" y="1220420"/>
            <a:ext cx="3959225" cy="288638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0234E193-B65C-0F4F-B348-B462FF9369C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0726" y="4106809"/>
            <a:ext cx="4679950" cy="102216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100" b="0" i="0" kern="1200" cap="none" spc="100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слоган.</a:t>
            </a:r>
          </a:p>
          <a:p>
            <a:pPr lvl="0"/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4279E7A0-9870-5948-BA00-ECC865347B9A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15.06.2026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36022E6C-13E5-E54D-8933-6167818AE94F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F7326BBD-E07C-5C4A-A1B7-A5F12B8C0845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188C4F-F2CD-144C-BDA6-BC169F08EC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08036D8-02B1-A646-B101-4277E98435B7}"/>
              </a:ext>
            </a:extLst>
          </p:cNvPr>
          <p:cNvSpPr/>
          <p:nvPr userDrawn="1"/>
        </p:nvSpPr>
        <p:spPr>
          <a:xfrm>
            <a:off x="5806440" y="1973580"/>
            <a:ext cx="4846320" cy="3634740"/>
          </a:xfrm>
          <a:prstGeom prst="roundRect">
            <a:avLst>
              <a:gd name="adj" fmla="val 1992"/>
            </a:avLst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en-RU" sz="1400" dirty="0" err="1">
              <a:latin typeface="+mn-lt"/>
              <a:ea typeface="Arial" charset="0"/>
              <a:cs typeface="Arial" charset="0"/>
            </a:endParaRPr>
          </a:p>
        </p:txBody>
      </p:sp>
      <p:sp>
        <p:nvSpPr>
          <p:cNvPr id="20" name="Рисунок 19">
            <a:extLst>
              <a:ext uri="{FF2B5EF4-FFF2-40B4-BE49-F238E27FC236}">
                <a16:creationId xmlns:a16="http://schemas.microsoft.com/office/drawing/2014/main" id="{FD39F8E9-6795-654F-940A-3A49268EDB4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806440" y="1973580"/>
            <a:ext cx="4846320" cy="3634740"/>
          </a:xfrm>
          <a:prstGeom prst="roundRect">
            <a:avLst>
              <a:gd name="adj" fmla="val 1923"/>
            </a:avLst>
          </a:prstGeom>
        </p:spPr>
        <p:txBody>
          <a:bodyPr anchor="ctr">
            <a:noAutofit/>
          </a:bodyPr>
          <a:lstStyle>
            <a:lvl1pPr algn="ctr"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60835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Скругленный прямоугольник 25">
            <a:extLst>
              <a:ext uri="{FF2B5EF4-FFF2-40B4-BE49-F238E27FC236}">
                <a16:creationId xmlns:a16="http://schemas.microsoft.com/office/drawing/2014/main" id="{43D627EA-EDE4-1346-848D-58264DFC6A1D}"/>
              </a:ext>
            </a:extLst>
          </p:cNvPr>
          <p:cNvSpPr/>
          <p:nvPr userDrawn="1"/>
        </p:nvSpPr>
        <p:spPr>
          <a:xfrm>
            <a:off x="5027835" y="1891494"/>
            <a:ext cx="5410504" cy="3602884"/>
          </a:xfrm>
          <a:prstGeom prst="roundRect">
            <a:avLst>
              <a:gd name="adj" fmla="val 5422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ru-RU" sz="1400" dirty="0" err="1">
              <a:latin typeface="+mn-lt"/>
              <a:ea typeface="Arial" charset="0"/>
              <a:cs typeface="Arial" charset="0"/>
            </a:endParaRPr>
          </a:p>
        </p:txBody>
      </p:sp>
      <p:sp>
        <p:nvSpPr>
          <p:cNvPr id="14" name="Текст 24">
            <a:extLst>
              <a:ext uri="{FF2B5EF4-FFF2-40B4-BE49-F238E27FC236}">
                <a16:creationId xmlns:a16="http://schemas.microsoft.com/office/drawing/2014/main" id="{6C8696EB-F308-F14D-9242-9F1B93BB21D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81088" y="1220420"/>
            <a:ext cx="3240087" cy="288638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0234E193-B65C-0F4F-B348-B462FF9369C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0726" y="4106809"/>
            <a:ext cx="3600449" cy="102216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100" b="0" i="0" kern="1200" cap="none" spc="100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слоган.</a:t>
            </a:r>
          </a:p>
          <a:p>
            <a:pPr lvl="0"/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2045C2F9-4523-9541-A2B8-07250EE83C6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112418" y="2011363"/>
            <a:ext cx="5226970" cy="332105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B371D07E-4CB2-764F-9198-A1BC8C57D097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15.06.2026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42CDA901-6D5E-C842-81CE-005B79C887D4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6A3FF1E2-5323-0647-BCB1-F210090887D4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A5C46EC-36F9-6548-97DF-048941AD7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0168490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Скругленный прямоугольник 25">
            <a:extLst>
              <a:ext uri="{FF2B5EF4-FFF2-40B4-BE49-F238E27FC236}">
                <a16:creationId xmlns:a16="http://schemas.microsoft.com/office/drawing/2014/main" id="{43D627EA-EDE4-1346-848D-58264DFC6A1D}"/>
              </a:ext>
            </a:extLst>
          </p:cNvPr>
          <p:cNvSpPr/>
          <p:nvPr userDrawn="1"/>
        </p:nvSpPr>
        <p:spPr>
          <a:xfrm>
            <a:off x="4756580" y="1830417"/>
            <a:ext cx="6373144" cy="360288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endParaRPr lang="ru-RU" sz="1400" dirty="0" err="1">
              <a:latin typeface="+mn-lt"/>
              <a:ea typeface="Arial" charset="0"/>
              <a:cs typeface="Arial" charset="0"/>
            </a:endParaRPr>
          </a:p>
        </p:txBody>
      </p:sp>
      <p:sp>
        <p:nvSpPr>
          <p:cNvPr id="14" name="Текст 24">
            <a:extLst>
              <a:ext uri="{FF2B5EF4-FFF2-40B4-BE49-F238E27FC236}">
                <a16:creationId xmlns:a16="http://schemas.microsoft.com/office/drawing/2014/main" id="{6C8696EB-F308-F14D-9242-9F1B93BB21D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81088" y="1220420"/>
            <a:ext cx="3240087" cy="288638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buNone/>
              <a:defRPr lang="ru-RU" sz="1600" b="0" i="0" kern="1200" cap="none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16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0234E193-B65C-0F4F-B348-B462FF9369C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0726" y="4106809"/>
            <a:ext cx="3600449" cy="102216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100" b="0" i="0" kern="1200" cap="none" spc="100" baseline="0" dirty="0" smtClean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слоган.</a:t>
            </a:r>
          </a:p>
          <a:p>
            <a:pPr lvl="0"/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B371D07E-4CB2-764F-9198-A1BC8C57D097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15.06.2026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42CDA901-6D5E-C842-81CE-005B79C887D4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6A3FF1E2-5323-0647-BCB1-F210090887D4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A5C46EC-36F9-6548-97DF-048941AD72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13" name="Рисунок 11">
            <a:extLst>
              <a:ext uri="{FF2B5EF4-FFF2-40B4-BE49-F238E27FC236}">
                <a16:creationId xmlns:a16="http://schemas.microsoft.com/office/drawing/2014/main" id="{55F263C2-8005-0145-A440-E8B0099A793B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796731" y="1865725"/>
            <a:ext cx="6284925" cy="352946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052369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Текст 24">
            <a:extLst>
              <a:ext uri="{FF2B5EF4-FFF2-40B4-BE49-F238E27FC236}">
                <a16:creationId xmlns:a16="http://schemas.microsoft.com/office/drawing/2014/main" id="{8C3011D6-DDFC-BE4D-80FB-87A4CE2D7F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40088" y="2066321"/>
            <a:ext cx="2178041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9" name="Текст 24">
            <a:extLst>
              <a:ext uri="{FF2B5EF4-FFF2-40B4-BE49-F238E27FC236}">
                <a16:creationId xmlns:a16="http://schemas.microsoft.com/office/drawing/2014/main" id="{AC2052B2-0DFD-5447-BB17-EA883E5249E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49652" y="2066322"/>
            <a:ext cx="2119755" cy="13056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0" name="Текст 24">
            <a:extLst>
              <a:ext uri="{FF2B5EF4-FFF2-40B4-BE49-F238E27FC236}">
                <a16:creationId xmlns:a16="http://schemas.microsoft.com/office/drawing/2014/main" id="{6B44583D-A24A-9041-A846-415364EAD21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780874" y="2066322"/>
            <a:ext cx="2140752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1" name="Текст 24">
            <a:extLst>
              <a:ext uri="{FF2B5EF4-FFF2-40B4-BE49-F238E27FC236}">
                <a16:creationId xmlns:a16="http://schemas.microsoft.com/office/drawing/2014/main" id="{46ED6349-8CBB-FD4E-ACBF-AF497CA824E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95473" y="2066322"/>
            <a:ext cx="2178041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2AA157D1-00CA-3748-8D34-14F2CB4C2C4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2" y="1469217"/>
            <a:ext cx="2157061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D427A1AA-55A3-E341-A753-CD4CDCEB7D1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6152" y="14692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6" name="Текст 24">
            <a:extLst>
              <a:ext uri="{FF2B5EF4-FFF2-40B4-BE49-F238E27FC236}">
                <a16:creationId xmlns:a16="http://schemas.microsoft.com/office/drawing/2014/main" id="{6AEAD224-7400-214F-86E2-F5F05B6AC43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766152" y="14692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ункт3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7" name="Текст 24">
            <a:extLst>
              <a:ext uri="{FF2B5EF4-FFF2-40B4-BE49-F238E27FC236}">
                <a16:creationId xmlns:a16="http://schemas.microsoft.com/office/drawing/2014/main" id="{16DE5F84-7723-864C-A76F-3E229E1C872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280752" y="14692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ункт4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7" name="Текст 24">
            <a:extLst>
              <a:ext uri="{FF2B5EF4-FFF2-40B4-BE49-F238E27FC236}">
                <a16:creationId xmlns:a16="http://schemas.microsoft.com/office/drawing/2014/main" id="{67794AD4-7BEA-C34F-9401-6E7ED37F14E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40088" y="4441221"/>
            <a:ext cx="2178041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8" name="Текст 24">
            <a:extLst>
              <a:ext uri="{FF2B5EF4-FFF2-40B4-BE49-F238E27FC236}">
                <a16:creationId xmlns:a16="http://schemas.microsoft.com/office/drawing/2014/main" id="{2E240CBA-5018-EF41-A6EB-2CD77A61AA6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9652" y="4441222"/>
            <a:ext cx="2119755" cy="13056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2" name="Текст 24">
            <a:extLst>
              <a:ext uri="{FF2B5EF4-FFF2-40B4-BE49-F238E27FC236}">
                <a16:creationId xmlns:a16="http://schemas.microsoft.com/office/drawing/2014/main" id="{226E0712-0CC0-F843-9723-FEAE5649D6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780874" y="4441222"/>
            <a:ext cx="2140752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3" name="Текст 24">
            <a:extLst>
              <a:ext uri="{FF2B5EF4-FFF2-40B4-BE49-F238E27FC236}">
                <a16:creationId xmlns:a16="http://schemas.microsoft.com/office/drawing/2014/main" id="{C27796F8-DA26-D646-B6CF-E20196C2CB6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295473" y="4441222"/>
            <a:ext cx="2178041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8" name="Текст 24">
            <a:extLst>
              <a:ext uri="{FF2B5EF4-FFF2-40B4-BE49-F238E27FC236}">
                <a16:creationId xmlns:a16="http://schemas.microsoft.com/office/drawing/2014/main" id="{DB3F30DB-B631-8A48-B9B2-AB12DE111FE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24252" y="3844117"/>
            <a:ext cx="2157061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ункт5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9" name="Текст 24">
            <a:extLst>
              <a:ext uri="{FF2B5EF4-FFF2-40B4-BE49-F238E27FC236}">
                <a16:creationId xmlns:a16="http://schemas.microsoft.com/office/drawing/2014/main" id="{D3CD3997-6038-E149-AB61-CA1B0F0533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226152" y="38441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ункт6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0" name="Текст 24">
            <a:extLst>
              <a:ext uri="{FF2B5EF4-FFF2-40B4-BE49-F238E27FC236}">
                <a16:creationId xmlns:a16="http://schemas.microsoft.com/office/drawing/2014/main" id="{5CADE144-FF8C-144D-95A0-033854E850F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766152" y="38441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ункт7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1" name="Текст 24">
            <a:extLst>
              <a:ext uri="{FF2B5EF4-FFF2-40B4-BE49-F238E27FC236}">
                <a16:creationId xmlns:a16="http://schemas.microsoft.com/office/drawing/2014/main" id="{E6DC524C-60DA-5A44-815E-E4E1DFECF6F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80752" y="38441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ункт8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231BAEF8-9A0E-4C49-B637-C5BA3BB15024}"/>
              </a:ext>
            </a:extLst>
          </p:cNvPr>
          <p:cNvSpPr>
            <a:spLocks noGrp="1"/>
          </p:cNvSpPr>
          <p:nvPr>
            <p:ph type="dt" sz="half" idx="45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15.06.2026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31BB5DA1-4736-0A4C-AB84-F16B321C9BEA}"/>
              </a:ext>
            </a:extLst>
          </p:cNvPr>
          <p:cNvSpPr>
            <a:spLocks noGrp="1"/>
          </p:cNvSpPr>
          <p:nvPr>
            <p:ph type="ftr" sz="quarter" idx="4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636B8C22-B57B-6E4B-82AF-19CD1F9D8ABD}"/>
              </a:ext>
            </a:extLst>
          </p:cNvPr>
          <p:cNvSpPr>
            <a:spLocks noGrp="1"/>
          </p:cNvSpPr>
          <p:nvPr>
            <p:ph type="sldNum" sz="quarter" idx="4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50E025-9080-034B-AEE0-151AF9DDA6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50936056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Текст 24">
            <a:extLst>
              <a:ext uri="{FF2B5EF4-FFF2-40B4-BE49-F238E27FC236}">
                <a16:creationId xmlns:a16="http://schemas.microsoft.com/office/drawing/2014/main" id="{8C3011D6-DDFC-BE4D-80FB-87A4CE2D7F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35111" y="2066321"/>
            <a:ext cx="2865789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9" name="Текст 24">
            <a:extLst>
              <a:ext uri="{FF2B5EF4-FFF2-40B4-BE49-F238E27FC236}">
                <a16:creationId xmlns:a16="http://schemas.microsoft.com/office/drawing/2014/main" id="{AC2052B2-0DFD-5447-BB17-EA883E5249E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49652" y="2066322"/>
            <a:ext cx="3229396" cy="13056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0" name="Текст 24">
            <a:extLst>
              <a:ext uri="{FF2B5EF4-FFF2-40B4-BE49-F238E27FC236}">
                <a16:creationId xmlns:a16="http://schemas.microsoft.com/office/drawing/2014/main" id="{6B44583D-A24A-9041-A846-415364EAD21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575984" y="2066322"/>
            <a:ext cx="3229397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2AA157D1-00CA-3748-8D34-14F2CB4C2C4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3" y="1469217"/>
            <a:ext cx="3254796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D427A1AA-55A3-E341-A753-CD4CDCEB7D1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321175" y="1469217"/>
            <a:ext cx="2879725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6" name="Текст 24">
            <a:extLst>
              <a:ext uri="{FF2B5EF4-FFF2-40B4-BE49-F238E27FC236}">
                <a16:creationId xmlns:a16="http://schemas.microsoft.com/office/drawing/2014/main" id="{6AEAD224-7400-214F-86E2-F5F05B6AC43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561263" y="1469217"/>
            <a:ext cx="322939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ункт3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7" name="Текст 24">
            <a:extLst>
              <a:ext uri="{FF2B5EF4-FFF2-40B4-BE49-F238E27FC236}">
                <a16:creationId xmlns:a16="http://schemas.microsoft.com/office/drawing/2014/main" id="{67794AD4-7BEA-C34F-9401-6E7ED37F14E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35111" y="4441221"/>
            <a:ext cx="2865789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8" name="Текст 24">
            <a:extLst>
              <a:ext uri="{FF2B5EF4-FFF2-40B4-BE49-F238E27FC236}">
                <a16:creationId xmlns:a16="http://schemas.microsoft.com/office/drawing/2014/main" id="{2E240CBA-5018-EF41-A6EB-2CD77A61AA6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9652" y="4441222"/>
            <a:ext cx="3229396" cy="13056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2" name="Текст 24">
            <a:extLst>
              <a:ext uri="{FF2B5EF4-FFF2-40B4-BE49-F238E27FC236}">
                <a16:creationId xmlns:a16="http://schemas.microsoft.com/office/drawing/2014/main" id="{226E0712-0CC0-F843-9723-FEAE5649D6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575985" y="4441222"/>
            <a:ext cx="3229396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8" name="Текст 24">
            <a:extLst>
              <a:ext uri="{FF2B5EF4-FFF2-40B4-BE49-F238E27FC236}">
                <a16:creationId xmlns:a16="http://schemas.microsoft.com/office/drawing/2014/main" id="{DB3F30DB-B631-8A48-B9B2-AB12DE111FE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24253" y="3844117"/>
            <a:ext cx="3254796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ункт4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9" name="Текст 24">
            <a:extLst>
              <a:ext uri="{FF2B5EF4-FFF2-40B4-BE49-F238E27FC236}">
                <a16:creationId xmlns:a16="http://schemas.microsoft.com/office/drawing/2014/main" id="{D3CD3997-6038-E149-AB61-CA1B0F0533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321175" y="3844117"/>
            <a:ext cx="2879725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ункт5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0" name="Текст 24">
            <a:extLst>
              <a:ext uri="{FF2B5EF4-FFF2-40B4-BE49-F238E27FC236}">
                <a16:creationId xmlns:a16="http://schemas.microsoft.com/office/drawing/2014/main" id="{5CADE144-FF8C-144D-95A0-033854E850F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61263" y="3844117"/>
            <a:ext cx="322939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ункт6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C77A554A-7DBE-1B4A-AB54-75BF3333DD74}"/>
              </a:ext>
            </a:extLst>
          </p:cNvPr>
          <p:cNvSpPr>
            <a:spLocks noGrp="1"/>
          </p:cNvSpPr>
          <p:nvPr>
            <p:ph type="dt" sz="half" idx="44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15.06.2026</a:t>
            </a:fld>
            <a:endParaRPr lang="ru-RU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B261ED17-9BCF-604C-9546-98A1A69EC6DE}"/>
              </a:ext>
            </a:extLst>
          </p:cNvPr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2C62546D-9E8C-8544-9568-F11173B05269}"/>
              </a:ext>
            </a:extLst>
          </p:cNvPr>
          <p:cNvSpPr>
            <a:spLocks noGrp="1"/>
          </p:cNvSpPr>
          <p:nvPr>
            <p:ph type="sldNum" sz="quarter" idx="4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626813-7C90-8445-9BC8-09C3B45D63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864834393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63F6552D-2F5C-6945-9E8B-C8023EBBBFE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 b="0" i="0">
                <a:latin typeface="+mn-lt"/>
              </a:defRPr>
            </a:lvl1pPr>
          </a:lstStyle>
          <a:p>
            <a:fld id="{3F27ED09-E00C-42B4-812A-B88B87C95C8B}" type="datetime1">
              <a:rPr lang="ru-RU" smtClean="0"/>
              <a:pPr/>
              <a:t>15.06.2026</a:t>
            </a:fld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8A0E11D-B9C6-AD47-8452-0BC9D7016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7" name="Таблица 6">
            <a:extLst>
              <a:ext uri="{FF2B5EF4-FFF2-40B4-BE49-F238E27FC236}">
                <a16:creationId xmlns:a16="http://schemas.microsoft.com/office/drawing/2014/main" id="{710417F5-2911-3C4F-A98F-AEEE1C0F4437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360363" y="1223963"/>
            <a:ext cx="10801350" cy="462279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ED3059-F1AE-0B4D-B15E-FCF548E6600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E629E9-07F9-FA43-B772-4FF760CC2B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397549791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13">
            <a:extLst>
              <a:ext uri="{FF2B5EF4-FFF2-40B4-BE49-F238E27FC236}">
                <a16:creationId xmlns:a16="http://schemas.microsoft.com/office/drawing/2014/main" id="{5754DFE5-36CE-CE4A-BCA3-F69C55F293F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0363" y="1328354"/>
            <a:ext cx="558138" cy="465137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buFontTx/>
              <a:buNone/>
              <a:defRPr sz="37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 sz="2000" b="1" i="0">
                <a:latin typeface="Beeline Sans V0.3 Black" pitchFamily="2" charset="0"/>
              </a:defRPr>
            </a:lvl2pPr>
            <a:lvl3pPr marL="914400" indent="0">
              <a:buFontTx/>
              <a:buNone/>
              <a:defRPr sz="2000" b="1" i="0">
                <a:latin typeface="Beeline Sans V0.3 Black" pitchFamily="2" charset="0"/>
              </a:defRPr>
            </a:lvl3pPr>
            <a:lvl4pPr marL="1371600" indent="0">
              <a:buFontTx/>
              <a:buNone/>
              <a:defRPr sz="2000" b="1" i="0">
                <a:latin typeface="Beeline Sans V0.3 Black" pitchFamily="2" charset="0"/>
              </a:defRPr>
            </a:lvl4pPr>
            <a:lvl5pPr marL="1828800" indent="0">
              <a:buFontTx/>
              <a:buNone/>
              <a:defRPr sz="2000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О1</a:t>
            </a:r>
          </a:p>
        </p:txBody>
      </p:sp>
      <p:sp>
        <p:nvSpPr>
          <p:cNvPr id="12" name="Текст 13">
            <a:extLst>
              <a:ext uri="{FF2B5EF4-FFF2-40B4-BE49-F238E27FC236}">
                <a16:creationId xmlns:a16="http://schemas.microsoft.com/office/drawing/2014/main" id="{CFCE9A71-CA21-DF45-931F-DA6936474E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0362" y="3768377"/>
            <a:ext cx="720725" cy="465137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buFontTx/>
              <a:buNone/>
              <a:defRPr sz="37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 sz="2000" b="1" i="0">
                <a:latin typeface="Beeline Sans V0.3 Black" pitchFamily="2" charset="0"/>
              </a:defRPr>
            </a:lvl2pPr>
            <a:lvl3pPr marL="914400" indent="0">
              <a:buFontTx/>
              <a:buNone/>
              <a:defRPr sz="2000" b="1" i="0">
                <a:latin typeface="Beeline Sans V0.3 Black" pitchFamily="2" charset="0"/>
              </a:defRPr>
            </a:lvl3pPr>
            <a:lvl4pPr marL="1371600" indent="0">
              <a:buFontTx/>
              <a:buNone/>
              <a:defRPr sz="2000" b="1" i="0">
                <a:latin typeface="Beeline Sans V0.3 Black" pitchFamily="2" charset="0"/>
              </a:defRPr>
            </a:lvl4pPr>
            <a:lvl5pPr marL="1828800" indent="0">
              <a:buFontTx/>
              <a:buNone/>
              <a:defRPr sz="2000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О2</a:t>
            </a:r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90E73677-8CAD-8349-8D30-B6F2DB0FB3E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11563" y="1328354"/>
            <a:ext cx="558138" cy="465137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buFontTx/>
              <a:buNone/>
              <a:defRPr sz="37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 sz="2000" b="1" i="0">
                <a:latin typeface="Beeline Sans V0.3 Black" pitchFamily="2" charset="0"/>
              </a:defRPr>
            </a:lvl2pPr>
            <a:lvl3pPr marL="914400" indent="0">
              <a:buFontTx/>
              <a:buNone/>
              <a:defRPr sz="2000" b="1" i="0">
                <a:latin typeface="Beeline Sans V0.3 Black" pitchFamily="2" charset="0"/>
              </a:defRPr>
            </a:lvl3pPr>
            <a:lvl4pPr marL="1371600" indent="0">
              <a:buFontTx/>
              <a:buNone/>
              <a:defRPr sz="2000" b="1" i="0">
                <a:latin typeface="Beeline Sans V0.3 Black" pitchFamily="2" charset="0"/>
              </a:defRPr>
            </a:lvl4pPr>
            <a:lvl5pPr marL="1828800" indent="0">
              <a:buFontTx/>
              <a:buNone/>
              <a:defRPr sz="2000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О4</a:t>
            </a:r>
          </a:p>
        </p:txBody>
      </p:sp>
      <p:sp>
        <p:nvSpPr>
          <p:cNvPr id="15" name="Текст 13">
            <a:extLst>
              <a:ext uri="{FF2B5EF4-FFF2-40B4-BE49-F238E27FC236}">
                <a16:creationId xmlns:a16="http://schemas.microsoft.com/office/drawing/2014/main" id="{73DC0F2E-B252-8744-9538-A1C7B0849D8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11562" y="3768377"/>
            <a:ext cx="720725" cy="465137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buFontTx/>
              <a:buNone/>
              <a:defRPr sz="37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 sz="2000" b="1" i="0">
                <a:latin typeface="Beeline Sans V0.3 Black" pitchFamily="2" charset="0"/>
              </a:defRPr>
            </a:lvl2pPr>
            <a:lvl3pPr marL="914400" indent="0">
              <a:buFontTx/>
              <a:buNone/>
              <a:defRPr sz="2000" b="1" i="0">
                <a:latin typeface="Beeline Sans V0.3 Black" pitchFamily="2" charset="0"/>
              </a:defRPr>
            </a:lvl3pPr>
            <a:lvl4pPr marL="1371600" indent="0">
              <a:buFontTx/>
              <a:buNone/>
              <a:defRPr sz="2000" b="1" i="0">
                <a:latin typeface="Beeline Sans V0.3 Black" pitchFamily="2" charset="0"/>
              </a:defRPr>
            </a:lvl4pPr>
            <a:lvl5pPr marL="1828800" indent="0">
              <a:buFontTx/>
              <a:buNone/>
              <a:defRPr sz="2000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О5</a:t>
            </a:r>
          </a:p>
        </p:txBody>
      </p:sp>
      <p:sp>
        <p:nvSpPr>
          <p:cNvPr id="17" name="Текст 13">
            <a:extLst>
              <a:ext uri="{FF2B5EF4-FFF2-40B4-BE49-F238E27FC236}">
                <a16:creationId xmlns:a16="http://schemas.microsoft.com/office/drawing/2014/main" id="{6C521555-7583-8D40-9707-D875913E367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11106" y="1328354"/>
            <a:ext cx="558138" cy="465137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buFontTx/>
              <a:buNone/>
              <a:defRPr sz="37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 sz="2000" b="1" i="0">
                <a:latin typeface="Beeline Sans V0.3 Black" pitchFamily="2" charset="0"/>
              </a:defRPr>
            </a:lvl2pPr>
            <a:lvl3pPr marL="914400" indent="0">
              <a:buFontTx/>
              <a:buNone/>
              <a:defRPr sz="2000" b="1" i="0">
                <a:latin typeface="Beeline Sans V0.3 Black" pitchFamily="2" charset="0"/>
              </a:defRPr>
            </a:lvl3pPr>
            <a:lvl4pPr marL="1371600" indent="0">
              <a:buFontTx/>
              <a:buNone/>
              <a:defRPr sz="2000" b="1" i="0">
                <a:latin typeface="Beeline Sans V0.3 Black" pitchFamily="2" charset="0"/>
              </a:defRPr>
            </a:lvl4pPr>
            <a:lvl5pPr marL="1828800" indent="0">
              <a:buFontTx/>
              <a:buNone/>
              <a:defRPr sz="2000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О7</a:t>
            </a:r>
          </a:p>
        </p:txBody>
      </p:sp>
      <p:sp>
        <p:nvSpPr>
          <p:cNvPr id="18" name="Текст 13">
            <a:extLst>
              <a:ext uri="{FF2B5EF4-FFF2-40B4-BE49-F238E27FC236}">
                <a16:creationId xmlns:a16="http://schemas.microsoft.com/office/drawing/2014/main" id="{DBC1D448-B51C-9E43-8CA3-0751AA8B973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11105" y="3768377"/>
            <a:ext cx="720725" cy="465137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buFontTx/>
              <a:buNone/>
              <a:defRPr sz="37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FontTx/>
              <a:buNone/>
              <a:defRPr sz="2000" b="1" i="0">
                <a:latin typeface="Beeline Sans V0.3 Black" pitchFamily="2" charset="0"/>
              </a:defRPr>
            </a:lvl2pPr>
            <a:lvl3pPr marL="914400" indent="0">
              <a:buFontTx/>
              <a:buNone/>
              <a:defRPr sz="2000" b="1" i="0">
                <a:latin typeface="Beeline Sans V0.3 Black" pitchFamily="2" charset="0"/>
              </a:defRPr>
            </a:lvl3pPr>
            <a:lvl4pPr marL="1371600" indent="0">
              <a:buFontTx/>
              <a:buNone/>
              <a:defRPr sz="2000" b="1" i="0">
                <a:latin typeface="Beeline Sans V0.3 Black" pitchFamily="2" charset="0"/>
              </a:defRPr>
            </a:lvl4pPr>
            <a:lvl5pPr marL="1828800" indent="0">
              <a:buFontTx/>
              <a:buNone/>
              <a:defRPr sz="2000" b="1" i="0">
                <a:latin typeface="Beeline Sans V0.3 Black" pitchFamily="2" charset="0"/>
              </a:defRPr>
            </a:lvl5pPr>
          </a:lstStyle>
          <a:p>
            <a:pPr lvl="0"/>
            <a:r>
              <a:rPr lang="ru-RU" dirty="0"/>
              <a:t>О8</a:t>
            </a:r>
          </a:p>
        </p:txBody>
      </p:sp>
      <p:sp>
        <p:nvSpPr>
          <p:cNvPr id="20" name="Текст 24">
            <a:extLst>
              <a:ext uri="{FF2B5EF4-FFF2-40B4-BE49-F238E27FC236}">
                <a16:creationId xmlns:a16="http://schemas.microsoft.com/office/drawing/2014/main" id="{921C54B4-BA92-4B45-923E-777B6EEBE5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68637" y="1830334"/>
            <a:ext cx="2178041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1" name="Текст 24">
            <a:extLst>
              <a:ext uri="{FF2B5EF4-FFF2-40B4-BE49-F238E27FC236}">
                <a16:creationId xmlns:a16="http://schemas.microsoft.com/office/drawing/2014/main" id="{BC7E06E6-E1CD-3645-B88F-8D164F5AC8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84287" y="1830334"/>
            <a:ext cx="2119755" cy="13056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2" name="Текст 24">
            <a:extLst>
              <a:ext uri="{FF2B5EF4-FFF2-40B4-BE49-F238E27FC236}">
                <a16:creationId xmlns:a16="http://schemas.microsoft.com/office/drawing/2014/main" id="{F40D551D-BBCF-0B42-BA69-6640EC48417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960065" y="1819443"/>
            <a:ext cx="2140752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3" name="Текст 24">
            <a:extLst>
              <a:ext uri="{FF2B5EF4-FFF2-40B4-BE49-F238E27FC236}">
                <a16:creationId xmlns:a16="http://schemas.microsoft.com/office/drawing/2014/main" id="{DC0CF074-E75D-AD49-B44E-BC7313D0E07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58887" y="1235590"/>
            <a:ext cx="2157061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531C312E-7B3A-9C42-B68F-178FBF158F7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354701" y="1235590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ункт4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7" name="Текст 24">
            <a:extLst>
              <a:ext uri="{FF2B5EF4-FFF2-40B4-BE49-F238E27FC236}">
                <a16:creationId xmlns:a16="http://schemas.microsoft.com/office/drawing/2014/main" id="{FFE20485-7A99-1543-B0CE-149E2E478C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945343" y="1235590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ункт7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8" name="Текст 24">
            <a:extLst>
              <a:ext uri="{FF2B5EF4-FFF2-40B4-BE49-F238E27FC236}">
                <a16:creationId xmlns:a16="http://schemas.microsoft.com/office/drawing/2014/main" id="{D66B516A-7550-B742-8231-0A30F3D5809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68637" y="4283609"/>
            <a:ext cx="2178041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9" name="Текст 24">
            <a:extLst>
              <a:ext uri="{FF2B5EF4-FFF2-40B4-BE49-F238E27FC236}">
                <a16:creationId xmlns:a16="http://schemas.microsoft.com/office/drawing/2014/main" id="{DD54AAF5-A639-7F48-849E-6C4093CFCA5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84287" y="4283609"/>
            <a:ext cx="2119755" cy="13056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0" name="Текст 24">
            <a:extLst>
              <a:ext uri="{FF2B5EF4-FFF2-40B4-BE49-F238E27FC236}">
                <a16:creationId xmlns:a16="http://schemas.microsoft.com/office/drawing/2014/main" id="{40D1C8AE-2AE5-3B45-9FB5-7C88FCA2C0E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960065" y="4272718"/>
            <a:ext cx="2140752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1" name="Текст 24">
            <a:extLst>
              <a:ext uri="{FF2B5EF4-FFF2-40B4-BE49-F238E27FC236}">
                <a16:creationId xmlns:a16="http://schemas.microsoft.com/office/drawing/2014/main" id="{6B7D77C2-FEAE-CD4A-9713-48B16974D97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58887" y="3675613"/>
            <a:ext cx="2157061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2" name="Текст 24">
            <a:extLst>
              <a:ext uri="{FF2B5EF4-FFF2-40B4-BE49-F238E27FC236}">
                <a16:creationId xmlns:a16="http://schemas.microsoft.com/office/drawing/2014/main" id="{0B619C5A-03A1-2E41-A4D6-019B19CD12D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354701" y="3675613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ункт5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3" name="Текст 24">
            <a:extLst>
              <a:ext uri="{FF2B5EF4-FFF2-40B4-BE49-F238E27FC236}">
                <a16:creationId xmlns:a16="http://schemas.microsoft.com/office/drawing/2014/main" id="{A5BCC699-3029-2B40-9793-43486290DA1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945343" y="3675613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ункт8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D2BFCFD7-A0E2-5645-A945-49608DE09A1E}"/>
              </a:ext>
            </a:extLst>
          </p:cNvPr>
          <p:cNvSpPr>
            <a:spLocks noGrp="1"/>
          </p:cNvSpPr>
          <p:nvPr>
            <p:ph type="dt" sz="half" idx="4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15.06.2026</a:t>
            </a:fld>
            <a:endParaRPr lang="ru-RU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5C308710-C149-0C4B-93BC-ED84522E9C86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B7951DB5-5119-7544-838F-43224C1B8CAE}"/>
              </a:ext>
            </a:extLst>
          </p:cNvPr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B0CD5D-EE9F-9F49-BBF9-0C056F3A5C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895731443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4">
            <a:extLst>
              <a:ext uri="{FF2B5EF4-FFF2-40B4-BE49-F238E27FC236}">
                <a16:creationId xmlns:a16="http://schemas.microsoft.com/office/drawing/2014/main" id="{921C54B4-BA92-4B45-923E-777B6EEBE5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61298" y="2857398"/>
            <a:ext cx="5379466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1" name="Текст 24">
            <a:extLst>
              <a:ext uri="{FF2B5EF4-FFF2-40B4-BE49-F238E27FC236}">
                <a16:creationId xmlns:a16="http://schemas.microsoft.com/office/drawing/2014/main" id="{BC7E06E6-E1CD-3645-B88F-8D164F5AC8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261298" y="1234319"/>
            <a:ext cx="5379466" cy="13056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2" name="Текст 24">
            <a:extLst>
              <a:ext uri="{FF2B5EF4-FFF2-40B4-BE49-F238E27FC236}">
                <a16:creationId xmlns:a16="http://schemas.microsoft.com/office/drawing/2014/main" id="{F40D551D-BBCF-0B42-BA69-6640EC48417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59922" y="4655183"/>
            <a:ext cx="5379466" cy="130567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531C312E-7B3A-9C42-B68F-178FBF158F7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10316" y="2703501"/>
            <a:ext cx="2191977" cy="501688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7" name="Текст 24">
            <a:extLst>
              <a:ext uri="{FF2B5EF4-FFF2-40B4-BE49-F238E27FC236}">
                <a16:creationId xmlns:a16="http://schemas.microsoft.com/office/drawing/2014/main" id="{FFE20485-7A99-1543-B0CE-149E2E478C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24252" y="4501286"/>
            <a:ext cx="2191977" cy="501688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ункт3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C97E6374-DFEA-F64D-BB2E-FD5A9AFBE926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15.06.2026</a:t>
            </a:fld>
            <a:endParaRPr lang="ru-RU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5BB4F9FD-A8D5-554B-9BD2-870B3155874B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E5EFA7B2-4CFA-4D45-BCE1-B8ED940F59C1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CBC8FB-C31E-1A4D-A834-B99C910925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3F76C491-0EAC-0949-A05E-EE7E72A772C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2" y="1108840"/>
            <a:ext cx="2157061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7799789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24">
            <a:extLst>
              <a:ext uri="{FF2B5EF4-FFF2-40B4-BE49-F238E27FC236}">
                <a16:creationId xmlns:a16="http://schemas.microsoft.com/office/drawing/2014/main" id="{3C97F4F9-07CD-F541-B6FD-19F71206472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261297" y="2857398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6" name="Текст 24">
            <a:extLst>
              <a:ext uri="{FF2B5EF4-FFF2-40B4-BE49-F238E27FC236}">
                <a16:creationId xmlns:a16="http://schemas.microsoft.com/office/drawing/2014/main" id="{24D463F1-6970-8845-9700-5B32E270237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61297" y="1234319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7" name="Текст 24">
            <a:extLst>
              <a:ext uri="{FF2B5EF4-FFF2-40B4-BE49-F238E27FC236}">
                <a16:creationId xmlns:a16="http://schemas.microsoft.com/office/drawing/2014/main" id="{8EC2F212-7E05-2943-83D0-6EDA5D9789D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259922" y="4655183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8" name="Текст 24">
            <a:extLst>
              <a:ext uri="{FF2B5EF4-FFF2-40B4-BE49-F238E27FC236}">
                <a16:creationId xmlns:a16="http://schemas.microsoft.com/office/drawing/2014/main" id="{14787146-1A29-FC4C-9D9E-BE998C337D4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209183" y="2857398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9" name="Текст 24">
            <a:extLst>
              <a:ext uri="{FF2B5EF4-FFF2-40B4-BE49-F238E27FC236}">
                <a16:creationId xmlns:a16="http://schemas.microsoft.com/office/drawing/2014/main" id="{7A59FE8C-F422-4C48-A15A-9B109BBA7F4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209183" y="1234319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8" name="Текст 24">
            <a:extLst>
              <a:ext uri="{FF2B5EF4-FFF2-40B4-BE49-F238E27FC236}">
                <a16:creationId xmlns:a16="http://schemas.microsoft.com/office/drawing/2014/main" id="{65132C2A-B96D-5145-8107-3C668F2B19F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207808" y="4655183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0" name="Текст 24">
            <a:extLst>
              <a:ext uri="{FF2B5EF4-FFF2-40B4-BE49-F238E27FC236}">
                <a16:creationId xmlns:a16="http://schemas.microsoft.com/office/drawing/2014/main" id="{6BD270EA-62BB-D743-9543-C74FAE0B7DE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10316" y="2703501"/>
            <a:ext cx="2191977" cy="501688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31" name="Текст 24">
            <a:extLst>
              <a:ext uri="{FF2B5EF4-FFF2-40B4-BE49-F238E27FC236}">
                <a16:creationId xmlns:a16="http://schemas.microsoft.com/office/drawing/2014/main" id="{6CB56C84-2284-E449-83DE-9634B09D866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24252" y="4501286"/>
            <a:ext cx="2191977" cy="501688"/>
          </a:xfrm>
          <a:prstGeom prst="rect">
            <a:avLst/>
          </a:prstGeom>
        </p:spPr>
        <p:txBody>
          <a:bodyPr wrap="none" lIns="0" tIns="0" rIns="0" bIns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ункт3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52E4AB1C-CCE6-0C48-B5A5-6E402177A6E1}"/>
              </a:ext>
            </a:extLst>
          </p:cNvPr>
          <p:cNvSpPr>
            <a:spLocks noGrp="1"/>
          </p:cNvSpPr>
          <p:nvPr>
            <p:ph type="dt" sz="half" idx="4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15.06.2026</a:t>
            </a:fld>
            <a:endParaRPr lang="ru-RU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DB8AD288-0082-9C43-A0FE-C3388F7F932F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C5843E9F-D28D-EE44-9252-3427CA59DEDC}"/>
              </a:ext>
            </a:extLst>
          </p:cNvPr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0FA921-8BAD-7C49-B8AD-4C42000550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21" name="Текст 24">
            <a:extLst>
              <a:ext uri="{FF2B5EF4-FFF2-40B4-BE49-F238E27FC236}">
                <a16:creationId xmlns:a16="http://schemas.microsoft.com/office/drawing/2014/main" id="{21754C9A-E5B1-FD41-B916-D04D32974BA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2" y="1108840"/>
            <a:ext cx="2157061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4297071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4">
            <a:extLst>
              <a:ext uri="{FF2B5EF4-FFF2-40B4-BE49-F238E27FC236}">
                <a16:creationId xmlns:a16="http://schemas.microsoft.com/office/drawing/2014/main" id="{921C54B4-BA92-4B45-923E-777B6EEBE5E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61297" y="2514671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1" name="Текст 24">
            <a:extLst>
              <a:ext uri="{FF2B5EF4-FFF2-40B4-BE49-F238E27FC236}">
                <a16:creationId xmlns:a16="http://schemas.microsoft.com/office/drawing/2014/main" id="{BC7E06E6-E1CD-3645-B88F-8D164F5AC8D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261297" y="1234319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2" name="Текст 24">
            <a:extLst>
              <a:ext uri="{FF2B5EF4-FFF2-40B4-BE49-F238E27FC236}">
                <a16:creationId xmlns:a16="http://schemas.microsoft.com/office/drawing/2014/main" id="{F40D551D-BBCF-0B42-BA69-6640EC48417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59922" y="3795023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3" name="Текст 24">
            <a:extLst>
              <a:ext uri="{FF2B5EF4-FFF2-40B4-BE49-F238E27FC236}">
                <a16:creationId xmlns:a16="http://schemas.microsoft.com/office/drawing/2014/main" id="{DC0CF074-E75D-AD49-B44E-BC7313D0E07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2" y="1108840"/>
            <a:ext cx="2157061" cy="5016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4" name="Текст 24">
            <a:extLst>
              <a:ext uri="{FF2B5EF4-FFF2-40B4-BE49-F238E27FC236}">
                <a16:creationId xmlns:a16="http://schemas.microsoft.com/office/drawing/2014/main" id="{531C312E-7B3A-9C42-B68F-178FBF158F7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10316" y="2419792"/>
            <a:ext cx="2191977" cy="5016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7" name="Текст 24">
            <a:extLst>
              <a:ext uri="{FF2B5EF4-FFF2-40B4-BE49-F238E27FC236}">
                <a16:creationId xmlns:a16="http://schemas.microsoft.com/office/drawing/2014/main" id="{FFE20485-7A99-1543-B0CE-149E2E478C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24252" y="3676152"/>
            <a:ext cx="2191977" cy="5016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ункт3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9A4CF9E0-CD45-D345-B15E-3B4CB0690FB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259922" y="5043252"/>
            <a:ext cx="3579241" cy="110742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6" name="Текст 24">
            <a:extLst>
              <a:ext uri="{FF2B5EF4-FFF2-40B4-BE49-F238E27FC236}">
                <a16:creationId xmlns:a16="http://schemas.microsoft.com/office/drawing/2014/main" id="{2EA508B7-997B-044C-8A70-2DBB895F121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24252" y="4946159"/>
            <a:ext cx="2191977" cy="5016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ункт4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8" name="Текст 24">
            <a:extLst>
              <a:ext uri="{FF2B5EF4-FFF2-40B4-BE49-F238E27FC236}">
                <a16:creationId xmlns:a16="http://schemas.microsoft.com/office/drawing/2014/main" id="{BD380D2E-3573-E841-8E4B-016CC2162C5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209183" y="2514671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9" name="Текст 24">
            <a:extLst>
              <a:ext uri="{FF2B5EF4-FFF2-40B4-BE49-F238E27FC236}">
                <a16:creationId xmlns:a16="http://schemas.microsoft.com/office/drawing/2014/main" id="{665BE4BC-C96D-AE41-87A5-FBF32ABA4C0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209183" y="1234319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8" name="Текст 24">
            <a:extLst>
              <a:ext uri="{FF2B5EF4-FFF2-40B4-BE49-F238E27FC236}">
                <a16:creationId xmlns:a16="http://schemas.microsoft.com/office/drawing/2014/main" id="{77FC05A8-2007-1F45-9C8E-BB4048D0EB3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207808" y="3795023"/>
            <a:ext cx="3579241" cy="113096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9" name="Текст 24">
            <a:extLst>
              <a:ext uri="{FF2B5EF4-FFF2-40B4-BE49-F238E27FC236}">
                <a16:creationId xmlns:a16="http://schemas.microsoft.com/office/drawing/2014/main" id="{D27328BA-3901-9E40-9F0F-BC4992AABA4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207808" y="5043252"/>
            <a:ext cx="3579241" cy="110742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C49823CB-1CAB-BE42-916E-ADE88ABD3B68}"/>
              </a:ext>
            </a:extLst>
          </p:cNvPr>
          <p:cNvSpPr>
            <a:spLocks noGrp="1"/>
          </p:cNvSpPr>
          <p:nvPr>
            <p:ph type="dt" sz="half" idx="42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15.06.2026</a:t>
            </a:fld>
            <a:endParaRPr lang="ru-RU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57AE7A4B-A68D-C646-A497-6C8139A2A7C3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38D2549F-E1FB-EC42-B3C5-19267BF6BCE2}"/>
              </a:ext>
            </a:extLst>
          </p:cNvPr>
          <p:cNvSpPr>
            <a:spLocks noGrp="1"/>
          </p:cNvSpPr>
          <p:nvPr>
            <p:ph type="sldNum" sz="quarter" idx="44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EB21AA-563E-0344-972B-7C00B0D30E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lnSpc>
                <a:spcPct val="90000"/>
              </a:lnSpc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579709045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Диаграмма 6">
            <a:extLst>
              <a:ext uri="{FF2B5EF4-FFF2-40B4-BE49-F238E27FC236}">
                <a16:creationId xmlns:a16="http://schemas.microsoft.com/office/drawing/2014/main" id="{096A3D9B-7A53-7145-88F9-FC33EA5433F0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360363" y="1223963"/>
            <a:ext cx="10801350" cy="460944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3100" b="0" i="0"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C53B9F60-33C2-B14B-A135-EEB77903EA0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15.06.2026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DE331CC-4388-A049-9531-B7308F84086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977DC4C-2A37-024C-8F35-3D8C2CBC22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58EF4D-F8FB-9346-BC26-5B2C319036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543523666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Дата 5">
            <a:extLst>
              <a:ext uri="{FF2B5EF4-FFF2-40B4-BE49-F238E27FC236}">
                <a16:creationId xmlns:a16="http://schemas.microsoft.com/office/drawing/2014/main" id="{C53B9F60-33C2-B14B-A135-EEB77903EA0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15.06.2026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DE331CC-4388-A049-9531-B7308F84086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977DC4C-2A37-024C-8F35-3D8C2CBC22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58EF4D-F8FB-9346-BC26-5B2C319036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802813540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Дата 5">
            <a:extLst>
              <a:ext uri="{FF2B5EF4-FFF2-40B4-BE49-F238E27FC236}">
                <a16:creationId xmlns:a16="http://schemas.microsoft.com/office/drawing/2014/main" id="{C53B9F60-33C2-B14B-A135-EEB77903EA0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15.06.2026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DE331CC-4388-A049-9531-B7308F84086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977DC4C-2A37-024C-8F35-3D8C2CBC22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58EF4D-F8FB-9346-BC26-5B2C319036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C5309-11CD-A140-9B3A-497D232CFB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1223963"/>
            <a:ext cx="10801350" cy="4575175"/>
          </a:xfrm>
        </p:spPr>
        <p:txBody>
          <a:bodyPr/>
          <a:lstStyle>
            <a:lvl1pPr>
              <a:lnSpc>
                <a:spcPct val="100000"/>
              </a:lnSpc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71864231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Дата 5">
            <a:extLst>
              <a:ext uri="{FF2B5EF4-FFF2-40B4-BE49-F238E27FC236}">
                <a16:creationId xmlns:a16="http://schemas.microsoft.com/office/drawing/2014/main" id="{C53B9F60-33C2-B14B-A135-EEB77903EA0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15.06.2026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DE331CC-4388-A049-9531-B7308F84086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977DC4C-2A37-024C-8F35-3D8C2CBC22A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58EF4D-F8FB-9346-BC26-5B2C319036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363" y="228600"/>
            <a:ext cx="9361487" cy="452438"/>
          </a:xfrm>
        </p:spPr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C5309-11CD-A140-9B3A-497D232CFB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0363" y="1223963"/>
            <a:ext cx="10801350" cy="457517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0C6492-919E-874B-8364-8B6D6AD4A12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363" y="771525"/>
            <a:ext cx="9361487" cy="452438"/>
          </a:xfrm>
        </p:spPr>
        <p:txBody>
          <a:bodyPr>
            <a:noAutofit/>
          </a:bodyPr>
          <a:lstStyle>
            <a:lvl1pPr>
              <a:defRPr sz="2000"/>
            </a:lvl1pPr>
          </a:lstStyle>
          <a:p>
            <a:pPr lvl="0"/>
            <a:r>
              <a:rPr lang="ru-RU" dirty="0" err="1"/>
              <a:t>подзаголов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551673944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Диаграмма 6">
            <a:extLst>
              <a:ext uri="{FF2B5EF4-FFF2-40B4-BE49-F238E27FC236}">
                <a16:creationId xmlns:a16="http://schemas.microsoft.com/office/drawing/2014/main" id="{096A3D9B-7A53-7145-88F9-FC33EA5433F0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360363" y="1223963"/>
            <a:ext cx="5042651" cy="460944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3100" b="0" i="0"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10" name="Диаграмма 6">
            <a:extLst>
              <a:ext uri="{FF2B5EF4-FFF2-40B4-BE49-F238E27FC236}">
                <a16:creationId xmlns:a16="http://schemas.microsoft.com/office/drawing/2014/main" id="{F1052556-E84B-D94F-863D-9686C0AA10F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119061" y="1225387"/>
            <a:ext cx="5042651" cy="460944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3100" b="0" i="0"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FD0F2CA6-2684-AD4E-8F62-353128D35DA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15.06.2026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7ADB0D9-ABA4-164D-9BC3-9918C575878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25D823F-429F-D94B-BFF8-58EA2559589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36E8354-469E-7F40-B036-CE5618FA79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432810270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Диаграмма 6">
            <a:extLst>
              <a:ext uri="{FF2B5EF4-FFF2-40B4-BE49-F238E27FC236}">
                <a16:creationId xmlns:a16="http://schemas.microsoft.com/office/drawing/2014/main" id="{F1052556-E84B-D94F-863D-9686C0AA10F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119061" y="1225387"/>
            <a:ext cx="5042651" cy="460944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3100" b="0" i="0"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12" name="Текст 24">
            <a:extLst>
              <a:ext uri="{FF2B5EF4-FFF2-40B4-BE49-F238E27FC236}">
                <a16:creationId xmlns:a16="http://schemas.microsoft.com/office/drawing/2014/main" id="{6242146D-3E27-AD41-9ED8-D26F377D1FB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40088" y="2066321"/>
            <a:ext cx="2178041" cy="34077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smtClean="0">
                <a:effectLst/>
                <a:latin typeface="+mn-lt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3" name="Текст 24">
            <a:extLst>
              <a:ext uri="{FF2B5EF4-FFF2-40B4-BE49-F238E27FC236}">
                <a16:creationId xmlns:a16="http://schemas.microsoft.com/office/drawing/2014/main" id="{FF3D7E83-0CA2-754B-8F35-1B947B02C4A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49652" y="2066322"/>
            <a:ext cx="2119755" cy="340770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b="0" i="0" dirty="0">
                <a:effectLst/>
                <a:latin typeface="+mn-lt"/>
              </a:defRPr>
            </a:lvl1pPr>
          </a:lstStyle>
          <a:p>
            <a:pPr lvl="0"/>
            <a:r>
              <a:rPr lang="ru-RU" dirty="0"/>
              <a:t>Текст слайда. </a:t>
            </a:r>
            <a:br>
              <a:rPr lang="ru-RU" dirty="0"/>
            </a:b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</a:t>
            </a:r>
            <a:r>
              <a:rPr lang="ru-RU" dirty="0"/>
              <a:t>14</a:t>
            </a:r>
            <a:r>
              <a:rPr lang="en-US" dirty="0"/>
              <a:t>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4" name="Текст 24">
            <a:extLst>
              <a:ext uri="{FF2B5EF4-FFF2-40B4-BE49-F238E27FC236}">
                <a16:creationId xmlns:a16="http://schemas.microsoft.com/office/drawing/2014/main" id="{28E856C4-65CA-0140-9469-E8BD6EAF0AD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24252" y="1469217"/>
            <a:ext cx="2157061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ункт1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15" name="Текст 24">
            <a:extLst>
              <a:ext uri="{FF2B5EF4-FFF2-40B4-BE49-F238E27FC236}">
                <a16:creationId xmlns:a16="http://schemas.microsoft.com/office/drawing/2014/main" id="{3448D4E6-5159-3244-98C5-2FD6AAEF434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26152" y="1469217"/>
            <a:ext cx="2191977" cy="5016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 lang="ru-RU" sz="2800" b="0" i="0" kern="1200" cap="none" spc="100" baseline="0">
                <a:solidFill>
                  <a:schemeClr val="tx1"/>
                </a:solidFill>
                <a:latin typeface="+mn-lt"/>
                <a:ea typeface="Beeline Sans V0.3 Regular" pitchFamily="2" charset="0"/>
                <a:cs typeface="Arial Black" charset="0"/>
              </a:defRPr>
            </a:lvl1pPr>
            <a:lvl2pPr marL="4572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2pPr>
            <a:lvl3pPr marL="9144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3pPr>
            <a:lvl4pPr marL="1371600" indent="0">
              <a:buNone/>
              <a:defRPr lang="ru-RU" sz="700" kern="1200" dirty="0" smtClean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4pPr>
            <a:lvl5pPr marL="1828800" indent="0">
              <a:buNone/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Beeline Sans V0.3 Regular" pitchFamily="2" charset="0"/>
                <a:ea typeface="Beeline Sans V0.3 Regular" pitchFamily="2" charset="0"/>
                <a:cs typeface="Arial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 err="1"/>
              <a:t>п</a:t>
            </a:r>
            <a:r>
              <a:rPr lang="ru-RU" dirty="0"/>
              <a:t>ункт2 28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0F5E72E8-52DC-7447-B8B2-CD5FF8F47CD0}"/>
              </a:ext>
            </a:extLst>
          </p:cNvPr>
          <p:cNvSpPr>
            <a:spLocks noGrp="1"/>
          </p:cNvSpPr>
          <p:nvPr>
            <p:ph type="dt" sz="half" idx="35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EBC65712-EF34-447A-9FD7-A381423AB0E0}" type="datetime1">
              <a:rPr lang="ru-RU" smtClean="0"/>
              <a:pPr/>
              <a:t>15.06.2026</a:t>
            </a:fld>
            <a:endParaRPr lang="ru-RU" dirty="0"/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83E50869-6093-884B-B7D9-5B09CA333E88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44B02C61-FCEC-6B42-A0CD-888A17564052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594DB5-E87E-4442-A8B6-5841274D5B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182442914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36.xml"/><Relationship Id="rId3" Type="http://schemas.openxmlformats.org/officeDocument/2006/relationships/slideLayout" Target="../slideLayouts/slideLayout13.xml"/><Relationship Id="rId21" Type="http://schemas.openxmlformats.org/officeDocument/2006/relationships/slideLayout" Target="../slideLayouts/slideLayout31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35.xml"/><Relationship Id="rId33" Type="http://schemas.openxmlformats.org/officeDocument/2006/relationships/image" Target="../media/image1.emf"/><Relationship Id="rId2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26.xml"/><Relationship Id="rId20" Type="http://schemas.openxmlformats.org/officeDocument/2006/relationships/slideLayout" Target="../slideLayouts/slideLayout30.xml"/><Relationship Id="rId29" Type="http://schemas.openxmlformats.org/officeDocument/2006/relationships/vmlDrawing" Target="../drawings/vmlDrawing2.v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34.xml"/><Relationship Id="rId32" Type="http://schemas.openxmlformats.org/officeDocument/2006/relationships/oleObject" Target="../embeddings/oleObject2.bin"/><Relationship Id="rId5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33.xml"/><Relationship Id="rId28" Type="http://schemas.openxmlformats.org/officeDocument/2006/relationships/theme" Target="../theme/theme2.xml"/><Relationship Id="rId10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29.xml"/><Relationship Id="rId31" Type="http://schemas.openxmlformats.org/officeDocument/2006/relationships/tags" Target="../tags/tag4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32.xml"/><Relationship Id="rId27" Type="http://schemas.openxmlformats.org/officeDocument/2006/relationships/slideLayout" Target="../slideLayouts/slideLayout37.xml"/><Relationship Id="rId30" Type="http://schemas.openxmlformats.org/officeDocument/2006/relationships/tags" Target="../tags/tag3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Объект 2" hidden="1"/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2475711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" name="Слайд think-cell" r:id="rId14" imgW="463" imgH="464" progId="TCLayout.ActiveDocument.1">
                  <p:embed/>
                </p:oleObj>
              </mc:Choice>
              <mc:Fallback>
                <p:oleObj name="Слайд think-cell" r:id="rId14" imgW="463" imgH="46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Date Placeholder 44"/>
          <p:cNvSpPr>
            <a:spLocks noGrp="1"/>
          </p:cNvSpPr>
          <p:nvPr>
            <p:ph type="dt" sz="half" idx="2"/>
          </p:nvPr>
        </p:nvSpPr>
        <p:spPr>
          <a:xfrm>
            <a:off x="7200900" y="6658673"/>
            <a:ext cx="1844676" cy="69707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lang="ru-RU" sz="700" b="0" i="0" kern="1200">
                <a:solidFill>
                  <a:schemeClr val="bg1">
                    <a:lumMod val="50000"/>
                  </a:schemeClr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</a:lstStyle>
          <a:p>
            <a:fld id="{EBC65712-EF34-447A-9FD7-A381423AB0E0}" type="datetime1">
              <a:rPr lang="ru-RU" smtClean="0"/>
              <a:pPr/>
              <a:t>15.06.2026</a:t>
            </a:fld>
            <a:endParaRPr lang="ru-RU" dirty="0"/>
          </a:p>
        </p:txBody>
      </p:sp>
      <p:sp>
        <p:nvSpPr>
          <p:cNvPr id="46" name="Slide Number Placeholder 45"/>
          <p:cNvSpPr>
            <a:spLocks noGrp="1"/>
          </p:cNvSpPr>
          <p:nvPr>
            <p:ph type="sldNum" sz="quarter" idx="4"/>
          </p:nvPr>
        </p:nvSpPr>
        <p:spPr>
          <a:xfrm>
            <a:off x="10440987" y="6001875"/>
            <a:ext cx="720726" cy="697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700" b="0" i="0">
                <a:solidFill>
                  <a:schemeClr val="bg1">
                    <a:lumMod val="50000"/>
                  </a:schemeClr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8C2397F-F942-DC46-9EA6-5BB12E6C8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363" y="228599"/>
            <a:ext cx="10369550" cy="995363"/>
          </a:xfrm>
          <a:prstGeom prst="rect">
            <a:avLst/>
          </a:prstGeom>
        </p:spPr>
        <p:txBody>
          <a:bodyPr vert="horz" wrap="none" lIns="0" tIns="0" rIns="0" bIns="108000" rtlCol="0" anchor="t">
            <a:noAutofit/>
          </a:bodyPr>
          <a:lstStyle/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D99B9253-9BC8-E447-9F4A-509310A383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6988" y="6001875"/>
            <a:ext cx="3602039" cy="6970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</a:lstStyle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  <a:p>
            <a:r>
              <a:rPr lang="ru-RU"/>
              <a:t>Ссылка на источник: www.link.com</a:t>
            </a:r>
          </a:p>
        </p:txBody>
      </p:sp>
    </p:spTree>
    <p:extLst>
      <p:ext uri="{BB962C8B-B14F-4D97-AF65-F5344CB8AC3E}">
        <p14:creationId xmlns:p14="http://schemas.microsoft.com/office/powerpoint/2010/main" val="382929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702" r:id="rId2"/>
    <p:sldLayoutId id="2147483691" r:id="rId3"/>
    <p:sldLayoutId id="2147483855" r:id="rId4"/>
    <p:sldLayoutId id="2147483739" r:id="rId5"/>
    <p:sldLayoutId id="2147483847" r:id="rId6"/>
    <p:sldLayoutId id="2147483848" r:id="rId7"/>
    <p:sldLayoutId id="2147483852" r:id="rId8"/>
    <p:sldLayoutId id="2147483853" r:id="rId9"/>
    <p:sldLayoutId id="2147483854" r:id="rId10"/>
  </p:sldLayoutIdLst>
  <p:transition>
    <p:fade/>
  </p:transition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lnSpc>
          <a:spcPts val="3300"/>
        </a:lnSpc>
        <a:spcBef>
          <a:spcPct val="0"/>
        </a:spcBef>
        <a:buNone/>
        <a:defRPr lang="ru-RU" sz="3100" b="0" i="0" kern="1200" cap="none" spc="100" baseline="0">
          <a:solidFill>
            <a:schemeClr val="tx1"/>
          </a:solidFill>
          <a:latin typeface="+mn-lt"/>
          <a:ea typeface="Beeline Sans V0.3 Regular" pitchFamily="2" charset="0"/>
          <a:cs typeface="Arial Black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>
          <p15:clr>
            <a:srgbClr val="FBAE40"/>
          </p15:clr>
        </p15:guide>
        <p15:guide id="2" pos="7258">
          <p15:clr>
            <a:srgbClr val="FBAE40"/>
          </p15:clr>
        </p15:guide>
        <p15:guide id="3" orient="horz">
          <p15:clr>
            <a:srgbClr val="FBAE40"/>
          </p15:clr>
        </p15:guide>
        <p15:guide id="4" orient="horz" pos="4082">
          <p15:clr>
            <a:srgbClr val="FBAE40"/>
          </p15:clr>
        </p15:guide>
        <p15:guide id="5" pos="227" userDrawn="1">
          <p15:clr>
            <a:srgbClr val="C35EA4"/>
          </p15:clr>
        </p15:guide>
        <p15:guide id="6" pos="1361" userDrawn="1">
          <p15:clr>
            <a:srgbClr val="5ACBF0"/>
          </p15:clr>
        </p15:guide>
        <p15:guide id="7" orient="horz" pos="227">
          <p15:clr>
            <a:srgbClr val="FDE53C"/>
          </p15:clr>
        </p15:guide>
        <p15:guide id="8" orient="horz" pos="3855">
          <p15:clr>
            <a:srgbClr val="FDE53C"/>
          </p15:clr>
        </p15:guide>
        <p15:guide id="36" orient="horz" pos="2041">
          <p15:clr>
            <a:srgbClr val="FDE53C"/>
          </p15:clr>
        </p15:guide>
        <p15:guide id="37" pos="454" userDrawn="1">
          <p15:clr>
            <a:srgbClr val="5ACBF0"/>
          </p15:clr>
        </p15:guide>
        <p15:guide id="38" pos="681" userDrawn="1">
          <p15:clr>
            <a:srgbClr val="5ACBF0"/>
          </p15:clr>
        </p15:guide>
        <p15:guide id="39" pos="907" userDrawn="1">
          <p15:clr>
            <a:srgbClr val="5ACBF0"/>
          </p15:clr>
        </p15:guide>
        <p15:guide id="40" pos="1134" userDrawn="1">
          <p15:clr>
            <a:srgbClr val="5ACBF0"/>
          </p15:clr>
        </p15:guide>
        <p15:guide id="41" pos="1588" userDrawn="1">
          <p15:clr>
            <a:srgbClr val="5ACBF0"/>
          </p15:clr>
        </p15:guide>
        <p15:guide id="42" pos="1815" userDrawn="1">
          <p15:clr>
            <a:srgbClr val="5ACBF0"/>
          </p15:clr>
        </p15:guide>
        <p15:guide id="43" pos="2041" userDrawn="1">
          <p15:clr>
            <a:srgbClr val="5ACBF0"/>
          </p15:clr>
        </p15:guide>
        <p15:guide id="44" pos="2268" userDrawn="1">
          <p15:clr>
            <a:srgbClr val="5ACBF0"/>
          </p15:clr>
        </p15:guide>
        <p15:guide id="46" pos="2949" userDrawn="1">
          <p15:clr>
            <a:srgbClr val="5ACBF0"/>
          </p15:clr>
        </p15:guide>
        <p15:guide id="48" pos="2495" userDrawn="1">
          <p15:clr>
            <a:srgbClr val="5ACBF0"/>
          </p15:clr>
        </p15:guide>
        <p15:guide id="49" pos="2722" userDrawn="1">
          <p15:clr>
            <a:srgbClr val="5ACBF0"/>
          </p15:clr>
        </p15:guide>
        <p15:guide id="50" pos="3629" userDrawn="1">
          <p15:clr>
            <a:srgbClr val="5ACBF0"/>
          </p15:clr>
        </p15:guide>
        <p15:guide id="51" pos="3402" userDrawn="1">
          <p15:clr>
            <a:srgbClr val="5ACBF0"/>
          </p15:clr>
        </p15:guide>
        <p15:guide id="52" pos="3175" userDrawn="1">
          <p15:clr>
            <a:srgbClr val="5ACBF0"/>
          </p15:clr>
        </p15:guide>
        <p15:guide id="53" pos="3856" userDrawn="1">
          <p15:clr>
            <a:srgbClr val="5ACBF0"/>
          </p15:clr>
        </p15:guide>
        <p15:guide id="54" pos="4083" userDrawn="1">
          <p15:clr>
            <a:srgbClr val="5ACBF0"/>
          </p15:clr>
        </p15:guide>
        <p15:guide id="55" pos="4309" userDrawn="1">
          <p15:clr>
            <a:srgbClr val="5ACBF0"/>
          </p15:clr>
        </p15:guide>
        <p15:guide id="56" pos="4536" userDrawn="1">
          <p15:clr>
            <a:srgbClr val="5ACBF0"/>
          </p15:clr>
        </p15:guide>
        <p15:guide id="57" pos="4763" userDrawn="1">
          <p15:clr>
            <a:srgbClr val="5ACBF0"/>
          </p15:clr>
        </p15:guide>
        <p15:guide id="58" pos="4990" userDrawn="1">
          <p15:clr>
            <a:srgbClr val="5ACBF0"/>
          </p15:clr>
        </p15:guide>
        <p15:guide id="59" pos="5217" userDrawn="1">
          <p15:clr>
            <a:srgbClr val="5ACBF0"/>
          </p15:clr>
        </p15:guide>
        <p15:guide id="60" pos="5443" userDrawn="1">
          <p15:clr>
            <a:srgbClr val="5ACBF0"/>
          </p15:clr>
        </p15:guide>
        <p15:guide id="61" pos="5670" userDrawn="1">
          <p15:clr>
            <a:srgbClr val="5ACBF0"/>
          </p15:clr>
        </p15:guide>
        <p15:guide id="62" pos="7031" userDrawn="1">
          <p15:clr>
            <a:srgbClr val="C35EA4"/>
          </p15:clr>
        </p15:guide>
        <p15:guide id="63" pos="5897" userDrawn="1">
          <p15:clr>
            <a:srgbClr val="5ACBF0"/>
          </p15:clr>
        </p15:guide>
        <p15:guide id="64" pos="6124" userDrawn="1">
          <p15:clr>
            <a:srgbClr val="5ACBF0"/>
          </p15:clr>
        </p15:guide>
        <p15:guide id="65" pos="6351" userDrawn="1">
          <p15:clr>
            <a:srgbClr val="5ACBF0"/>
          </p15:clr>
        </p15:guide>
        <p15:guide id="66" pos="6577" userDrawn="1">
          <p15:clr>
            <a:srgbClr val="5ACBF0"/>
          </p15:clr>
        </p15:guide>
        <p15:guide id="67" pos="6804" userDrawn="1">
          <p15:clr>
            <a:srgbClr val="5ACBF0"/>
          </p15:clr>
        </p15:guide>
        <p15:guide id="69" orient="horz" pos="612" userDrawn="1">
          <p15:clr>
            <a:srgbClr val="5ACBF0"/>
          </p15:clr>
        </p15:guide>
        <p15:guide id="70" orient="horz" pos="159" userDrawn="1">
          <p15:clr>
            <a:srgbClr val="FDE53C"/>
          </p15:clr>
        </p15:guide>
        <p15:guide id="71" orient="horz" pos="771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Объект 7" hidden="1"/>
          <p:cNvGraphicFramePr>
            <a:graphicFrameLocks noChangeAspect="1"/>
          </p:cNvGraphicFramePr>
          <p:nvPr userDrawn="1">
            <p:custDataLst>
              <p:tags r:id="rId30"/>
            </p:custDataLst>
            <p:extLst>
              <p:ext uri="{D42A27DB-BD31-4B8C-83A1-F6EECF244321}">
                <p14:modId xmlns:p14="http://schemas.microsoft.com/office/powerpoint/2010/main" val="4475556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5" name="Слайд think-cell" r:id="rId32" imgW="463" imgH="464" progId="TCLayout.ActiveDocument.1">
                  <p:embed/>
                </p:oleObj>
              </mc:Choice>
              <mc:Fallback>
                <p:oleObj name="Слайд think-cell" r:id="rId32" imgW="463" imgH="46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Прямоугольник 5" hidden="1"/>
          <p:cNvSpPr/>
          <p:nvPr userDrawn="1">
            <p:custDataLst>
              <p:tags r:id="rId3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en-US" sz="3100" b="0" i="0" baseline="0" dirty="0" err="1" smtClean="0">
              <a:latin typeface="Beeline Sans" panose="020B0500040202020204" pitchFamily="34" charset="-52"/>
              <a:ea typeface="Arial" charset="0"/>
              <a:cs typeface="Arial" charset="0"/>
              <a:sym typeface="Beeline Sans" panose="020B0500040202020204" pitchFamily="34" charset="-52"/>
            </a:endParaRPr>
          </a:p>
        </p:txBody>
      </p:sp>
      <p:sp>
        <p:nvSpPr>
          <p:cNvPr id="45" name="Date Placeholder 44"/>
          <p:cNvSpPr>
            <a:spLocks noGrp="1"/>
          </p:cNvSpPr>
          <p:nvPr>
            <p:ph type="dt" sz="half" idx="2"/>
          </p:nvPr>
        </p:nvSpPr>
        <p:spPr>
          <a:xfrm>
            <a:off x="7200900" y="6658673"/>
            <a:ext cx="1844676" cy="69707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lang="ru-RU" sz="700" b="0" i="0" kern="1200">
                <a:solidFill>
                  <a:schemeClr val="bg1">
                    <a:lumMod val="50000"/>
                  </a:schemeClr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</a:lstStyle>
          <a:p>
            <a:fld id="{EBC65712-EF34-447A-9FD7-A381423AB0E0}" type="datetime1">
              <a:rPr lang="ru-RU" smtClean="0"/>
              <a:pPr/>
              <a:t>15.06.2026</a:t>
            </a:fld>
            <a:endParaRPr lang="ru-RU" dirty="0"/>
          </a:p>
        </p:txBody>
      </p:sp>
      <p:sp>
        <p:nvSpPr>
          <p:cNvPr id="46" name="Slide Number Placeholder 45"/>
          <p:cNvSpPr>
            <a:spLocks noGrp="1"/>
          </p:cNvSpPr>
          <p:nvPr>
            <p:ph type="sldNum" sz="quarter" idx="4"/>
          </p:nvPr>
        </p:nvSpPr>
        <p:spPr>
          <a:xfrm>
            <a:off x="10440987" y="6001875"/>
            <a:ext cx="720726" cy="697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700" b="0" i="0">
                <a:solidFill>
                  <a:schemeClr val="bg1">
                    <a:lumMod val="50000"/>
                  </a:schemeClr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</a:lstStyle>
          <a:p>
            <a:fld id="{41EDA0AC-921D-4240-B96C-50D45375267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8C2397F-F942-DC46-9EA6-5BB12E6C8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364" y="228599"/>
            <a:ext cx="8279078" cy="995363"/>
          </a:xfrm>
          <a:prstGeom prst="rect">
            <a:avLst/>
          </a:prstGeom>
        </p:spPr>
        <p:txBody>
          <a:bodyPr vert="horz" wrap="square" lIns="0" tIns="0" rIns="0" bIns="108000" rtlCol="0" anchor="t">
            <a:noAutofit/>
          </a:bodyPr>
          <a:lstStyle/>
          <a:p>
            <a:r>
              <a:rPr lang="ru-RU" dirty="0" err="1"/>
              <a:t>заголов</a:t>
            </a:r>
            <a:r>
              <a:rPr lang="en-US" dirty="0" err="1"/>
              <a:t>о</a:t>
            </a:r>
            <a:r>
              <a:rPr lang="ru-RU" dirty="0"/>
              <a:t>к слайда. </a:t>
            </a:r>
            <a:r>
              <a:rPr lang="ru-RU" dirty="0" err="1"/>
              <a:t>b</a:t>
            </a:r>
            <a:r>
              <a:rPr lang="en-US" dirty="0" err="1"/>
              <a:t>eeline</a:t>
            </a:r>
            <a:r>
              <a:rPr lang="en-US" dirty="0"/>
              <a:t> sans. 31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D99B9253-9BC8-E447-9F4A-509310A383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6988" y="6001875"/>
            <a:ext cx="3602039" cy="6970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>
              <a:defRPr lang="ru-RU" sz="70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Beeline Sans V0.3 Regular" pitchFamily="2" charset="0"/>
                <a:cs typeface="Arial" charset="0"/>
              </a:defRPr>
            </a:lvl1pPr>
          </a:lstStyle>
          <a:p>
            <a:r>
              <a:rPr lang="ru-RU"/>
              <a:t>Ссылка на источник: www.link.com. 7pt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D37E1-4A2E-F34E-9597-9E5CF181B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6987" y="1266549"/>
            <a:ext cx="10784725" cy="4111625"/>
          </a:xfrm>
          <a:prstGeom prst="rect">
            <a:avLst/>
          </a:prstGeom>
        </p:spPr>
        <p:txBody>
          <a:bodyPr vert="horz" lIns="0" tIns="0" rIns="91440" bIns="45720" rtlCol="0">
            <a:noAutofit/>
          </a:bodyPr>
          <a:lstStyle/>
          <a:p>
            <a:pPr lvl="0"/>
            <a:r>
              <a:rPr lang="ru-RU" dirty="0"/>
              <a:t>текст слайда. </a:t>
            </a:r>
            <a:r>
              <a:rPr lang="en-US" dirty="0"/>
              <a:t>beeline sans. 14 </a:t>
            </a:r>
            <a:r>
              <a:rPr lang="en-US" dirty="0" err="1"/>
              <a:t>pt</a:t>
            </a:r>
            <a:endParaRPr lang="en-RU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AEF6501-BE74-7947-ACF8-A2C8FCFFFA6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951311" y="251407"/>
            <a:ext cx="2210400" cy="318654"/>
            <a:chOff x="-6416384" y="251406"/>
            <a:chExt cx="17747920" cy="2558564"/>
          </a:xfrm>
        </p:grpSpPr>
        <p:grpSp>
          <p:nvGrpSpPr>
            <p:cNvPr id="36" name="Graphic 5">
              <a:extLst>
                <a:ext uri="{FF2B5EF4-FFF2-40B4-BE49-F238E27FC236}">
                  <a16:creationId xmlns:a16="http://schemas.microsoft.com/office/drawing/2014/main" id="{A5A515FC-0276-B544-A7AF-5D9E11A625A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016924" y="594048"/>
              <a:ext cx="7314612" cy="1695600"/>
              <a:chOff x="6035237" y="3068380"/>
              <a:chExt cx="1367580" cy="317019"/>
            </a:xfrm>
            <a:solidFill>
              <a:srgbClr val="FFCA05"/>
            </a:solidFill>
          </p:grpSpPr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id="{B67CCC9E-C211-FB4F-952C-BE495E3700DE}"/>
                  </a:ext>
                </a:extLst>
              </p:cNvPr>
              <p:cNvSpPr/>
              <p:nvPr/>
            </p:nvSpPr>
            <p:spPr>
              <a:xfrm>
                <a:off x="6035237" y="3068380"/>
                <a:ext cx="217915" cy="317019"/>
              </a:xfrm>
              <a:custGeom>
                <a:avLst/>
                <a:gdLst>
                  <a:gd name="connsiteX0" fmla="*/ 217915 w 217915"/>
                  <a:gd name="connsiteY0" fmla="*/ 205164 h 317020"/>
                  <a:gd name="connsiteX1" fmla="*/ 109433 w 217915"/>
                  <a:gd name="connsiteY1" fmla="*/ 317020 h 317020"/>
                  <a:gd name="connsiteX2" fmla="*/ 0 w 217915"/>
                  <a:gd name="connsiteY2" fmla="*/ 178047 h 317020"/>
                  <a:gd name="connsiteX3" fmla="*/ 102683 w 217915"/>
                  <a:gd name="connsiteY3" fmla="*/ 12899 h 317020"/>
                  <a:gd name="connsiteX4" fmla="*/ 197759 w 217915"/>
                  <a:gd name="connsiteY4" fmla="*/ 0 h 317020"/>
                  <a:gd name="connsiteX5" fmla="*/ 197759 w 217915"/>
                  <a:gd name="connsiteY5" fmla="*/ 47078 h 317020"/>
                  <a:gd name="connsiteX6" fmla="*/ 109908 w 217915"/>
                  <a:gd name="connsiteY6" fmla="*/ 60353 h 317020"/>
                  <a:gd name="connsiteX7" fmla="*/ 45827 w 217915"/>
                  <a:gd name="connsiteY7" fmla="*/ 139820 h 317020"/>
                  <a:gd name="connsiteX8" fmla="*/ 122459 w 217915"/>
                  <a:gd name="connsiteY8" fmla="*/ 100275 h 317020"/>
                  <a:gd name="connsiteX9" fmla="*/ 217915 w 217915"/>
                  <a:gd name="connsiteY9" fmla="*/ 205164 h 317020"/>
                  <a:gd name="connsiteX10" fmla="*/ 47538 w 217915"/>
                  <a:gd name="connsiteY10" fmla="*/ 170044 h 317020"/>
                  <a:gd name="connsiteX11" fmla="*/ 47538 w 217915"/>
                  <a:gd name="connsiteY11" fmla="*/ 194901 h 317020"/>
                  <a:gd name="connsiteX12" fmla="*/ 109433 w 217915"/>
                  <a:gd name="connsiteY12" fmla="*/ 269096 h 317020"/>
                  <a:gd name="connsiteX13" fmla="*/ 172184 w 217915"/>
                  <a:gd name="connsiteY13" fmla="*/ 205164 h 317020"/>
                  <a:gd name="connsiteX14" fmla="*/ 112095 w 217915"/>
                  <a:gd name="connsiteY14" fmla="*/ 145187 h 317020"/>
                  <a:gd name="connsiteX15" fmla="*/ 47538 w 217915"/>
                  <a:gd name="connsiteY15" fmla="*/ 170044 h 317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7915" h="317020">
                    <a:moveTo>
                      <a:pt x="217915" y="205164"/>
                    </a:moveTo>
                    <a:cubicBezTo>
                      <a:pt x="217915" y="270037"/>
                      <a:pt x="177983" y="317020"/>
                      <a:pt x="109433" y="317020"/>
                    </a:cubicBezTo>
                    <a:cubicBezTo>
                      <a:pt x="40883" y="317020"/>
                      <a:pt x="0" y="270414"/>
                      <a:pt x="0" y="178047"/>
                    </a:cubicBezTo>
                    <a:cubicBezTo>
                      <a:pt x="0" y="80314"/>
                      <a:pt x="24245" y="24010"/>
                      <a:pt x="102683" y="12899"/>
                    </a:cubicBezTo>
                    <a:lnTo>
                      <a:pt x="197759" y="0"/>
                    </a:lnTo>
                    <a:lnTo>
                      <a:pt x="197759" y="47078"/>
                    </a:lnTo>
                    <a:lnTo>
                      <a:pt x="109908" y="60353"/>
                    </a:lnTo>
                    <a:cubicBezTo>
                      <a:pt x="63701" y="67415"/>
                      <a:pt x="49820" y="91895"/>
                      <a:pt x="45827" y="139820"/>
                    </a:cubicBezTo>
                    <a:cubicBezTo>
                      <a:pt x="62465" y="113175"/>
                      <a:pt x="89752" y="100275"/>
                      <a:pt x="122459" y="100275"/>
                    </a:cubicBezTo>
                    <a:cubicBezTo>
                      <a:pt x="180265" y="100369"/>
                      <a:pt x="217915" y="140291"/>
                      <a:pt x="217915" y="205164"/>
                    </a:cubicBezTo>
                    <a:close/>
                    <a:moveTo>
                      <a:pt x="47538" y="170044"/>
                    </a:moveTo>
                    <a:lnTo>
                      <a:pt x="47538" y="194901"/>
                    </a:lnTo>
                    <a:cubicBezTo>
                      <a:pt x="47538" y="242450"/>
                      <a:pt x="70357" y="269096"/>
                      <a:pt x="109433" y="269096"/>
                    </a:cubicBezTo>
                    <a:cubicBezTo>
                      <a:pt x="148034" y="269096"/>
                      <a:pt x="172184" y="246027"/>
                      <a:pt x="172184" y="205164"/>
                    </a:cubicBezTo>
                    <a:cubicBezTo>
                      <a:pt x="172184" y="164301"/>
                      <a:pt x="148890" y="145187"/>
                      <a:pt x="112095" y="145187"/>
                    </a:cubicBezTo>
                    <a:cubicBezTo>
                      <a:pt x="84713" y="145187"/>
                      <a:pt x="61419" y="153190"/>
                      <a:pt x="47538" y="170044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67CAAC14-6B68-2441-88D3-71C89B76495C}"/>
                  </a:ext>
                </a:extLst>
              </p:cNvPr>
              <p:cNvSpPr/>
              <p:nvPr/>
            </p:nvSpPr>
            <p:spPr>
              <a:xfrm>
                <a:off x="6295266" y="3163379"/>
                <a:ext cx="184257" cy="217593"/>
              </a:xfrm>
              <a:custGeom>
                <a:avLst/>
                <a:gdLst>
                  <a:gd name="connsiteX0" fmla="*/ 45732 w 184258"/>
                  <a:gd name="connsiteY0" fmla="*/ 143869 h 217592"/>
                  <a:gd name="connsiteX1" fmla="*/ 140808 w 184258"/>
                  <a:gd name="connsiteY1" fmla="*/ 0 h 217592"/>
                  <a:gd name="connsiteX2" fmla="*/ 184258 w 184258"/>
                  <a:gd name="connsiteY2" fmla="*/ 0 h 217592"/>
                  <a:gd name="connsiteX3" fmla="*/ 184258 w 184258"/>
                  <a:gd name="connsiteY3" fmla="*/ 217593 h 217592"/>
                  <a:gd name="connsiteX4" fmla="*/ 139002 w 184258"/>
                  <a:gd name="connsiteY4" fmla="*/ 217593 h 217592"/>
                  <a:gd name="connsiteX5" fmla="*/ 139002 w 184258"/>
                  <a:gd name="connsiteY5" fmla="*/ 71935 h 217592"/>
                  <a:gd name="connsiteX6" fmla="*/ 43450 w 184258"/>
                  <a:gd name="connsiteY6" fmla="*/ 217593 h 217592"/>
                  <a:gd name="connsiteX7" fmla="*/ 0 w 184258"/>
                  <a:gd name="connsiteY7" fmla="*/ 217593 h 217592"/>
                  <a:gd name="connsiteX8" fmla="*/ 0 w 184258"/>
                  <a:gd name="connsiteY8" fmla="*/ 0 h 217592"/>
                  <a:gd name="connsiteX9" fmla="*/ 45732 w 184258"/>
                  <a:gd name="connsiteY9" fmla="*/ 0 h 217592"/>
                  <a:gd name="connsiteX10" fmla="*/ 45732 w 184258"/>
                  <a:gd name="connsiteY10" fmla="*/ 143869 h 217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4258" h="217592">
                    <a:moveTo>
                      <a:pt x="45732" y="143869"/>
                    </a:moveTo>
                    <a:lnTo>
                      <a:pt x="140808" y="0"/>
                    </a:lnTo>
                    <a:lnTo>
                      <a:pt x="184258" y="0"/>
                    </a:lnTo>
                    <a:lnTo>
                      <a:pt x="184258" y="217593"/>
                    </a:lnTo>
                    <a:lnTo>
                      <a:pt x="139002" y="217593"/>
                    </a:lnTo>
                    <a:lnTo>
                      <a:pt x="139002" y="71935"/>
                    </a:lnTo>
                    <a:lnTo>
                      <a:pt x="43450" y="217593"/>
                    </a:lnTo>
                    <a:lnTo>
                      <a:pt x="0" y="217593"/>
                    </a:lnTo>
                    <a:lnTo>
                      <a:pt x="0" y="0"/>
                    </a:lnTo>
                    <a:lnTo>
                      <a:pt x="45732" y="0"/>
                    </a:lnTo>
                    <a:lnTo>
                      <a:pt x="45732" y="143869"/>
                    </a:ln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CC98B913-0B4E-D749-903D-E9D1BBDCFF36}"/>
                  </a:ext>
                </a:extLst>
              </p:cNvPr>
              <p:cNvSpPr/>
              <p:nvPr/>
            </p:nvSpPr>
            <p:spPr>
              <a:xfrm>
                <a:off x="6521649" y="3158861"/>
                <a:ext cx="174845" cy="226444"/>
              </a:xfrm>
              <a:custGeom>
                <a:avLst/>
                <a:gdLst>
                  <a:gd name="connsiteX0" fmla="*/ 131396 w 174845"/>
                  <a:gd name="connsiteY0" fmla="*/ 151966 h 226443"/>
                  <a:gd name="connsiteX1" fmla="*/ 91464 w 174845"/>
                  <a:gd name="connsiteY1" fmla="*/ 124850 h 226443"/>
                  <a:gd name="connsiteX2" fmla="*/ 58282 w 174845"/>
                  <a:gd name="connsiteY2" fmla="*/ 124850 h 226443"/>
                  <a:gd name="connsiteX3" fmla="*/ 58282 w 174845"/>
                  <a:gd name="connsiteY3" fmla="*/ 96415 h 226443"/>
                  <a:gd name="connsiteX4" fmla="*/ 89657 w 174845"/>
                  <a:gd name="connsiteY4" fmla="*/ 96415 h 226443"/>
                  <a:gd name="connsiteX5" fmla="*/ 125501 w 174845"/>
                  <a:gd name="connsiteY5" fmla="*/ 70616 h 226443"/>
                  <a:gd name="connsiteX6" fmla="*/ 86900 w 174845"/>
                  <a:gd name="connsiteY6" fmla="*/ 44818 h 226443"/>
                  <a:gd name="connsiteX7" fmla="*/ 40312 w 174845"/>
                  <a:gd name="connsiteY7" fmla="*/ 74571 h 226443"/>
                  <a:gd name="connsiteX8" fmla="*/ 1331 w 174845"/>
                  <a:gd name="connsiteY8" fmla="*/ 74571 h 226443"/>
                  <a:gd name="connsiteX9" fmla="*/ 88801 w 174845"/>
                  <a:gd name="connsiteY9" fmla="*/ 0 h 226443"/>
                  <a:gd name="connsiteX10" fmla="*/ 168571 w 174845"/>
                  <a:gd name="connsiteY10" fmla="*/ 63084 h 226443"/>
                  <a:gd name="connsiteX11" fmla="*/ 136245 w 174845"/>
                  <a:gd name="connsiteY11" fmla="*/ 107902 h 226443"/>
                  <a:gd name="connsiteX12" fmla="*/ 174846 w 174845"/>
                  <a:gd name="connsiteY12" fmla="*/ 156768 h 226443"/>
                  <a:gd name="connsiteX13" fmla="*/ 87851 w 174845"/>
                  <a:gd name="connsiteY13" fmla="*/ 226443 h 226443"/>
                  <a:gd name="connsiteX14" fmla="*/ 0 w 174845"/>
                  <a:gd name="connsiteY14" fmla="*/ 151402 h 226443"/>
                  <a:gd name="connsiteX15" fmla="*/ 39457 w 174845"/>
                  <a:gd name="connsiteY15" fmla="*/ 151402 h 226443"/>
                  <a:gd name="connsiteX16" fmla="*/ 86044 w 174845"/>
                  <a:gd name="connsiteY16" fmla="*/ 181155 h 226443"/>
                  <a:gd name="connsiteX17" fmla="*/ 131396 w 174845"/>
                  <a:gd name="connsiteY17" fmla="*/ 151966 h 226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74845" h="226443">
                    <a:moveTo>
                      <a:pt x="131396" y="151966"/>
                    </a:moveTo>
                    <a:cubicBezTo>
                      <a:pt x="131396" y="132853"/>
                      <a:pt x="117514" y="124850"/>
                      <a:pt x="91464" y="124850"/>
                    </a:cubicBezTo>
                    <a:lnTo>
                      <a:pt x="58282" y="124850"/>
                    </a:lnTo>
                    <a:lnTo>
                      <a:pt x="58282" y="96415"/>
                    </a:lnTo>
                    <a:lnTo>
                      <a:pt x="89657" y="96415"/>
                    </a:lnTo>
                    <a:cubicBezTo>
                      <a:pt x="113902" y="96415"/>
                      <a:pt x="125501" y="86623"/>
                      <a:pt x="125501" y="70616"/>
                    </a:cubicBezTo>
                    <a:cubicBezTo>
                      <a:pt x="125501" y="53292"/>
                      <a:pt x="112475" y="44818"/>
                      <a:pt x="86900" y="44818"/>
                    </a:cubicBezTo>
                    <a:cubicBezTo>
                      <a:pt x="60469" y="44818"/>
                      <a:pt x="44306" y="54987"/>
                      <a:pt x="40312" y="74571"/>
                    </a:cubicBezTo>
                    <a:lnTo>
                      <a:pt x="1331" y="74571"/>
                    </a:lnTo>
                    <a:cubicBezTo>
                      <a:pt x="6750" y="27964"/>
                      <a:pt x="39457" y="0"/>
                      <a:pt x="88801" y="0"/>
                    </a:cubicBezTo>
                    <a:cubicBezTo>
                      <a:pt x="137195" y="0"/>
                      <a:pt x="168571" y="23068"/>
                      <a:pt x="168571" y="63084"/>
                    </a:cubicBezTo>
                    <a:cubicBezTo>
                      <a:pt x="168571" y="84834"/>
                      <a:pt x="155545" y="102158"/>
                      <a:pt x="136245" y="107902"/>
                    </a:cubicBezTo>
                    <a:cubicBezTo>
                      <a:pt x="159538" y="113269"/>
                      <a:pt x="174846" y="130593"/>
                      <a:pt x="174846" y="156768"/>
                    </a:cubicBezTo>
                    <a:cubicBezTo>
                      <a:pt x="174846" y="202057"/>
                      <a:pt x="137195" y="226443"/>
                      <a:pt x="87851" y="226443"/>
                    </a:cubicBezTo>
                    <a:cubicBezTo>
                      <a:pt x="36699" y="226443"/>
                      <a:pt x="3993" y="200268"/>
                      <a:pt x="0" y="151402"/>
                    </a:cubicBezTo>
                    <a:lnTo>
                      <a:pt x="39457" y="151402"/>
                    </a:lnTo>
                    <a:cubicBezTo>
                      <a:pt x="42594" y="171833"/>
                      <a:pt x="58757" y="181155"/>
                      <a:pt x="86044" y="181155"/>
                    </a:cubicBezTo>
                    <a:cubicBezTo>
                      <a:pt x="113521" y="181249"/>
                      <a:pt x="131396" y="171927"/>
                      <a:pt x="131396" y="151966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4F0497D0-AC46-6C41-A366-A96500D7D5DF}"/>
                  </a:ext>
                </a:extLst>
              </p:cNvPr>
              <p:cNvSpPr/>
              <p:nvPr/>
            </p:nvSpPr>
            <p:spPr>
              <a:xfrm>
                <a:off x="6738233" y="3163381"/>
                <a:ext cx="181596" cy="217593"/>
              </a:xfrm>
              <a:custGeom>
                <a:avLst/>
                <a:gdLst>
                  <a:gd name="connsiteX0" fmla="*/ 135864 w 181596"/>
                  <a:gd name="connsiteY0" fmla="*/ 128804 h 217592"/>
                  <a:gd name="connsiteX1" fmla="*/ 45732 w 181596"/>
                  <a:gd name="connsiteY1" fmla="*/ 128804 h 217592"/>
                  <a:gd name="connsiteX2" fmla="*/ 45732 w 181596"/>
                  <a:gd name="connsiteY2" fmla="*/ 217593 h 217592"/>
                  <a:gd name="connsiteX3" fmla="*/ 0 w 181596"/>
                  <a:gd name="connsiteY3" fmla="*/ 217593 h 217592"/>
                  <a:gd name="connsiteX4" fmla="*/ 0 w 181596"/>
                  <a:gd name="connsiteY4" fmla="*/ 0 h 217592"/>
                  <a:gd name="connsiteX5" fmla="*/ 45732 w 181596"/>
                  <a:gd name="connsiteY5" fmla="*/ 0 h 217592"/>
                  <a:gd name="connsiteX6" fmla="*/ 45732 w 181596"/>
                  <a:gd name="connsiteY6" fmla="*/ 82103 h 217592"/>
                  <a:gd name="connsiteX7" fmla="*/ 135864 w 181596"/>
                  <a:gd name="connsiteY7" fmla="*/ 82103 h 217592"/>
                  <a:gd name="connsiteX8" fmla="*/ 135864 w 181596"/>
                  <a:gd name="connsiteY8" fmla="*/ 0 h 217592"/>
                  <a:gd name="connsiteX9" fmla="*/ 181596 w 181596"/>
                  <a:gd name="connsiteY9" fmla="*/ 0 h 217592"/>
                  <a:gd name="connsiteX10" fmla="*/ 181596 w 181596"/>
                  <a:gd name="connsiteY10" fmla="*/ 217593 h 217592"/>
                  <a:gd name="connsiteX11" fmla="*/ 135864 w 181596"/>
                  <a:gd name="connsiteY11" fmla="*/ 217593 h 217592"/>
                  <a:gd name="connsiteX12" fmla="*/ 135864 w 181596"/>
                  <a:gd name="connsiteY12" fmla="*/ 128804 h 217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81596" h="217592">
                    <a:moveTo>
                      <a:pt x="135864" y="128804"/>
                    </a:moveTo>
                    <a:lnTo>
                      <a:pt x="45732" y="128804"/>
                    </a:lnTo>
                    <a:lnTo>
                      <a:pt x="45732" y="217593"/>
                    </a:lnTo>
                    <a:lnTo>
                      <a:pt x="0" y="217593"/>
                    </a:lnTo>
                    <a:lnTo>
                      <a:pt x="0" y="0"/>
                    </a:lnTo>
                    <a:lnTo>
                      <a:pt x="45732" y="0"/>
                    </a:lnTo>
                    <a:lnTo>
                      <a:pt x="45732" y="82103"/>
                    </a:lnTo>
                    <a:lnTo>
                      <a:pt x="135864" y="82103"/>
                    </a:lnTo>
                    <a:lnTo>
                      <a:pt x="135864" y="0"/>
                    </a:lnTo>
                    <a:lnTo>
                      <a:pt x="181596" y="0"/>
                    </a:lnTo>
                    <a:lnTo>
                      <a:pt x="181596" y="217593"/>
                    </a:lnTo>
                    <a:lnTo>
                      <a:pt x="135864" y="217593"/>
                    </a:lnTo>
                    <a:lnTo>
                      <a:pt x="135864" y="128804"/>
                    </a:ln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840512A8-B167-C547-9DC0-862532049103}"/>
                  </a:ext>
                </a:extLst>
              </p:cNvPr>
              <p:cNvSpPr/>
              <p:nvPr/>
            </p:nvSpPr>
            <p:spPr>
              <a:xfrm>
                <a:off x="6962043" y="3158861"/>
                <a:ext cx="208502" cy="226536"/>
              </a:xfrm>
              <a:custGeom>
                <a:avLst/>
                <a:gdLst>
                  <a:gd name="connsiteX0" fmla="*/ 104014 w 208502"/>
                  <a:gd name="connsiteY0" fmla="*/ 226537 h 226537"/>
                  <a:gd name="connsiteX1" fmla="*/ 0 w 208502"/>
                  <a:gd name="connsiteY1" fmla="*/ 113269 h 226537"/>
                  <a:gd name="connsiteX2" fmla="*/ 104964 w 208502"/>
                  <a:gd name="connsiteY2" fmla="*/ 0 h 226537"/>
                  <a:gd name="connsiteX3" fmla="*/ 208503 w 208502"/>
                  <a:gd name="connsiteY3" fmla="*/ 114963 h 226537"/>
                  <a:gd name="connsiteX4" fmla="*/ 208027 w 208502"/>
                  <a:gd name="connsiteY4" fmla="*/ 124285 h 226537"/>
                  <a:gd name="connsiteX5" fmla="*/ 45256 w 208502"/>
                  <a:gd name="connsiteY5" fmla="*/ 124285 h 226537"/>
                  <a:gd name="connsiteX6" fmla="*/ 104869 w 208502"/>
                  <a:gd name="connsiteY6" fmla="*/ 181531 h 226537"/>
                  <a:gd name="connsiteX7" fmla="*/ 162296 w 208502"/>
                  <a:gd name="connsiteY7" fmla="*/ 152626 h 226537"/>
                  <a:gd name="connsiteX8" fmla="*/ 203559 w 208502"/>
                  <a:gd name="connsiteY8" fmla="*/ 152626 h 226537"/>
                  <a:gd name="connsiteX9" fmla="*/ 104014 w 208502"/>
                  <a:gd name="connsiteY9" fmla="*/ 226537 h 226537"/>
                  <a:gd name="connsiteX10" fmla="*/ 46207 w 208502"/>
                  <a:gd name="connsiteY10" fmla="*/ 94626 h 226537"/>
                  <a:gd name="connsiteX11" fmla="*/ 162771 w 208502"/>
                  <a:gd name="connsiteY11" fmla="*/ 94626 h 226537"/>
                  <a:gd name="connsiteX12" fmla="*/ 104964 w 208502"/>
                  <a:gd name="connsiteY12" fmla="*/ 44912 h 226537"/>
                  <a:gd name="connsiteX13" fmla="*/ 46207 w 208502"/>
                  <a:gd name="connsiteY13" fmla="*/ 94626 h 226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8502" h="226537">
                    <a:moveTo>
                      <a:pt x="104014" y="226537"/>
                    </a:moveTo>
                    <a:cubicBezTo>
                      <a:pt x="42594" y="226537"/>
                      <a:pt x="0" y="178612"/>
                      <a:pt x="0" y="113269"/>
                    </a:cubicBezTo>
                    <a:cubicBezTo>
                      <a:pt x="0" y="47925"/>
                      <a:pt x="43070" y="0"/>
                      <a:pt x="104964" y="0"/>
                    </a:cubicBezTo>
                    <a:cubicBezTo>
                      <a:pt x="166859" y="0"/>
                      <a:pt x="208503" y="46136"/>
                      <a:pt x="208503" y="114963"/>
                    </a:cubicBezTo>
                    <a:cubicBezTo>
                      <a:pt x="208503" y="116752"/>
                      <a:pt x="208027" y="122496"/>
                      <a:pt x="208027" y="124285"/>
                    </a:cubicBezTo>
                    <a:lnTo>
                      <a:pt x="45256" y="124285"/>
                    </a:lnTo>
                    <a:cubicBezTo>
                      <a:pt x="48869" y="160252"/>
                      <a:pt x="71307" y="181531"/>
                      <a:pt x="104869" y="181531"/>
                    </a:cubicBezTo>
                    <a:cubicBezTo>
                      <a:pt x="135389" y="181531"/>
                      <a:pt x="153739" y="169950"/>
                      <a:pt x="162296" y="152626"/>
                    </a:cubicBezTo>
                    <a:lnTo>
                      <a:pt x="203559" y="152626"/>
                    </a:lnTo>
                    <a:cubicBezTo>
                      <a:pt x="194146" y="192830"/>
                      <a:pt x="163627" y="226537"/>
                      <a:pt x="104014" y="226537"/>
                    </a:cubicBezTo>
                    <a:close/>
                    <a:moveTo>
                      <a:pt x="46207" y="94626"/>
                    </a:moveTo>
                    <a:lnTo>
                      <a:pt x="162771" y="94626"/>
                    </a:lnTo>
                    <a:cubicBezTo>
                      <a:pt x="158302" y="65344"/>
                      <a:pt x="139002" y="44912"/>
                      <a:pt x="104964" y="44912"/>
                    </a:cubicBezTo>
                    <a:cubicBezTo>
                      <a:pt x="73114" y="44912"/>
                      <a:pt x="52007" y="63178"/>
                      <a:pt x="46207" y="94626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489E5C85-BF65-2744-919B-08D7FAD8393D}"/>
                  </a:ext>
                </a:extLst>
              </p:cNvPr>
              <p:cNvSpPr/>
              <p:nvPr/>
            </p:nvSpPr>
            <p:spPr>
              <a:xfrm>
                <a:off x="7198783" y="3158861"/>
                <a:ext cx="204034" cy="226444"/>
              </a:xfrm>
              <a:custGeom>
                <a:avLst/>
                <a:gdLst>
                  <a:gd name="connsiteX0" fmla="*/ 204034 w 204034"/>
                  <a:gd name="connsiteY0" fmla="*/ 79844 h 226443"/>
                  <a:gd name="connsiteX1" fmla="*/ 163246 w 204034"/>
                  <a:gd name="connsiteY1" fmla="*/ 79844 h 226443"/>
                  <a:gd name="connsiteX2" fmla="*/ 106295 w 204034"/>
                  <a:gd name="connsiteY2" fmla="*/ 48773 h 226443"/>
                  <a:gd name="connsiteX3" fmla="*/ 45732 w 204034"/>
                  <a:gd name="connsiteY3" fmla="*/ 112704 h 226443"/>
                  <a:gd name="connsiteX4" fmla="*/ 106295 w 204034"/>
                  <a:gd name="connsiteY4" fmla="*/ 177577 h 226443"/>
                  <a:gd name="connsiteX5" fmla="*/ 163246 w 204034"/>
                  <a:gd name="connsiteY5" fmla="*/ 146976 h 226443"/>
                  <a:gd name="connsiteX6" fmla="*/ 204034 w 204034"/>
                  <a:gd name="connsiteY6" fmla="*/ 146976 h 226443"/>
                  <a:gd name="connsiteX7" fmla="*/ 105820 w 204034"/>
                  <a:gd name="connsiteY7" fmla="*/ 226443 h 226443"/>
                  <a:gd name="connsiteX8" fmla="*/ 0 w 204034"/>
                  <a:gd name="connsiteY8" fmla="*/ 112798 h 226443"/>
                  <a:gd name="connsiteX9" fmla="*/ 105820 w 204034"/>
                  <a:gd name="connsiteY9" fmla="*/ 0 h 226443"/>
                  <a:gd name="connsiteX10" fmla="*/ 204034 w 204034"/>
                  <a:gd name="connsiteY10" fmla="*/ 79844 h 2264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04034" h="226443">
                    <a:moveTo>
                      <a:pt x="204034" y="79844"/>
                    </a:moveTo>
                    <a:lnTo>
                      <a:pt x="163246" y="79844"/>
                    </a:lnTo>
                    <a:cubicBezTo>
                      <a:pt x="157447" y="61201"/>
                      <a:pt x="139477" y="48773"/>
                      <a:pt x="106295" y="48773"/>
                    </a:cubicBezTo>
                    <a:cubicBezTo>
                      <a:pt x="68645" y="48773"/>
                      <a:pt x="45732" y="74948"/>
                      <a:pt x="45732" y="112704"/>
                    </a:cubicBezTo>
                    <a:cubicBezTo>
                      <a:pt x="45732" y="150931"/>
                      <a:pt x="68645" y="177577"/>
                      <a:pt x="106295" y="177577"/>
                    </a:cubicBezTo>
                    <a:cubicBezTo>
                      <a:pt x="139477" y="177577"/>
                      <a:pt x="157447" y="164678"/>
                      <a:pt x="163246" y="146976"/>
                    </a:cubicBezTo>
                    <a:lnTo>
                      <a:pt x="204034" y="146976"/>
                    </a:lnTo>
                    <a:cubicBezTo>
                      <a:pt x="195097" y="195843"/>
                      <a:pt x="159158" y="226443"/>
                      <a:pt x="105820" y="226443"/>
                    </a:cubicBezTo>
                    <a:cubicBezTo>
                      <a:pt x="40788" y="226443"/>
                      <a:pt x="0" y="176729"/>
                      <a:pt x="0" y="112798"/>
                    </a:cubicBezTo>
                    <a:cubicBezTo>
                      <a:pt x="0" y="49338"/>
                      <a:pt x="40788" y="0"/>
                      <a:pt x="105820" y="0"/>
                    </a:cubicBezTo>
                    <a:cubicBezTo>
                      <a:pt x="159158" y="-94"/>
                      <a:pt x="195002" y="30977"/>
                      <a:pt x="204034" y="79844"/>
                    </a:cubicBezTo>
                    <a:close/>
                  </a:path>
                </a:pathLst>
              </a:custGeom>
              <a:solidFill>
                <a:srgbClr val="FFCA05"/>
              </a:solidFill>
              <a:ln w="949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</p:grpSp>
        <p:grpSp>
          <p:nvGrpSpPr>
            <p:cNvPr id="41" name="Graphic 6">
              <a:extLst>
                <a:ext uri="{FF2B5EF4-FFF2-40B4-BE49-F238E27FC236}">
                  <a16:creationId xmlns:a16="http://schemas.microsoft.com/office/drawing/2014/main" id="{481EF5B3-B50F-A042-B3FD-3E5323E6D095}"/>
                </a:ext>
              </a:extLst>
            </p:cNvPr>
            <p:cNvGrpSpPr/>
            <p:nvPr/>
          </p:nvGrpSpPr>
          <p:grpSpPr>
            <a:xfrm>
              <a:off x="-3634402" y="594048"/>
              <a:ext cx="7151384" cy="1695600"/>
              <a:chOff x="5858663" y="539363"/>
              <a:chExt cx="3733569" cy="884382"/>
            </a:xfrm>
            <a:solidFill>
              <a:srgbClr val="000000"/>
            </a:solidFill>
          </p:grpSpPr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5E720A9F-2566-DA4F-BF8C-6A1BD33E3A59}"/>
                  </a:ext>
                </a:extLst>
              </p:cNvPr>
              <p:cNvSpPr/>
              <p:nvPr/>
            </p:nvSpPr>
            <p:spPr>
              <a:xfrm>
                <a:off x="8518665" y="593100"/>
                <a:ext cx="368031" cy="166148"/>
              </a:xfrm>
              <a:custGeom>
                <a:avLst/>
                <a:gdLst>
                  <a:gd name="connsiteX0" fmla="*/ 184777 w 368031"/>
                  <a:gd name="connsiteY0" fmla="*/ 166148 h 166148"/>
                  <a:gd name="connsiteX1" fmla="*/ 368032 w 368031"/>
                  <a:gd name="connsiteY1" fmla="*/ 0 h 166148"/>
                  <a:gd name="connsiteX2" fmla="*/ 270556 w 368031"/>
                  <a:gd name="connsiteY2" fmla="*/ 0 h 166148"/>
                  <a:gd name="connsiteX3" fmla="*/ 184872 w 368031"/>
                  <a:gd name="connsiteY3" fmla="*/ 60383 h 166148"/>
                  <a:gd name="connsiteX4" fmla="*/ 97476 w 368031"/>
                  <a:gd name="connsiteY4" fmla="*/ 0 h 166148"/>
                  <a:gd name="connsiteX5" fmla="*/ 0 w 368031"/>
                  <a:gd name="connsiteY5" fmla="*/ 0 h 166148"/>
                  <a:gd name="connsiteX6" fmla="*/ 184777 w 368031"/>
                  <a:gd name="connsiteY6" fmla="*/ 166148 h 166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68031" h="166148">
                    <a:moveTo>
                      <a:pt x="184777" y="166148"/>
                    </a:moveTo>
                    <a:cubicBezTo>
                      <a:pt x="283964" y="166148"/>
                      <a:pt x="354527" y="114120"/>
                      <a:pt x="368032" y="0"/>
                    </a:cubicBezTo>
                    <a:lnTo>
                      <a:pt x="270556" y="0"/>
                    </a:lnTo>
                    <a:cubicBezTo>
                      <a:pt x="260475" y="40255"/>
                      <a:pt x="236891" y="60383"/>
                      <a:pt x="184872" y="60383"/>
                    </a:cubicBezTo>
                    <a:cubicBezTo>
                      <a:pt x="132758" y="60383"/>
                      <a:pt x="105845" y="40255"/>
                      <a:pt x="97476" y="0"/>
                    </a:cubicBezTo>
                    <a:lnTo>
                      <a:pt x="0" y="0"/>
                    </a:lnTo>
                    <a:cubicBezTo>
                      <a:pt x="13314" y="114120"/>
                      <a:pt x="85589" y="166148"/>
                      <a:pt x="184777" y="166148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6E77C9A1-6A8C-1648-B2ED-CAA41B5BAE91}"/>
                  </a:ext>
                </a:extLst>
              </p:cNvPr>
              <p:cNvSpPr/>
              <p:nvPr/>
            </p:nvSpPr>
            <p:spPr>
              <a:xfrm>
                <a:off x="6579415" y="811276"/>
                <a:ext cx="497555" cy="600791"/>
              </a:xfrm>
              <a:custGeom>
                <a:avLst/>
                <a:gdLst>
                  <a:gd name="connsiteX0" fmla="*/ 122677 w 497555"/>
                  <a:gd name="connsiteY0" fmla="*/ 412142 h 600791"/>
                  <a:gd name="connsiteX1" fmla="*/ 122677 w 497555"/>
                  <a:gd name="connsiteY1" fmla="*/ 0 h 600791"/>
                  <a:gd name="connsiteX2" fmla="*/ 0 w 497555"/>
                  <a:gd name="connsiteY2" fmla="*/ 0 h 600791"/>
                  <a:gd name="connsiteX3" fmla="*/ 0 w 497555"/>
                  <a:gd name="connsiteY3" fmla="*/ 600791 h 600791"/>
                  <a:gd name="connsiteX4" fmla="*/ 127813 w 497555"/>
                  <a:gd name="connsiteY4" fmla="*/ 600791 h 600791"/>
                  <a:gd name="connsiteX5" fmla="*/ 374878 w 497555"/>
                  <a:gd name="connsiteY5" fmla="*/ 181719 h 600791"/>
                  <a:gd name="connsiteX6" fmla="*/ 374878 w 497555"/>
                  <a:gd name="connsiteY6" fmla="*/ 600791 h 600791"/>
                  <a:gd name="connsiteX7" fmla="*/ 497556 w 497555"/>
                  <a:gd name="connsiteY7" fmla="*/ 600791 h 600791"/>
                  <a:gd name="connsiteX8" fmla="*/ 497556 w 497555"/>
                  <a:gd name="connsiteY8" fmla="*/ 0 h 600791"/>
                  <a:gd name="connsiteX9" fmla="*/ 369838 w 497555"/>
                  <a:gd name="connsiteY9" fmla="*/ 0 h 600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555" h="600791">
                    <a:moveTo>
                      <a:pt x="122677" y="412142"/>
                    </a:moveTo>
                    <a:lnTo>
                      <a:pt x="122677" y="0"/>
                    </a:lnTo>
                    <a:lnTo>
                      <a:pt x="0" y="0"/>
                    </a:lnTo>
                    <a:lnTo>
                      <a:pt x="0" y="600791"/>
                    </a:lnTo>
                    <a:lnTo>
                      <a:pt x="127813" y="600791"/>
                    </a:lnTo>
                    <a:lnTo>
                      <a:pt x="374878" y="181719"/>
                    </a:lnTo>
                    <a:lnTo>
                      <a:pt x="374878" y="600791"/>
                    </a:lnTo>
                    <a:lnTo>
                      <a:pt x="497556" y="600791"/>
                    </a:lnTo>
                    <a:lnTo>
                      <a:pt x="497556" y="0"/>
                    </a:lnTo>
                    <a:lnTo>
                      <a:pt x="36983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B10BD1A8-CB41-0448-90DC-6052675A7226}"/>
                  </a:ext>
                </a:extLst>
              </p:cNvPr>
              <p:cNvSpPr/>
              <p:nvPr/>
            </p:nvSpPr>
            <p:spPr>
              <a:xfrm>
                <a:off x="5858663" y="539363"/>
                <a:ext cx="598455" cy="884382"/>
              </a:xfrm>
              <a:custGeom>
                <a:avLst/>
                <a:gdLst>
                  <a:gd name="connsiteX0" fmla="*/ 334557 w 598455"/>
                  <a:gd name="connsiteY0" fmla="*/ 276945 h 884382"/>
                  <a:gd name="connsiteX1" fmla="*/ 111551 w 598455"/>
                  <a:gd name="connsiteY1" fmla="*/ 406066 h 884382"/>
                  <a:gd name="connsiteX2" fmla="*/ 302604 w 598455"/>
                  <a:gd name="connsiteY2" fmla="*/ 167857 h 884382"/>
                  <a:gd name="connsiteX3" fmla="*/ 548053 w 598455"/>
                  <a:gd name="connsiteY3" fmla="*/ 134248 h 884382"/>
                  <a:gd name="connsiteX4" fmla="*/ 537973 w 598455"/>
                  <a:gd name="connsiteY4" fmla="*/ 0 h 884382"/>
                  <a:gd name="connsiteX5" fmla="*/ 282443 w 598455"/>
                  <a:gd name="connsiteY5" fmla="*/ 35223 h 884382"/>
                  <a:gd name="connsiteX6" fmla="*/ 0 w 598455"/>
                  <a:gd name="connsiteY6" fmla="*/ 501767 h 884382"/>
                  <a:gd name="connsiteX7" fmla="*/ 302604 w 598455"/>
                  <a:gd name="connsiteY7" fmla="*/ 884382 h 884382"/>
                  <a:gd name="connsiteX8" fmla="*/ 598455 w 598455"/>
                  <a:gd name="connsiteY8" fmla="*/ 563859 h 884382"/>
                  <a:gd name="connsiteX9" fmla="*/ 334557 w 598455"/>
                  <a:gd name="connsiteY9" fmla="*/ 276945 h 884382"/>
                  <a:gd name="connsiteX10" fmla="*/ 302604 w 598455"/>
                  <a:gd name="connsiteY10" fmla="*/ 751844 h 884382"/>
                  <a:gd name="connsiteX11" fmla="*/ 126101 w 598455"/>
                  <a:gd name="connsiteY11" fmla="*/ 550472 h 884382"/>
                  <a:gd name="connsiteX12" fmla="*/ 126101 w 598455"/>
                  <a:gd name="connsiteY12" fmla="*/ 488380 h 884382"/>
                  <a:gd name="connsiteX13" fmla="*/ 302604 w 598455"/>
                  <a:gd name="connsiteY13" fmla="*/ 404452 h 884382"/>
                  <a:gd name="connsiteX14" fmla="*/ 472355 w 598455"/>
                  <a:gd name="connsiteY14" fmla="*/ 563859 h 884382"/>
                  <a:gd name="connsiteX15" fmla="*/ 302604 w 598455"/>
                  <a:gd name="connsiteY15" fmla="*/ 751844 h 884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98455" h="884382">
                    <a:moveTo>
                      <a:pt x="334557" y="276945"/>
                    </a:moveTo>
                    <a:cubicBezTo>
                      <a:pt x="237366" y="276945"/>
                      <a:pt x="154440" y="322137"/>
                      <a:pt x="111551" y="406066"/>
                    </a:cubicBezTo>
                    <a:cubicBezTo>
                      <a:pt x="117637" y="269919"/>
                      <a:pt x="144740" y="188934"/>
                      <a:pt x="302604" y="167857"/>
                    </a:cubicBezTo>
                    <a:lnTo>
                      <a:pt x="548053" y="134248"/>
                    </a:lnTo>
                    <a:lnTo>
                      <a:pt x="537973" y="0"/>
                    </a:lnTo>
                    <a:lnTo>
                      <a:pt x="282443" y="35223"/>
                    </a:lnTo>
                    <a:cubicBezTo>
                      <a:pt x="62194" y="65415"/>
                      <a:pt x="0" y="234981"/>
                      <a:pt x="0" y="501767"/>
                    </a:cubicBezTo>
                    <a:cubicBezTo>
                      <a:pt x="0" y="735039"/>
                      <a:pt x="105940" y="884382"/>
                      <a:pt x="302604" y="884382"/>
                    </a:cubicBezTo>
                    <a:cubicBezTo>
                      <a:pt x="494227" y="884382"/>
                      <a:pt x="598455" y="736653"/>
                      <a:pt x="598455" y="563859"/>
                    </a:cubicBezTo>
                    <a:cubicBezTo>
                      <a:pt x="598455" y="391065"/>
                      <a:pt x="482530" y="276945"/>
                      <a:pt x="334557" y="276945"/>
                    </a:cubicBezTo>
                    <a:close/>
                    <a:moveTo>
                      <a:pt x="302604" y="751844"/>
                    </a:moveTo>
                    <a:cubicBezTo>
                      <a:pt x="191624" y="751844"/>
                      <a:pt x="126101" y="671333"/>
                      <a:pt x="126101" y="550472"/>
                    </a:cubicBezTo>
                    <a:lnTo>
                      <a:pt x="126101" y="488380"/>
                    </a:lnTo>
                    <a:cubicBezTo>
                      <a:pt x="149590" y="441384"/>
                      <a:pt x="211880" y="404452"/>
                      <a:pt x="302604" y="404452"/>
                    </a:cubicBezTo>
                    <a:cubicBezTo>
                      <a:pt x="398463" y="404452"/>
                      <a:pt x="472355" y="449739"/>
                      <a:pt x="472355" y="563859"/>
                    </a:cubicBezTo>
                    <a:cubicBezTo>
                      <a:pt x="472355" y="677979"/>
                      <a:pt x="413584" y="751844"/>
                      <a:pt x="302604" y="751844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 dirty="0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2C25CEB4-5367-D24D-83ED-5F6A20235682}"/>
                  </a:ext>
                </a:extLst>
              </p:cNvPr>
              <p:cNvSpPr/>
              <p:nvPr/>
            </p:nvSpPr>
            <p:spPr>
              <a:xfrm>
                <a:off x="9108086" y="811276"/>
                <a:ext cx="484146" cy="600791"/>
              </a:xfrm>
              <a:custGeom>
                <a:avLst/>
                <a:gdLst>
                  <a:gd name="connsiteX0" fmla="*/ 361375 w 484146"/>
                  <a:gd name="connsiteY0" fmla="*/ 0 h 600791"/>
                  <a:gd name="connsiteX1" fmla="*/ 361375 w 484146"/>
                  <a:gd name="connsiteY1" fmla="*/ 224822 h 600791"/>
                  <a:gd name="connsiteX2" fmla="*/ 122677 w 484146"/>
                  <a:gd name="connsiteY2" fmla="*/ 224822 h 600791"/>
                  <a:gd name="connsiteX3" fmla="*/ 122677 w 484146"/>
                  <a:gd name="connsiteY3" fmla="*/ 0 h 600791"/>
                  <a:gd name="connsiteX4" fmla="*/ 0 w 484146"/>
                  <a:gd name="connsiteY4" fmla="*/ 0 h 600791"/>
                  <a:gd name="connsiteX5" fmla="*/ 0 w 484146"/>
                  <a:gd name="connsiteY5" fmla="*/ 600791 h 600791"/>
                  <a:gd name="connsiteX6" fmla="*/ 122677 w 484146"/>
                  <a:gd name="connsiteY6" fmla="*/ 600791 h 600791"/>
                  <a:gd name="connsiteX7" fmla="*/ 122677 w 484146"/>
                  <a:gd name="connsiteY7" fmla="*/ 349006 h 600791"/>
                  <a:gd name="connsiteX8" fmla="*/ 361375 w 484146"/>
                  <a:gd name="connsiteY8" fmla="*/ 349006 h 600791"/>
                  <a:gd name="connsiteX9" fmla="*/ 361375 w 484146"/>
                  <a:gd name="connsiteY9" fmla="*/ 600791 h 600791"/>
                  <a:gd name="connsiteX10" fmla="*/ 484147 w 484146"/>
                  <a:gd name="connsiteY10" fmla="*/ 600791 h 600791"/>
                  <a:gd name="connsiteX11" fmla="*/ 484147 w 484146"/>
                  <a:gd name="connsiteY11" fmla="*/ 0 h 600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84146" h="600791">
                    <a:moveTo>
                      <a:pt x="361375" y="0"/>
                    </a:moveTo>
                    <a:lnTo>
                      <a:pt x="361375" y="224822"/>
                    </a:lnTo>
                    <a:lnTo>
                      <a:pt x="122677" y="224822"/>
                    </a:lnTo>
                    <a:lnTo>
                      <a:pt x="122677" y="0"/>
                    </a:lnTo>
                    <a:lnTo>
                      <a:pt x="0" y="0"/>
                    </a:lnTo>
                    <a:lnTo>
                      <a:pt x="0" y="600791"/>
                    </a:lnTo>
                    <a:lnTo>
                      <a:pt x="122677" y="600791"/>
                    </a:lnTo>
                    <a:lnTo>
                      <a:pt x="122677" y="349006"/>
                    </a:lnTo>
                    <a:lnTo>
                      <a:pt x="361375" y="349006"/>
                    </a:lnTo>
                    <a:lnTo>
                      <a:pt x="361375" y="600791"/>
                    </a:lnTo>
                    <a:lnTo>
                      <a:pt x="484147" y="600791"/>
                    </a:lnTo>
                    <a:lnTo>
                      <a:pt x="48414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95CB5CC9-112C-6A43-90B7-6B48F3BE442A}"/>
                  </a:ext>
                </a:extLst>
              </p:cNvPr>
              <p:cNvSpPr/>
              <p:nvPr/>
            </p:nvSpPr>
            <p:spPr>
              <a:xfrm>
                <a:off x="8456280" y="811276"/>
                <a:ext cx="497555" cy="600791"/>
              </a:xfrm>
              <a:custGeom>
                <a:avLst/>
                <a:gdLst>
                  <a:gd name="connsiteX0" fmla="*/ 122772 w 497555"/>
                  <a:gd name="connsiteY0" fmla="*/ 412142 h 600791"/>
                  <a:gd name="connsiteX1" fmla="*/ 122772 w 497555"/>
                  <a:gd name="connsiteY1" fmla="*/ 0 h 600791"/>
                  <a:gd name="connsiteX2" fmla="*/ 0 w 497555"/>
                  <a:gd name="connsiteY2" fmla="*/ 0 h 600791"/>
                  <a:gd name="connsiteX3" fmla="*/ 0 w 497555"/>
                  <a:gd name="connsiteY3" fmla="*/ 600791 h 600791"/>
                  <a:gd name="connsiteX4" fmla="*/ 127813 w 497555"/>
                  <a:gd name="connsiteY4" fmla="*/ 600791 h 600791"/>
                  <a:gd name="connsiteX5" fmla="*/ 374879 w 497555"/>
                  <a:gd name="connsiteY5" fmla="*/ 181719 h 600791"/>
                  <a:gd name="connsiteX6" fmla="*/ 374879 w 497555"/>
                  <a:gd name="connsiteY6" fmla="*/ 600791 h 600791"/>
                  <a:gd name="connsiteX7" fmla="*/ 497556 w 497555"/>
                  <a:gd name="connsiteY7" fmla="*/ 600791 h 600791"/>
                  <a:gd name="connsiteX8" fmla="*/ 497556 w 497555"/>
                  <a:gd name="connsiteY8" fmla="*/ 0 h 600791"/>
                  <a:gd name="connsiteX9" fmla="*/ 369838 w 497555"/>
                  <a:gd name="connsiteY9" fmla="*/ 0 h 600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7555" h="600791">
                    <a:moveTo>
                      <a:pt x="122772" y="412142"/>
                    </a:moveTo>
                    <a:lnTo>
                      <a:pt x="122772" y="0"/>
                    </a:lnTo>
                    <a:lnTo>
                      <a:pt x="0" y="0"/>
                    </a:lnTo>
                    <a:lnTo>
                      <a:pt x="0" y="600791"/>
                    </a:lnTo>
                    <a:lnTo>
                      <a:pt x="127813" y="600791"/>
                    </a:lnTo>
                    <a:lnTo>
                      <a:pt x="374879" y="181719"/>
                    </a:lnTo>
                    <a:lnTo>
                      <a:pt x="374879" y="600791"/>
                    </a:lnTo>
                    <a:lnTo>
                      <a:pt x="497556" y="600791"/>
                    </a:lnTo>
                    <a:lnTo>
                      <a:pt x="497556" y="0"/>
                    </a:lnTo>
                    <a:lnTo>
                      <a:pt x="36983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174E6260-B1AC-D74F-8A2B-9C26D81D38E9}"/>
                  </a:ext>
                </a:extLst>
              </p:cNvPr>
              <p:cNvSpPr/>
              <p:nvPr/>
            </p:nvSpPr>
            <p:spPr>
              <a:xfrm>
                <a:off x="7183386" y="811276"/>
                <a:ext cx="517811" cy="609241"/>
              </a:xfrm>
              <a:custGeom>
                <a:avLst/>
                <a:gdLst>
                  <a:gd name="connsiteX0" fmla="*/ 114309 w 517811"/>
                  <a:gd name="connsiteY0" fmla="*/ 367520 h 609241"/>
                  <a:gd name="connsiteX1" fmla="*/ 45362 w 517811"/>
                  <a:gd name="connsiteY1" fmla="*/ 463221 h 609241"/>
                  <a:gd name="connsiteX2" fmla="*/ 0 w 517811"/>
                  <a:gd name="connsiteY2" fmla="*/ 458189 h 609241"/>
                  <a:gd name="connsiteX3" fmla="*/ 0 w 517811"/>
                  <a:gd name="connsiteY3" fmla="*/ 597468 h 609241"/>
                  <a:gd name="connsiteX4" fmla="*/ 60483 w 517811"/>
                  <a:gd name="connsiteY4" fmla="*/ 609241 h 609241"/>
                  <a:gd name="connsiteX5" fmla="*/ 191624 w 517811"/>
                  <a:gd name="connsiteY5" fmla="*/ 515249 h 609241"/>
                  <a:gd name="connsiteX6" fmla="*/ 220248 w 517811"/>
                  <a:gd name="connsiteY6" fmla="*/ 369228 h 609241"/>
                  <a:gd name="connsiteX7" fmla="*/ 232041 w 517811"/>
                  <a:gd name="connsiteY7" fmla="*/ 127602 h 609241"/>
                  <a:gd name="connsiteX8" fmla="*/ 395135 w 517811"/>
                  <a:gd name="connsiteY8" fmla="*/ 127602 h 609241"/>
                  <a:gd name="connsiteX9" fmla="*/ 395135 w 517811"/>
                  <a:gd name="connsiteY9" fmla="*/ 600886 h 609241"/>
                  <a:gd name="connsiteX10" fmla="*/ 517812 w 517811"/>
                  <a:gd name="connsiteY10" fmla="*/ 600886 h 609241"/>
                  <a:gd name="connsiteX11" fmla="*/ 517812 w 517811"/>
                  <a:gd name="connsiteY11" fmla="*/ 0 h 609241"/>
                  <a:gd name="connsiteX12" fmla="*/ 129524 w 517811"/>
                  <a:gd name="connsiteY12" fmla="*/ 0 h 609241"/>
                  <a:gd name="connsiteX13" fmla="*/ 114309 w 517811"/>
                  <a:gd name="connsiteY13" fmla="*/ 367520 h 609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17811" h="609241">
                    <a:moveTo>
                      <a:pt x="114309" y="367520"/>
                    </a:moveTo>
                    <a:cubicBezTo>
                      <a:pt x="100900" y="434643"/>
                      <a:pt x="82355" y="463221"/>
                      <a:pt x="45362" y="463221"/>
                    </a:cubicBezTo>
                    <a:cubicBezTo>
                      <a:pt x="25201" y="463221"/>
                      <a:pt x="10080" y="461512"/>
                      <a:pt x="0" y="458189"/>
                    </a:cubicBezTo>
                    <a:lnTo>
                      <a:pt x="0" y="597468"/>
                    </a:lnTo>
                    <a:cubicBezTo>
                      <a:pt x="15121" y="604209"/>
                      <a:pt x="28625" y="609241"/>
                      <a:pt x="60483" y="609241"/>
                    </a:cubicBezTo>
                    <a:cubicBezTo>
                      <a:pt x="124389" y="609241"/>
                      <a:pt x="169751" y="572309"/>
                      <a:pt x="191624" y="515249"/>
                    </a:cubicBezTo>
                    <a:cubicBezTo>
                      <a:pt x="205032" y="480026"/>
                      <a:pt x="213496" y="431320"/>
                      <a:pt x="220248" y="369228"/>
                    </a:cubicBezTo>
                    <a:cubicBezTo>
                      <a:pt x="227001" y="307137"/>
                      <a:pt x="232041" y="224917"/>
                      <a:pt x="232041" y="127602"/>
                    </a:cubicBezTo>
                    <a:lnTo>
                      <a:pt x="395135" y="127602"/>
                    </a:lnTo>
                    <a:lnTo>
                      <a:pt x="395135" y="600886"/>
                    </a:lnTo>
                    <a:lnTo>
                      <a:pt x="517812" y="600886"/>
                    </a:lnTo>
                    <a:lnTo>
                      <a:pt x="517812" y="0"/>
                    </a:lnTo>
                    <a:lnTo>
                      <a:pt x="129524" y="0"/>
                    </a:lnTo>
                    <a:cubicBezTo>
                      <a:pt x="129524" y="181244"/>
                      <a:pt x="124484" y="300396"/>
                      <a:pt x="114309" y="367520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  <p:sp>
            <p:nvSpPr>
              <p:cNvPr id="54" name="Freeform 53">
                <a:extLst>
                  <a:ext uri="{FF2B5EF4-FFF2-40B4-BE49-F238E27FC236}">
                    <a16:creationId xmlns:a16="http://schemas.microsoft.com/office/drawing/2014/main" id="{4188CB2B-07F0-084B-AF42-DC304803D4EC}"/>
                  </a:ext>
                </a:extLst>
              </p:cNvPr>
              <p:cNvSpPr/>
              <p:nvPr/>
            </p:nvSpPr>
            <p:spPr>
              <a:xfrm>
                <a:off x="7829771" y="797794"/>
                <a:ext cx="514483" cy="624336"/>
              </a:xfrm>
              <a:custGeom>
                <a:avLst/>
                <a:gdLst>
                  <a:gd name="connsiteX0" fmla="*/ 450482 w 514483"/>
                  <a:gd name="connsiteY0" fmla="*/ 451448 h 624336"/>
                  <a:gd name="connsiteX1" fmla="*/ 452194 w 514483"/>
                  <a:gd name="connsiteY1" fmla="*/ 213144 h 624336"/>
                  <a:gd name="connsiteX2" fmla="*/ 226905 w 514483"/>
                  <a:gd name="connsiteY2" fmla="*/ 0 h 624336"/>
                  <a:gd name="connsiteX3" fmla="*/ 0 w 514483"/>
                  <a:gd name="connsiteY3" fmla="*/ 201371 h 624336"/>
                  <a:gd name="connsiteX4" fmla="*/ 117637 w 514483"/>
                  <a:gd name="connsiteY4" fmla="*/ 201371 h 624336"/>
                  <a:gd name="connsiteX5" fmla="*/ 226905 w 514483"/>
                  <a:gd name="connsiteY5" fmla="*/ 127507 h 624336"/>
                  <a:gd name="connsiteX6" fmla="*/ 333701 w 514483"/>
                  <a:gd name="connsiteY6" fmla="*/ 207827 h 624336"/>
                  <a:gd name="connsiteX7" fmla="*/ 183255 w 514483"/>
                  <a:gd name="connsiteY7" fmla="*/ 268495 h 624336"/>
                  <a:gd name="connsiteX8" fmla="*/ 3424 w 514483"/>
                  <a:gd name="connsiteY8" fmla="*/ 456480 h 624336"/>
                  <a:gd name="connsiteX9" fmla="*/ 174886 w 514483"/>
                  <a:gd name="connsiteY9" fmla="*/ 624337 h 624336"/>
                  <a:gd name="connsiteX10" fmla="*/ 343686 w 514483"/>
                  <a:gd name="connsiteY10" fmla="*/ 514964 h 624336"/>
                  <a:gd name="connsiteX11" fmla="*/ 480818 w 514483"/>
                  <a:gd name="connsiteY11" fmla="*/ 619305 h 624336"/>
                  <a:gd name="connsiteX12" fmla="*/ 514483 w 514483"/>
                  <a:gd name="connsiteY12" fmla="*/ 619305 h 624336"/>
                  <a:gd name="connsiteX13" fmla="*/ 514483 w 514483"/>
                  <a:gd name="connsiteY13" fmla="*/ 503476 h 624336"/>
                  <a:gd name="connsiteX14" fmla="*/ 504403 w 514483"/>
                  <a:gd name="connsiteY14" fmla="*/ 503476 h 624336"/>
                  <a:gd name="connsiteX15" fmla="*/ 450482 w 514483"/>
                  <a:gd name="connsiteY15" fmla="*/ 451448 h 624336"/>
                  <a:gd name="connsiteX16" fmla="*/ 220153 w 514483"/>
                  <a:gd name="connsiteY16" fmla="*/ 498444 h 624336"/>
                  <a:gd name="connsiteX17" fmla="*/ 120965 w 514483"/>
                  <a:gd name="connsiteY17" fmla="*/ 431320 h 624336"/>
                  <a:gd name="connsiteX18" fmla="*/ 216825 w 514483"/>
                  <a:gd name="connsiteY18" fmla="*/ 340651 h 624336"/>
                  <a:gd name="connsiteX19" fmla="*/ 333986 w 514483"/>
                  <a:gd name="connsiteY19" fmla="*/ 292041 h 624336"/>
                  <a:gd name="connsiteX20" fmla="*/ 332750 w 514483"/>
                  <a:gd name="connsiteY20" fmla="*/ 454771 h 624336"/>
                  <a:gd name="connsiteX21" fmla="*/ 220153 w 514483"/>
                  <a:gd name="connsiteY21" fmla="*/ 498444 h 624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14483" h="624336">
                    <a:moveTo>
                      <a:pt x="450482" y="451448"/>
                    </a:moveTo>
                    <a:lnTo>
                      <a:pt x="452194" y="213144"/>
                    </a:lnTo>
                    <a:cubicBezTo>
                      <a:pt x="453906" y="62092"/>
                      <a:pt x="361375" y="0"/>
                      <a:pt x="226905" y="0"/>
                    </a:cubicBezTo>
                    <a:cubicBezTo>
                      <a:pt x="115925" y="0"/>
                      <a:pt x="15121" y="60383"/>
                      <a:pt x="0" y="201371"/>
                    </a:cubicBezTo>
                    <a:lnTo>
                      <a:pt x="117637" y="201371"/>
                    </a:lnTo>
                    <a:cubicBezTo>
                      <a:pt x="124389" y="146020"/>
                      <a:pt x="168039" y="127507"/>
                      <a:pt x="226905" y="127507"/>
                    </a:cubicBezTo>
                    <a:cubicBezTo>
                      <a:pt x="287198" y="127507"/>
                      <a:pt x="327615" y="146020"/>
                      <a:pt x="333701" y="207827"/>
                    </a:cubicBezTo>
                    <a:lnTo>
                      <a:pt x="183255" y="268495"/>
                    </a:lnTo>
                    <a:cubicBezTo>
                      <a:pt x="80739" y="310460"/>
                      <a:pt x="3424" y="357456"/>
                      <a:pt x="3424" y="456480"/>
                    </a:cubicBezTo>
                    <a:cubicBezTo>
                      <a:pt x="3424" y="558827"/>
                      <a:pt x="60578" y="624337"/>
                      <a:pt x="174886" y="624337"/>
                    </a:cubicBezTo>
                    <a:cubicBezTo>
                      <a:pt x="253818" y="624337"/>
                      <a:pt x="303745" y="587310"/>
                      <a:pt x="343686" y="514964"/>
                    </a:cubicBezTo>
                    <a:cubicBezTo>
                      <a:pt x="349678" y="587310"/>
                      <a:pt x="397702" y="619305"/>
                      <a:pt x="480818" y="619305"/>
                    </a:cubicBezTo>
                    <a:lnTo>
                      <a:pt x="514483" y="619305"/>
                    </a:lnTo>
                    <a:lnTo>
                      <a:pt x="514483" y="503476"/>
                    </a:lnTo>
                    <a:lnTo>
                      <a:pt x="504403" y="503476"/>
                    </a:lnTo>
                    <a:cubicBezTo>
                      <a:pt x="465603" y="503476"/>
                      <a:pt x="450482" y="488380"/>
                      <a:pt x="450482" y="451448"/>
                    </a:cubicBezTo>
                    <a:close/>
                    <a:moveTo>
                      <a:pt x="220153" y="498444"/>
                    </a:moveTo>
                    <a:cubicBezTo>
                      <a:pt x="162999" y="498444"/>
                      <a:pt x="120965" y="483348"/>
                      <a:pt x="120965" y="431320"/>
                    </a:cubicBezTo>
                    <a:cubicBezTo>
                      <a:pt x="120965" y="386033"/>
                      <a:pt x="156247" y="365905"/>
                      <a:pt x="216825" y="340651"/>
                    </a:cubicBezTo>
                    <a:lnTo>
                      <a:pt x="333986" y="292041"/>
                    </a:lnTo>
                    <a:lnTo>
                      <a:pt x="332750" y="454771"/>
                    </a:lnTo>
                    <a:cubicBezTo>
                      <a:pt x="312589" y="480025"/>
                      <a:pt x="272267" y="498444"/>
                      <a:pt x="220153" y="498444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1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RU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1298FD8-CF73-D240-AD7E-4FEC2E8D0987}"/>
                </a:ext>
              </a:extLst>
            </p:cNvPr>
            <p:cNvGrpSpPr/>
            <p:nvPr userDrawn="1"/>
          </p:nvGrpSpPr>
          <p:grpSpPr>
            <a:xfrm>
              <a:off x="-6416384" y="251406"/>
              <a:ext cx="2558564" cy="2558564"/>
              <a:chOff x="8962070" y="251406"/>
              <a:chExt cx="321536" cy="321536"/>
            </a:xfrm>
          </p:grpSpPr>
          <p:grpSp>
            <p:nvGrpSpPr>
              <p:cNvPr id="43" name="Graphic 6">
                <a:extLst>
                  <a:ext uri="{FF2B5EF4-FFF2-40B4-BE49-F238E27FC236}">
                    <a16:creationId xmlns:a16="http://schemas.microsoft.com/office/drawing/2014/main" id="{B0FABCDF-BEA2-164E-AD7C-B6EBDF8C7648}"/>
                  </a:ext>
                </a:extLst>
              </p:cNvPr>
              <p:cNvGrpSpPr/>
              <p:nvPr/>
            </p:nvGrpSpPr>
            <p:grpSpPr>
              <a:xfrm>
                <a:off x="9005394" y="293780"/>
                <a:ext cx="236379" cy="235840"/>
                <a:chOff x="4586236" y="536515"/>
                <a:chExt cx="981996" cy="979755"/>
              </a:xfrm>
            </p:grpSpPr>
            <p:sp>
              <p:nvSpPr>
                <p:cNvPr id="44" name="Freeform 43">
                  <a:extLst>
                    <a:ext uri="{FF2B5EF4-FFF2-40B4-BE49-F238E27FC236}">
                      <a16:creationId xmlns:a16="http://schemas.microsoft.com/office/drawing/2014/main" id="{F0E9A31C-93B5-A140-8F01-EF061843DA98}"/>
                    </a:ext>
                  </a:extLst>
                </p:cNvPr>
                <p:cNvSpPr/>
                <p:nvPr/>
              </p:nvSpPr>
              <p:spPr>
                <a:xfrm>
                  <a:off x="4587956" y="536515"/>
                  <a:ext cx="980276" cy="978659"/>
                </a:xfrm>
                <a:custGeom>
                  <a:avLst/>
                  <a:gdLst>
                    <a:gd name="connsiteX0" fmla="*/ 980276 w 980276"/>
                    <a:gd name="connsiteY0" fmla="*/ 489330 h 978659"/>
                    <a:gd name="connsiteX1" fmla="*/ 490138 w 980276"/>
                    <a:gd name="connsiteY1" fmla="*/ 978660 h 978659"/>
                    <a:gd name="connsiteX2" fmla="*/ 0 w 980276"/>
                    <a:gd name="connsiteY2" fmla="*/ 489330 h 978659"/>
                    <a:gd name="connsiteX3" fmla="*/ 490138 w 980276"/>
                    <a:gd name="connsiteY3" fmla="*/ 0 h 978659"/>
                    <a:gd name="connsiteX4" fmla="*/ 980276 w 980276"/>
                    <a:gd name="connsiteY4" fmla="*/ 489330 h 9786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80276" h="978659">
                      <a:moveTo>
                        <a:pt x="980276" y="489330"/>
                      </a:moveTo>
                      <a:cubicBezTo>
                        <a:pt x="980276" y="759579"/>
                        <a:pt x="760834" y="978660"/>
                        <a:pt x="490138" y="978660"/>
                      </a:cubicBezTo>
                      <a:cubicBezTo>
                        <a:pt x="219442" y="978660"/>
                        <a:pt x="0" y="759579"/>
                        <a:pt x="0" y="489330"/>
                      </a:cubicBezTo>
                      <a:cubicBezTo>
                        <a:pt x="0" y="219080"/>
                        <a:pt x="219442" y="0"/>
                        <a:pt x="490138" y="0"/>
                      </a:cubicBezTo>
                      <a:cubicBezTo>
                        <a:pt x="760834" y="0"/>
                        <a:pt x="980276" y="219080"/>
                        <a:pt x="980276" y="489330"/>
                      </a:cubicBezTo>
                      <a:close/>
                    </a:path>
                  </a:pathLst>
                </a:custGeom>
                <a:solidFill>
                  <a:srgbClr val="FFC8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  <p:sp>
              <p:nvSpPr>
                <p:cNvPr id="47" name="Freeform 46">
                  <a:extLst>
                    <a:ext uri="{FF2B5EF4-FFF2-40B4-BE49-F238E27FC236}">
                      <a16:creationId xmlns:a16="http://schemas.microsoft.com/office/drawing/2014/main" id="{6548D5ED-7816-214B-95CA-E5F91D87BA82}"/>
                    </a:ext>
                  </a:extLst>
                </p:cNvPr>
                <p:cNvSpPr/>
                <p:nvPr/>
              </p:nvSpPr>
              <p:spPr>
                <a:xfrm>
                  <a:off x="4586236" y="537071"/>
                  <a:ext cx="980476" cy="979199"/>
                </a:xfrm>
                <a:custGeom>
                  <a:avLst/>
                  <a:gdLst>
                    <a:gd name="connsiteX0" fmla="*/ 546019 w 980476"/>
                    <a:gd name="connsiteY0" fmla="*/ 123835 h 977664"/>
                    <a:gd name="connsiteX1" fmla="*/ 373035 w 980476"/>
                    <a:gd name="connsiteY1" fmla="*/ 285521 h 977664"/>
                    <a:gd name="connsiteX2" fmla="*/ 146415 w 980476"/>
                    <a:gd name="connsiteY2" fmla="*/ 354259 h 977664"/>
                    <a:gd name="connsiteX3" fmla="*/ 62158 w 980476"/>
                    <a:gd name="connsiteY3" fmla="*/ 306219 h 977664"/>
                    <a:gd name="connsiteX4" fmla="*/ 89070 w 980476"/>
                    <a:gd name="connsiteY4" fmla="*/ 206910 h 977664"/>
                    <a:gd name="connsiteX5" fmla="*/ 101623 w 980476"/>
                    <a:gd name="connsiteY5" fmla="*/ 189820 h 977664"/>
                    <a:gd name="connsiteX6" fmla="*/ 245222 w 980476"/>
                    <a:gd name="connsiteY6" fmla="*/ 64402 h 977664"/>
                    <a:gd name="connsiteX7" fmla="*/ 425814 w 980476"/>
                    <a:gd name="connsiteY7" fmla="*/ 2975 h 977664"/>
                    <a:gd name="connsiteX8" fmla="*/ 446831 w 980476"/>
                    <a:gd name="connsiteY8" fmla="*/ 696 h 977664"/>
                    <a:gd name="connsiteX9" fmla="*/ 546399 w 980476"/>
                    <a:gd name="connsiteY9" fmla="*/ 26995 h 977664"/>
                    <a:gd name="connsiteX10" fmla="*/ 546019 w 980476"/>
                    <a:gd name="connsiteY10" fmla="*/ 123835 h 977664"/>
                    <a:gd name="connsiteX11" fmla="*/ 898549 w 980476"/>
                    <a:gd name="connsiteY11" fmla="*/ 217353 h 977664"/>
                    <a:gd name="connsiteX12" fmla="*/ 877628 w 980476"/>
                    <a:gd name="connsiteY12" fmla="*/ 188301 h 977664"/>
                    <a:gd name="connsiteX13" fmla="*/ 720810 w 980476"/>
                    <a:gd name="connsiteY13" fmla="*/ 56332 h 977664"/>
                    <a:gd name="connsiteX14" fmla="*/ 760657 w 980476"/>
                    <a:gd name="connsiteY14" fmla="*/ 97821 h 977664"/>
                    <a:gd name="connsiteX15" fmla="*/ 771973 w 980476"/>
                    <a:gd name="connsiteY15" fmla="*/ 124690 h 977664"/>
                    <a:gd name="connsiteX16" fmla="*/ 757138 w 980476"/>
                    <a:gd name="connsiteY16" fmla="*/ 246310 h 977664"/>
                    <a:gd name="connsiteX17" fmla="*/ 499516 w 980476"/>
                    <a:gd name="connsiteY17" fmla="*/ 504267 h 977664"/>
                    <a:gd name="connsiteX18" fmla="*/ 146890 w 980476"/>
                    <a:gd name="connsiteY18" fmla="*/ 598164 h 977664"/>
                    <a:gd name="connsiteX19" fmla="*/ 34008 w 980476"/>
                    <a:gd name="connsiteY19" fmla="*/ 550124 h 977664"/>
                    <a:gd name="connsiteX20" fmla="*/ 16415 w 980476"/>
                    <a:gd name="connsiteY20" fmla="*/ 526863 h 977664"/>
                    <a:gd name="connsiteX21" fmla="*/ 343 w 980476"/>
                    <a:gd name="connsiteY21" fmla="*/ 470658 h 977664"/>
                    <a:gd name="connsiteX22" fmla="*/ 36956 w 980476"/>
                    <a:gd name="connsiteY22" fmla="*/ 674782 h 977664"/>
                    <a:gd name="connsiteX23" fmla="*/ 50270 w 980476"/>
                    <a:gd name="connsiteY23" fmla="*/ 704119 h 977664"/>
                    <a:gd name="connsiteX24" fmla="*/ 50936 w 980476"/>
                    <a:gd name="connsiteY24" fmla="*/ 705354 h 977664"/>
                    <a:gd name="connsiteX25" fmla="*/ 127585 w 980476"/>
                    <a:gd name="connsiteY25" fmla="*/ 777604 h 977664"/>
                    <a:gd name="connsiteX26" fmla="*/ 620101 w 980476"/>
                    <a:gd name="connsiteY26" fmla="*/ 712949 h 977664"/>
                    <a:gd name="connsiteX27" fmla="*/ 922419 w 980476"/>
                    <a:gd name="connsiteY27" fmla="*/ 319510 h 977664"/>
                    <a:gd name="connsiteX28" fmla="*/ 898549 w 980476"/>
                    <a:gd name="connsiteY28" fmla="*/ 217353 h 977664"/>
                    <a:gd name="connsiteX29" fmla="*/ 701125 w 980476"/>
                    <a:gd name="connsiteY29" fmla="*/ 852798 h 977664"/>
                    <a:gd name="connsiteX30" fmla="*/ 238851 w 980476"/>
                    <a:gd name="connsiteY30" fmla="*/ 908434 h 977664"/>
                    <a:gd name="connsiteX31" fmla="*/ 735265 w 980476"/>
                    <a:gd name="connsiteY31" fmla="*/ 912042 h 977664"/>
                    <a:gd name="connsiteX32" fmla="*/ 980429 w 980476"/>
                    <a:gd name="connsiteY32" fmla="*/ 480911 h 977664"/>
                    <a:gd name="connsiteX33" fmla="*/ 701125 w 980476"/>
                    <a:gd name="connsiteY33" fmla="*/ 852798 h 9776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980476" h="977664">
                      <a:moveTo>
                        <a:pt x="546019" y="123835"/>
                      </a:moveTo>
                      <a:cubicBezTo>
                        <a:pt x="518345" y="177288"/>
                        <a:pt x="455866" y="237860"/>
                        <a:pt x="373035" y="285521"/>
                      </a:cubicBezTo>
                      <a:cubicBezTo>
                        <a:pt x="290299" y="333182"/>
                        <a:pt x="206612" y="357012"/>
                        <a:pt x="146415" y="354259"/>
                      </a:cubicBezTo>
                      <a:cubicBezTo>
                        <a:pt x="113130" y="352740"/>
                        <a:pt x="73474" y="341632"/>
                        <a:pt x="62158" y="306219"/>
                      </a:cubicBezTo>
                      <a:cubicBezTo>
                        <a:pt x="53408" y="279065"/>
                        <a:pt x="63869" y="243937"/>
                        <a:pt x="89070" y="206910"/>
                      </a:cubicBezTo>
                      <a:cubicBezTo>
                        <a:pt x="93160" y="201118"/>
                        <a:pt x="97344" y="195422"/>
                        <a:pt x="101623" y="189820"/>
                      </a:cubicBezTo>
                      <a:cubicBezTo>
                        <a:pt x="139663" y="140355"/>
                        <a:pt x="187783" y="97442"/>
                        <a:pt x="245222" y="64402"/>
                      </a:cubicBezTo>
                      <a:cubicBezTo>
                        <a:pt x="302662" y="31267"/>
                        <a:pt x="363905" y="11140"/>
                        <a:pt x="425814" y="2975"/>
                      </a:cubicBezTo>
                      <a:cubicBezTo>
                        <a:pt x="433042" y="1930"/>
                        <a:pt x="440079" y="1171"/>
                        <a:pt x="446831" y="696"/>
                      </a:cubicBezTo>
                      <a:cubicBezTo>
                        <a:pt x="491528" y="-2627"/>
                        <a:pt x="527190" y="5918"/>
                        <a:pt x="546399" y="26995"/>
                      </a:cubicBezTo>
                      <a:cubicBezTo>
                        <a:pt x="571506" y="54338"/>
                        <a:pt x="561235" y="94404"/>
                        <a:pt x="546019" y="123835"/>
                      </a:cubicBezTo>
                      <a:close/>
                      <a:moveTo>
                        <a:pt x="898549" y="217353"/>
                      </a:moveTo>
                      <a:cubicBezTo>
                        <a:pt x="891893" y="207384"/>
                        <a:pt x="884950" y="197605"/>
                        <a:pt x="877628" y="188301"/>
                      </a:cubicBezTo>
                      <a:cubicBezTo>
                        <a:pt x="834358" y="132475"/>
                        <a:pt x="780627" y="88042"/>
                        <a:pt x="720810" y="56332"/>
                      </a:cubicBezTo>
                      <a:cubicBezTo>
                        <a:pt x="737548" y="67250"/>
                        <a:pt x="750956" y="81112"/>
                        <a:pt x="760657" y="97821"/>
                      </a:cubicBezTo>
                      <a:cubicBezTo>
                        <a:pt x="765602" y="106271"/>
                        <a:pt x="769311" y="115291"/>
                        <a:pt x="771973" y="124690"/>
                      </a:cubicBezTo>
                      <a:cubicBezTo>
                        <a:pt x="782149" y="160483"/>
                        <a:pt x="776348" y="202447"/>
                        <a:pt x="757138" y="246310"/>
                      </a:cubicBezTo>
                      <a:cubicBezTo>
                        <a:pt x="718528" y="334701"/>
                        <a:pt x="625712" y="431447"/>
                        <a:pt x="499516" y="504267"/>
                      </a:cubicBezTo>
                      <a:cubicBezTo>
                        <a:pt x="373225" y="577087"/>
                        <a:pt x="242845" y="608988"/>
                        <a:pt x="146890" y="598164"/>
                      </a:cubicBezTo>
                      <a:cubicBezTo>
                        <a:pt x="99151" y="592753"/>
                        <a:pt x="59970" y="576897"/>
                        <a:pt x="34008" y="550124"/>
                      </a:cubicBezTo>
                      <a:cubicBezTo>
                        <a:pt x="27161" y="543098"/>
                        <a:pt x="21265" y="535408"/>
                        <a:pt x="16415" y="526863"/>
                      </a:cubicBezTo>
                      <a:cubicBezTo>
                        <a:pt x="6620" y="509869"/>
                        <a:pt x="1390" y="490975"/>
                        <a:pt x="343" y="470658"/>
                      </a:cubicBezTo>
                      <a:cubicBezTo>
                        <a:pt x="-2224" y="539111"/>
                        <a:pt x="9568" y="608703"/>
                        <a:pt x="36956" y="674782"/>
                      </a:cubicBezTo>
                      <a:cubicBezTo>
                        <a:pt x="41046" y="684656"/>
                        <a:pt x="45420" y="694435"/>
                        <a:pt x="50270" y="704119"/>
                      </a:cubicBezTo>
                      <a:cubicBezTo>
                        <a:pt x="50460" y="704499"/>
                        <a:pt x="50746" y="704974"/>
                        <a:pt x="50936" y="705354"/>
                      </a:cubicBezTo>
                      <a:cubicBezTo>
                        <a:pt x="68719" y="736020"/>
                        <a:pt x="94967" y="760135"/>
                        <a:pt x="127585" y="777604"/>
                      </a:cubicBezTo>
                      <a:cubicBezTo>
                        <a:pt x="242845" y="839222"/>
                        <a:pt x="437797" y="818050"/>
                        <a:pt x="620101" y="712949"/>
                      </a:cubicBezTo>
                      <a:cubicBezTo>
                        <a:pt x="802310" y="607848"/>
                        <a:pt x="918140" y="449960"/>
                        <a:pt x="922419" y="319510"/>
                      </a:cubicBezTo>
                      <a:cubicBezTo>
                        <a:pt x="923751" y="282673"/>
                        <a:pt x="916143" y="248019"/>
                        <a:pt x="898549" y="217353"/>
                      </a:cubicBezTo>
                      <a:close/>
                      <a:moveTo>
                        <a:pt x="701125" y="852798"/>
                      </a:moveTo>
                      <a:cubicBezTo>
                        <a:pt x="534702" y="948689"/>
                        <a:pt x="354205" y="965874"/>
                        <a:pt x="238851" y="908434"/>
                      </a:cubicBezTo>
                      <a:cubicBezTo>
                        <a:pt x="386444" y="996255"/>
                        <a:pt x="575975" y="1003851"/>
                        <a:pt x="735265" y="912042"/>
                      </a:cubicBezTo>
                      <a:cubicBezTo>
                        <a:pt x="894650" y="820138"/>
                        <a:pt x="982807" y="652471"/>
                        <a:pt x="980429" y="480911"/>
                      </a:cubicBezTo>
                      <a:cubicBezTo>
                        <a:pt x="972726" y="609368"/>
                        <a:pt x="867547" y="756907"/>
                        <a:pt x="701125" y="852798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1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RU"/>
                </a:p>
              </p:txBody>
            </p:sp>
          </p:grp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18A3F5AC-FBBF-9147-83E5-00200E2CC24E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>
                <a:off x="8996704" y="286994"/>
                <a:ext cx="250964" cy="250964"/>
              </a:xfrm>
              <a:prstGeom prst="ellipse">
                <a:avLst/>
              </a:prstGeom>
              <a:gradFill flip="none" rotWithShape="1">
                <a:gsLst>
                  <a:gs pos="40000">
                    <a:schemeClr val="bg1">
                      <a:alpha val="0"/>
                      <a:lumMod val="100000"/>
                    </a:schemeClr>
                  </a:gs>
                  <a:gs pos="99000">
                    <a:schemeClr val="bg1">
                      <a:alpha val="79974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RU" sz="1400" dirty="0" err="1"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Freeform 39">
                <a:extLst>
                  <a:ext uri="{FF2B5EF4-FFF2-40B4-BE49-F238E27FC236}">
                    <a16:creationId xmlns:a16="http://schemas.microsoft.com/office/drawing/2014/main" id="{0BF7D922-A905-304C-85E5-E1A5FE7CC6D4}"/>
                  </a:ext>
                </a:extLst>
              </p:cNvPr>
              <p:cNvSpPr/>
              <p:nvPr userDrawn="1"/>
            </p:nvSpPr>
            <p:spPr>
              <a:xfrm>
                <a:off x="8962070" y="251406"/>
                <a:ext cx="321536" cy="321536"/>
              </a:xfrm>
              <a:custGeom>
                <a:avLst/>
                <a:gdLst>
                  <a:gd name="connsiteX0" fmla="*/ 231423 w 461234"/>
                  <a:gd name="connsiteY0" fmla="*/ 60783 h 461234"/>
                  <a:gd name="connsiteX1" fmla="*/ 62180 w 461234"/>
                  <a:gd name="connsiteY1" fmla="*/ 229747 h 461234"/>
                  <a:gd name="connsiteX2" fmla="*/ 231423 w 461234"/>
                  <a:gd name="connsiteY2" fmla="*/ 398710 h 461234"/>
                  <a:gd name="connsiteX3" fmla="*/ 400665 w 461234"/>
                  <a:gd name="connsiteY3" fmla="*/ 229747 h 461234"/>
                  <a:gd name="connsiteX4" fmla="*/ 231423 w 461234"/>
                  <a:gd name="connsiteY4" fmla="*/ 60783 h 461234"/>
                  <a:gd name="connsiteX5" fmla="*/ 230617 w 461234"/>
                  <a:gd name="connsiteY5" fmla="*/ 0 h 461234"/>
                  <a:gd name="connsiteX6" fmla="*/ 461234 w 461234"/>
                  <a:gd name="connsiteY6" fmla="*/ 230617 h 461234"/>
                  <a:gd name="connsiteX7" fmla="*/ 230617 w 461234"/>
                  <a:gd name="connsiteY7" fmla="*/ 461234 h 461234"/>
                  <a:gd name="connsiteX8" fmla="*/ 0 w 461234"/>
                  <a:gd name="connsiteY8" fmla="*/ 230617 h 461234"/>
                  <a:gd name="connsiteX9" fmla="*/ 230617 w 461234"/>
                  <a:gd name="connsiteY9" fmla="*/ 0 h 4612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1234" h="461234">
                    <a:moveTo>
                      <a:pt x="231423" y="60783"/>
                    </a:moveTo>
                    <a:cubicBezTo>
                      <a:pt x="137952" y="60783"/>
                      <a:pt x="62180" y="136430"/>
                      <a:pt x="62180" y="229747"/>
                    </a:cubicBezTo>
                    <a:cubicBezTo>
                      <a:pt x="62180" y="323063"/>
                      <a:pt x="137952" y="398710"/>
                      <a:pt x="231423" y="398710"/>
                    </a:cubicBezTo>
                    <a:cubicBezTo>
                      <a:pt x="324893" y="398710"/>
                      <a:pt x="400665" y="323063"/>
                      <a:pt x="400665" y="229747"/>
                    </a:cubicBezTo>
                    <a:cubicBezTo>
                      <a:pt x="400665" y="136430"/>
                      <a:pt x="324893" y="60783"/>
                      <a:pt x="231423" y="60783"/>
                    </a:cubicBezTo>
                    <a:close/>
                    <a:moveTo>
                      <a:pt x="230617" y="0"/>
                    </a:moveTo>
                    <a:cubicBezTo>
                      <a:pt x="357983" y="0"/>
                      <a:pt x="461234" y="103251"/>
                      <a:pt x="461234" y="230617"/>
                    </a:cubicBezTo>
                    <a:cubicBezTo>
                      <a:pt x="461234" y="357983"/>
                      <a:pt x="357983" y="461234"/>
                      <a:pt x="230617" y="461234"/>
                    </a:cubicBezTo>
                    <a:cubicBezTo>
                      <a:pt x="103251" y="461234"/>
                      <a:pt x="0" y="357983"/>
                      <a:pt x="0" y="230617"/>
                    </a:cubicBezTo>
                    <a:cubicBezTo>
                      <a:pt x="0" y="103251"/>
                      <a:pt x="103251" y="0"/>
                      <a:pt x="23061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 algn="ctr"/>
                <a:endParaRPr lang="en-RU" sz="1400" dirty="0" err="1"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45482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826" r:id="rId2"/>
    <p:sldLayoutId id="2147483827" r:id="rId3"/>
    <p:sldLayoutId id="2147483846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  <p:sldLayoutId id="2147483834" r:id="rId11"/>
    <p:sldLayoutId id="2147483874" r:id="rId12"/>
    <p:sldLayoutId id="2147483835" r:id="rId13"/>
    <p:sldLayoutId id="2147483872" r:id="rId14"/>
    <p:sldLayoutId id="2147483836" r:id="rId15"/>
    <p:sldLayoutId id="2147483837" r:id="rId16"/>
    <p:sldLayoutId id="2147483838" r:id="rId17"/>
    <p:sldLayoutId id="2147483839" r:id="rId18"/>
    <p:sldLayoutId id="2147483840" r:id="rId19"/>
    <p:sldLayoutId id="2147483841" r:id="rId20"/>
    <p:sldLayoutId id="2147483842" r:id="rId21"/>
    <p:sldLayoutId id="2147483843" r:id="rId22"/>
    <p:sldLayoutId id="2147483875" r:id="rId23"/>
    <p:sldLayoutId id="2147483876" r:id="rId24"/>
    <p:sldLayoutId id="2147483877" r:id="rId25"/>
    <p:sldLayoutId id="2147483844" r:id="rId26"/>
    <p:sldLayoutId id="2147483845" r:id="rId27"/>
  </p:sldLayoutIdLst>
  <p:transition>
    <p:fade/>
  </p:transition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3100" b="0" i="0" kern="1200" cap="none" spc="100" baseline="0">
          <a:solidFill>
            <a:schemeClr val="tx1"/>
          </a:solidFill>
          <a:latin typeface="+mn-lt"/>
          <a:ea typeface="Beeline Sans V0.3 Regular" pitchFamily="2" charset="0"/>
          <a:cs typeface="Arial Black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itchFamily="34" charset="0"/>
        <a:buNone/>
        <a:defRPr sz="1400" b="0" i="0" kern="1200">
          <a:solidFill>
            <a:schemeClr val="tx1"/>
          </a:solidFill>
          <a:latin typeface="Beeline Sans V0.3 Regular" pitchFamily="2" charset="77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itchFamily="34" charset="0"/>
        <a:buNone/>
        <a:defRPr sz="1400" b="0" i="0" kern="1200">
          <a:solidFill>
            <a:schemeClr val="tx1"/>
          </a:solidFill>
          <a:latin typeface="Beeline Sans V0.3 Regular" pitchFamily="2" charset="77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itchFamily="34" charset="0"/>
        <a:buNone/>
        <a:defRPr sz="1400" b="0" i="0" kern="1200">
          <a:solidFill>
            <a:schemeClr val="tx1"/>
          </a:solidFill>
          <a:latin typeface="Beeline Sans V0.3 Regular" pitchFamily="2" charset="77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Arial" pitchFamily="34" charset="0"/>
        <a:buNone/>
        <a:defRPr sz="1400" b="0" i="0" kern="1200">
          <a:solidFill>
            <a:schemeClr val="tx1"/>
          </a:solidFill>
          <a:latin typeface="Beeline Sans V0.3 Regular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>
          <p15:clr>
            <a:srgbClr val="FBAE40"/>
          </p15:clr>
        </p15:guide>
        <p15:guide id="2" pos="7258">
          <p15:clr>
            <a:srgbClr val="FBAE40"/>
          </p15:clr>
        </p15:guide>
        <p15:guide id="3" orient="horz">
          <p15:clr>
            <a:srgbClr val="FBAE40"/>
          </p15:clr>
        </p15:guide>
        <p15:guide id="4" orient="horz" pos="4082">
          <p15:clr>
            <a:srgbClr val="FBAE40"/>
          </p15:clr>
        </p15:guide>
        <p15:guide id="5" pos="227" userDrawn="1">
          <p15:clr>
            <a:srgbClr val="C35EA4"/>
          </p15:clr>
        </p15:guide>
        <p15:guide id="6" pos="1361" userDrawn="1">
          <p15:clr>
            <a:srgbClr val="5ACBF0"/>
          </p15:clr>
        </p15:guide>
        <p15:guide id="7" orient="horz" pos="227">
          <p15:clr>
            <a:srgbClr val="FDE53C"/>
          </p15:clr>
        </p15:guide>
        <p15:guide id="8" orient="horz" pos="3855">
          <p15:clr>
            <a:srgbClr val="FDE53C"/>
          </p15:clr>
        </p15:guide>
        <p15:guide id="36" orient="horz" pos="2064" userDrawn="1">
          <p15:clr>
            <a:srgbClr val="FDE53C"/>
          </p15:clr>
        </p15:guide>
        <p15:guide id="37" pos="454" userDrawn="1">
          <p15:clr>
            <a:srgbClr val="5ACBF0"/>
          </p15:clr>
        </p15:guide>
        <p15:guide id="38" pos="681" userDrawn="1">
          <p15:clr>
            <a:srgbClr val="5ACBF0"/>
          </p15:clr>
        </p15:guide>
        <p15:guide id="39" pos="907" userDrawn="1">
          <p15:clr>
            <a:srgbClr val="5ACBF0"/>
          </p15:clr>
        </p15:guide>
        <p15:guide id="40" pos="1134" userDrawn="1">
          <p15:clr>
            <a:srgbClr val="5ACBF0"/>
          </p15:clr>
        </p15:guide>
        <p15:guide id="41" pos="1588" userDrawn="1">
          <p15:clr>
            <a:srgbClr val="5ACBF0"/>
          </p15:clr>
        </p15:guide>
        <p15:guide id="42" pos="1815" userDrawn="1">
          <p15:clr>
            <a:srgbClr val="5ACBF0"/>
          </p15:clr>
        </p15:guide>
        <p15:guide id="43" pos="2041" userDrawn="1">
          <p15:clr>
            <a:srgbClr val="5ACBF0"/>
          </p15:clr>
        </p15:guide>
        <p15:guide id="44" pos="2268" userDrawn="1">
          <p15:clr>
            <a:srgbClr val="5ACBF0"/>
          </p15:clr>
        </p15:guide>
        <p15:guide id="46" pos="2949" userDrawn="1">
          <p15:clr>
            <a:srgbClr val="5ACBF0"/>
          </p15:clr>
        </p15:guide>
        <p15:guide id="48" pos="2495" userDrawn="1">
          <p15:clr>
            <a:srgbClr val="5ACBF0"/>
          </p15:clr>
        </p15:guide>
        <p15:guide id="49" pos="2699" userDrawn="1">
          <p15:clr>
            <a:srgbClr val="5ACBF0"/>
          </p15:clr>
        </p15:guide>
        <p15:guide id="50" pos="3629" userDrawn="1">
          <p15:clr>
            <a:srgbClr val="5ACBF0"/>
          </p15:clr>
        </p15:guide>
        <p15:guide id="51" pos="3402" userDrawn="1">
          <p15:clr>
            <a:srgbClr val="5ACBF0"/>
          </p15:clr>
        </p15:guide>
        <p15:guide id="52" pos="3175" userDrawn="1">
          <p15:clr>
            <a:srgbClr val="5ACBF0"/>
          </p15:clr>
        </p15:guide>
        <p15:guide id="53" pos="3856" userDrawn="1">
          <p15:clr>
            <a:srgbClr val="5ACBF0"/>
          </p15:clr>
        </p15:guide>
        <p15:guide id="54" pos="4083" userDrawn="1">
          <p15:clr>
            <a:srgbClr val="5ACBF0"/>
          </p15:clr>
        </p15:guide>
        <p15:guide id="55" pos="4309" userDrawn="1">
          <p15:clr>
            <a:srgbClr val="5ACBF0"/>
          </p15:clr>
        </p15:guide>
        <p15:guide id="56" pos="4536" userDrawn="1">
          <p15:clr>
            <a:srgbClr val="5ACBF0"/>
          </p15:clr>
        </p15:guide>
        <p15:guide id="57" pos="4763" userDrawn="1">
          <p15:clr>
            <a:srgbClr val="5ACBF0"/>
          </p15:clr>
        </p15:guide>
        <p15:guide id="58" pos="4990" userDrawn="1">
          <p15:clr>
            <a:srgbClr val="5ACBF0"/>
          </p15:clr>
        </p15:guide>
        <p15:guide id="59" pos="5217" userDrawn="1">
          <p15:clr>
            <a:srgbClr val="5ACBF0"/>
          </p15:clr>
        </p15:guide>
        <p15:guide id="60" pos="5443" userDrawn="1">
          <p15:clr>
            <a:srgbClr val="5ACBF0"/>
          </p15:clr>
        </p15:guide>
        <p15:guide id="61" pos="5670" userDrawn="1">
          <p15:clr>
            <a:srgbClr val="5ACBF0"/>
          </p15:clr>
        </p15:guide>
        <p15:guide id="62" pos="7031" userDrawn="1">
          <p15:clr>
            <a:srgbClr val="C35EA4"/>
          </p15:clr>
        </p15:guide>
        <p15:guide id="63" pos="5897" userDrawn="1">
          <p15:clr>
            <a:srgbClr val="5ACBF0"/>
          </p15:clr>
        </p15:guide>
        <p15:guide id="64" pos="6124" userDrawn="1">
          <p15:clr>
            <a:srgbClr val="5ACBF0"/>
          </p15:clr>
        </p15:guide>
        <p15:guide id="65" pos="6351" userDrawn="1">
          <p15:clr>
            <a:srgbClr val="5ACBF0"/>
          </p15:clr>
        </p15:guide>
        <p15:guide id="66" pos="6577" userDrawn="1">
          <p15:clr>
            <a:srgbClr val="5ACBF0"/>
          </p15:clr>
        </p15:guide>
        <p15:guide id="67" pos="6804" userDrawn="1">
          <p15:clr>
            <a:srgbClr val="5ACBF0"/>
          </p15:clr>
        </p15:guide>
        <p15:guide id="69" orient="horz" pos="612" userDrawn="1">
          <p15:clr>
            <a:srgbClr val="5ACBF0"/>
          </p15:clr>
        </p15:guide>
        <p15:guide id="70" orient="horz" pos="159" userDrawn="1">
          <p15:clr>
            <a:srgbClr val="FDE53C"/>
          </p15:clr>
        </p15:guide>
        <p15:guide id="71" orient="horz" pos="771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6.xml"/><Relationship Id="rId7" Type="http://schemas.openxmlformats.org/officeDocument/2006/relationships/image" Target="../media/image1.emf"/><Relationship Id="rId2" Type="http://schemas.openxmlformats.org/officeDocument/2006/relationships/tags" Target="../tags/tag5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.bin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3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8.xml"/><Relationship Id="rId7" Type="http://schemas.openxmlformats.org/officeDocument/2006/relationships/image" Target="../media/image1.emf"/><Relationship Id="rId2" Type="http://schemas.openxmlformats.org/officeDocument/2006/relationships/tags" Target="../tags/tag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4.bin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33.xm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0.xml"/><Relationship Id="rId7" Type="http://schemas.openxmlformats.org/officeDocument/2006/relationships/image" Target="../media/image1.emf"/><Relationship Id="rId2" Type="http://schemas.openxmlformats.org/officeDocument/2006/relationships/tags" Target="../tags/tag9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5.bin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3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2.xml"/><Relationship Id="rId7" Type="http://schemas.openxmlformats.org/officeDocument/2006/relationships/image" Target="../media/image1.emf"/><Relationship Id="rId2" Type="http://schemas.openxmlformats.org/officeDocument/2006/relationships/tags" Target="../tags/tag11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6.bin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3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7" Type="http://schemas.openxmlformats.org/officeDocument/2006/relationships/image" Target="../media/image1.emf"/><Relationship Id="rId2" Type="http://schemas.openxmlformats.org/officeDocument/2006/relationships/tags" Target="../tags/tag13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7.bin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3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7" Type="http://schemas.openxmlformats.org/officeDocument/2006/relationships/image" Target="../media/image1.emf"/><Relationship Id="rId2" Type="http://schemas.openxmlformats.org/officeDocument/2006/relationships/tags" Target="../tags/tag15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8.bin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3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7" Type="http://schemas.openxmlformats.org/officeDocument/2006/relationships/image" Target="../media/image1.emf"/><Relationship Id="rId2" Type="http://schemas.openxmlformats.org/officeDocument/2006/relationships/tags" Target="../tags/tag1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9.bin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3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7" Type="http://schemas.openxmlformats.org/officeDocument/2006/relationships/image" Target="../media/image1.emf"/><Relationship Id="rId2" Type="http://schemas.openxmlformats.org/officeDocument/2006/relationships/tags" Target="../tags/tag19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0.bin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3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7" Type="http://schemas.openxmlformats.org/officeDocument/2006/relationships/image" Target="../media/image1.emf"/><Relationship Id="rId2" Type="http://schemas.openxmlformats.org/officeDocument/2006/relationships/tags" Target="../tags/tag21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0.bin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3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image" Target="../media/image1.emf"/><Relationship Id="rId2" Type="http://schemas.openxmlformats.org/officeDocument/2006/relationships/tags" Target="../tags/tag23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0.bin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3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82" name="Слайд think-cell" r:id="rId6" imgW="463" imgH="464" progId="TCLayout.ActiveDocument.1">
                  <p:embed/>
                </p:oleObj>
              </mc:Choice>
              <mc:Fallback>
                <p:oleObj name="Слайд think-cell" r:id="rId6" imgW="463" imgH="464" progId="TCLayout.ActiveDocument.1">
                  <p:embed/>
                  <p:pic>
                    <p:nvPicPr>
                      <p:cNvPr id="5" name="Объект 4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Прямоугольник 5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ru-RU" sz="3100" dirty="0" err="1" smtClean="0">
              <a:latin typeface="Beeline Sans" panose="020B0500040202020204" pitchFamily="34" charset="-52"/>
              <a:ea typeface="Arial" charset="0"/>
              <a:cs typeface="Arial" charset="0"/>
              <a:sym typeface="Beeline Sans" panose="020B0500040202020204" pitchFamily="34" charset="-52"/>
            </a:endParaRPr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ru-RU" spc="-5" dirty="0"/>
              <a:t>Тарифы </a:t>
            </a:r>
            <a:r>
              <a:rPr lang="ru-RU" dirty="0"/>
              <a:t>на </a:t>
            </a:r>
            <a:r>
              <a:rPr lang="ru-RU" spc="5" dirty="0"/>
              <a:t>услугу </a:t>
            </a:r>
            <a:r>
              <a:rPr lang="ru-RU" dirty="0"/>
              <a:t>Облачная</a:t>
            </a:r>
            <a:r>
              <a:rPr lang="ru-RU" spc="190" dirty="0"/>
              <a:t> </a:t>
            </a:r>
            <a:r>
              <a:rPr lang="ru-RU" dirty="0"/>
              <a:t>АТС</a:t>
            </a:r>
          </a:p>
        </p:txBody>
      </p:sp>
      <p:sp>
        <p:nvSpPr>
          <p:cNvPr id="33" name="object 3"/>
          <p:cNvSpPr txBox="1"/>
          <p:nvPr/>
        </p:nvSpPr>
        <p:spPr>
          <a:xfrm>
            <a:off x="360363" y="785876"/>
            <a:ext cx="7085465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cs typeface="OfficinaSerifBookCTT"/>
              </a:rPr>
              <a:t>Расценки </a:t>
            </a:r>
            <a:r>
              <a:rPr sz="1600" spc="5" dirty="0">
                <a:cs typeface="OfficinaSerifBookCTT"/>
              </a:rPr>
              <a:t>для </a:t>
            </a:r>
            <a:r>
              <a:rPr sz="1600" spc="-10" dirty="0">
                <a:cs typeface="OfficinaSerifBookCTT"/>
              </a:rPr>
              <a:t>Абонентов </a:t>
            </a:r>
            <a:r>
              <a:rPr sz="1600" spc="-5" dirty="0">
                <a:cs typeface="OfficinaSerifBookCTT"/>
              </a:rPr>
              <a:t>юридических лиц и </a:t>
            </a:r>
            <a:r>
              <a:rPr sz="1600" dirty="0">
                <a:cs typeface="OfficinaSerifBookCTT"/>
              </a:rPr>
              <a:t>индивидуальных  </a:t>
            </a:r>
            <a:r>
              <a:rPr sz="1600" spc="-5" dirty="0">
                <a:cs typeface="OfficinaSerifBookCTT"/>
              </a:rPr>
              <a:t>предпринимателей </a:t>
            </a:r>
            <a:r>
              <a:rPr sz="1600" spc="-10" dirty="0">
                <a:cs typeface="OfficinaSerifBookCTT"/>
              </a:rPr>
              <a:t>всех </a:t>
            </a:r>
            <a:r>
              <a:rPr sz="1600" spc="-15" dirty="0">
                <a:cs typeface="OfficinaSerifBookCTT"/>
              </a:rPr>
              <a:t>регионов </a:t>
            </a:r>
            <a:r>
              <a:rPr sz="1600" spc="-5" dirty="0">
                <a:cs typeface="OfficinaSerifBookCTT"/>
              </a:rPr>
              <a:t>России постоплатной </a:t>
            </a:r>
            <a:r>
              <a:rPr sz="1600" spc="-10" dirty="0" err="1">
                <a:cs typeface="OfficinaSerifBookCTT"/>
              </a:rPr>
              <a:t>системы</a:t>
            </a:r>
            <a:r>
              <a:rPr sz="1600" spc="310" dirty="0">
                <a:cs typeface="OfficinaSerifBookCTT"/>
              </a:rPr>
              <a:t> </a:t>
            </a:r>
            <a:r>
              <a:rPr sz="1600" spc="-25" dirty="0" smtClean="0">
                <a:cs typeface="OfficinaSerifBookCTT"/>
              </a:rPr>
              <a:t>расчетов.*</a:t>
            </a:r>
            <a:endParaRPr sz="1600" dirty="0">
              <a:cs typeface="OfficinaSerifBookCTT"/>
            </a:endParaRPr>
          </a:p>
        </p:txBody>
      </p:sp>
      <p:graphicFrame>
        <p:nvGraphicFramePr>
          <p:cNvPr id="34" name="Таблица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871156"/>
              </p:ext>
            </p:extLst>
          </p:nvPr>
        </p:nvGraphicFramePr>
        <p:xfrm>
          <a:off x="360363" y="1517872"/>
          <a:ext cx="10801349" cy="4383073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3841611">
                  <a:extLst>
                    <a:ext uri="{9D8B030D-6E8A-4147-A177-3AD203B41FA5}">
                      <a16:colId xmlns:a16="http://schemas.microsoft.com/office/drawing/2014/main" val="444115573"/>
                    </a:ext>
                  </a:extLst>
                </a:gridCol>
                <a:gridCol w="1739934">
                  <a:extLst>
                    <a:ext uri="{9D8B030D-6E8A-4147-A177-3AD203B41FA5}">
                      <a16:colId xmlns:a16="http://schemas.microsoft.com/office/drawing/2014/main" val="397333259"/>
                    </a:ext>
                  </a:extLst>
                </a:gridCol>
                <a:gridCol w="1739934">
                  <a:extLst>
                    <a:ext uri="{9D8B030D-6E8A-4147-A177-3AD203B41FA5}">
                      <a16:colId xmlns:a16="http://schemas.microsoft.com/office/drawing/2014/main" val="1678565669"/>
                    </a:ext>
                  </a:extLst>
                </a:gridCol>
                <a:gridCol w="1557401">
                  <a:extLst>
                    <a:ext uri="{9D8B030D-6E8A-4147-A177-3AD203B41FA5}">
                      <a16:colId xmlns:a16="http://schemas.microsoft.com/office/drawing/2014/main" val="314938210"/>
                    </a:ext>
                  </a:extLst>
                </a:gridCol>
                <a:gridCol w="1922469">
                  <a:extLst>
                    <a:ext uri="{9D8B030D-6E8A-4147-A177-3AD203B41FA5}">
                      <a16:colId xmlns:a16="http://schemas.microsoft.com/office/drawing/2014/main" val="3895442599"/>
                    </a:ext>
                  </a:extLst>
                </a:gridCol>
              </a:tblGrid>
              <a:tr h="310231"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Минимальный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Базовый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Стандартный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Профессиональный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3000681"/>
                  </a:ext>
                </a:extLst>
              </a:tr>
              <a:tr h="32589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spc="-5" dirty="0" smtClean="0">
                          <a:latin typeface="+mn-lt"/>
                          <a:cs typeface="OfficinaSerifBookCTT"/>
                        </a:rPr>
                        <a:t>Абонентская</a:t>
                      </a:r>
                      <a:r>
                        <a:rPr lang="ru-RU" sz="1000" spc="15" dirty="0" smtClean="0">
                          <a:latin typeface="+mn-lt"/>
                          <a:cs typeface="OfficinaSerifBookCTT"/>
                        </a:rPr>
                        <a:t> </a:t>
                      </a:r>
                      <a:r>
                        <a:rPr lang="ru-RU" sz="1000" spc="-5" dirty="0" smtClean="0">
                          <a:latin typeface="+mn-lt"/>
                          <a:cs typeface="OfficinaSerifBookCTT"/>
                        </a:rPr>
                        <a:t>плата</a:t>
                      </a:r>
                      <a:r>
                        <a:rPr lang="en-US" sz="1000" spc="-5" dirty="0" smtClean="0">
                          <a:latin typeface="+mn-lt"/>
                          <a:cs typeface="OfficinaSerifBookCTT"/>
                        </a:rPr>
                        <a:t> </a:t>
                      </a:r>
                      <a:r>
                        <a:rPr lang="ru-RU" sz="1000" spc="-5" dirty="0" smtClean="0">
                          <a:latin typeface="+mn-lt"/>
                          <a:cs typeface="OfficinaSerifBookCTT"/>
                        </a:rPr>
                        <a:t>за</a:t>
                      </a:r>
                      <a:r>
                        <a:rPr lang="ru-RU" sz="1000" spc="-5" baseline="0" dirty="0" smtClean="0">
                          <a:latin typeface="+mn-lt"/>
                          <a:cs typeface="OfficinaSerifBookCTT"/>
                        </a:rPr>
                        <a:t> пакет</a:t>
                      </a:r>
                      <a:endParaRPr lang="ru-RU" sz="1000" spc="-5" dirty="0" smtClean="0">
                        <a:latin typeface="+mn-lt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965,83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1819,83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3548,17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8123,17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355661"/>
                  </a:ext>
                </a:extLst>
              </a:tr>
              <a:tr h="310231">
                <a:tc gridSpan="5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latin typeface="+mn-lt"/>
                        </a:rPr>
                        <a:t>Номера и сотрудники</a:t>
                      </a:r>
                      <a:endParaRPr lang="ru-RU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0644635"/>
                  </a:ext>
                </a:extLst>
              </a:tr>
              <a:tr h="310231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000" spc="-5" dirty="0">
                          <a:latin typeface="+mn-lt"/>
                          <a:cs typeface="OfficinaSerifBookCTT"/>
                        </a:rPr>
                        <a:t>Количество </a:t>
                      </a:r>
                      <a:r>
                        <a:rPr sz="1000" dirty="0">
                          <a:latin typeface="+mn-lt"/>
                          <a:cs typeface="OfficinaSerifBookCTT"/>
                        </a:rPr>
                        <a:t>многоканальных </a:t>
                      </a:r>
                      <a:r>
                        <a:rPr sz="1000" spc="-5" dirty="0">
                          <a:latin typeface="+mn-lt"/>
                          <a:cs typeface="OfficinaSerifBookCTT"/>
                        </a:rPr>
                        <a:t>номеров </a:t>
                      </a:r>
                      <a:r>
                        <a:rPr sz="1000" dirty="0">
                          <a:latin typeface="+mn-lt"/>
                          <a:cs typeface="OfficinaSerifBookCTT"/>
                        </a:rPr>
                        <a:t>в</a:t>
                      </a:r>
                      <a:r>
                        <a:rPr sz="1000" spc="-20" dirty="0">
                          <a:latin typeface="+mn-lt"/>
                          <a:cs typeface="OfficinaSerifBookCTT"/>
                        </a:rPr>
                        <a:t> </a:t>
                      </a:r>
                      <a:r>
                        <a:rPr sz="1000" spc="-5" dirty="0">
                          <a:latin typeface="+mn-lt"/>
                          <a:cs typeface="OfficinaSerifBookCTT"/>
                        </a:rPr>
                        <a:t>пакете</a:t>
                      </a:r>
                      <a:endParaRPr sz="1000" dirty="0">
                        <a:latin typeface="+mn-lt"/>
                        <a:cs typeface="OfficinaSerifBookCTT"/>
                      </a:endParaRPr>
                    </a:p>
                  </a:txBody>
                  <a:tcPr marL="0" marR="0" marT="279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2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3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5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10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4145250"/>
                  </a:ext>
                </a:extLst>
              </a:tr>
              <a:tr h="310231">
                <a:tc>
                  <a:txBody>
                    <a:bodyPr/>
                    <a:lstStyle/>
                    <a:p>
                      <a:pPr marL="77470">
                        <a:lnSpc>
                          <a:spcPts val="1010"/>
                        </a:lnSpc>
                        <a:spcBef>
                          <a:spcPts val="229"/>
                        </a:spcBef>
                      </a:pPr>
                      <a:r>
                        <a:rPr sz="1000" spc="-5" dirty="0" err="1">
                          <a:latin typeface="+mn-lt"/>
                          <a:cs typeface="OfficinaSerifBookCTT"/>
                        </a:rPr>
                        <a:t>Количество</a:t>
                      </a:r>
                      <a:r>
                        <a:rPr sz="1000" spc="-25" dirty="0">
                          <a:latin typeface="+mn-lt"/>
                          <a:cs typeface="OfficinaSerifBookCTT"/>
                        </a:rPr>
                        <a:t> </a:t>
                      </a:r>
                      <a:r>
                        <a:rPr lang="ru-RU" sz="1000" spc="-5" dirty="0" smtClean="0">
                          <a:latin typeface="+mn-lt"/>
                          <a:cs typeface="OfficinaSerifBookCTT"/>
                        </a:rPr>
                        <a:t>сотрудников</a:t>
                      </a:r>
                      <a:endParaRPr sz="1000" dirty="0">
                        <a:latin typeface="+mn-lt"/>
                        <a:cs typeface="OfficinaSerifBookCTT"/>
                      </a:endParaRPr>
                    </a:p>
                  </a:txBody>
                  <a:tcPr marL="0" marR="0" marT="292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4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10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20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50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6467854"/>
                  </a:ext>
                </a:extLst>
              </a:tr>
              <a:tr h="310231">
                <a:tc>
                  <a:txBody>
                    <a:bodyPr/>
                    <a:lstStyle/>
                    <a:p>
                      <a:pPr marL="77470">
                        <a:lnSpc>
                          <a:spcPts val="1010"/>
                        </a:lnSpc>
                        <a:spcBef>
                          <a:spcPts val="229"/>
                        </a:spcBef>
                      </a:pPr>
                      <a:r>
                        <a:rPr lang="ru-RU" sz="1000" dirty="0" smtClean="0">
                          <a:latin typeface="+mn-lt"/>
                          <a:cs typeface="OfficinaSerifBookCTT"/>
                        </a:rPr>
                        <a:t>Стоимость многоканального</a:t>
                      </a:r>
                      <a:r>
                        <a:rPr lang="ru-RU" sz="1000" baseline="0" dirty="0" smtClean="0">
                          <a:latin typeface="+mn-lt"/>
                          <a:cs typeface="OfficinaSerifBookCTT"/>
                        </a:rPr>
                        <a:t> номера сверх пакета</a:t>
                      </a:r>
                      <a:endParaRPr sz="1000" dirty="0">
                        <a:latin typeface="+mn-lt"/>
                        <a:cs typeface="OfficinaSerifBookCTT"/>
                      </a:endParaRPr>
                    </a:p>
                  </a:txBody>
                  <a:tcPr marL="0" marR="0" marT="292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152,50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152,50 ₽/мес</a:t>
                      </a:r>
                      <a:endParaRPr kumimoji="0" lang="ru-RU" sz="1000" b="0" i="0" u="none" strike="noStrike" kern="1200" cap="none" spc="-5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152,50 ₽/мес</a:t>
                      </a:r>
                      <a:endParaRPr kumimoji="0" lang="ru-RU" sz="1000" b="0" i="0" u="none" strike="noStrike" kern="1200" cap="none" spc="-5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152,50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5849928"/>
                  </a:ext>
                </a:extLst>
              </a:tr>
              <a:tr h="310231">
                <a:tc>
                  <a:txBody>
                    <a:bodyPr/>
                    <a:lstStyle/>
                    <a:p>
                      <a:pPr marL="77470">
                        <a:lnSpc>
                          <a:spcPts val="1010"/>
                        </a:lnSpc>
                        <a:spcBef>
                          <a:spcPts val="229"/>
                        </a:spcBef>
                      </a:pPr>
                      <a:r>
                        <a:rPr lang="ru-RU" sz="1000" dirty="0" smtClean="0">
                          <a:latin typeface="+mn-lt"/>
                          <a:cs typeface="OfficinaSerifBookCTT"/>
                        </a:rPr>
                        <a:t>Стоимость сотрудника сверх пакета</a:t>
                      </a:r>
                      <a:endParaRPr sz="1000" dirty="0">
                        <a:latin typeface="+mn-lt"/>
                        <a:cs typeface="OfficinaSerifBookCTT"/>
                      </a:endParaRPr>
                    </a:p>
                  </a:txBody>
                  <a:tcPr marL="0" marR="0" marT="292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203,33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203,33 ₽/мес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203,33 ₽/мес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203,33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7194871"/>
                  </a:ext>
                </a:extLst>
              </a:tr>
              <a:tr h="310231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000" spc="-5" dirty="0">
                          <a:latin typeface="+mn-lt"/>
                          <a:cs typeface="OfficinaSerifBookCTT"/>
                        </a:rPr>
                        <a:t>Количество каналов </a:t>
                      </a:r>
                      <a:r>
                        <a:rPr sz="1000" dirty="0">
                          <a:latin typeface="+mn-lt"/>
                          <a:cs typeface="OfficinaSerifBookCTT"/>
                        </a:rPr>
                        <a:t>на многоканальных</a:t>
                      </a:r>
                      <a:r>
                        <a:rPr sz="1000" spc="-35" dirty="0">
                          <a:latin typeface="+mn-lt"/>
                          <a:cs typeface="OfficinaSerifBookCTT"/>
                        </a:rPr>
                        <a:t> </a:t>
                      </a:r>
                      <a:r>
                        <a:rPr sz="1000" spc="-5" dirty="0">
                          <a:latin typeface="+mn-lt"/>
                          <a:cs typeface="OfficinaSerifBookCTT"/>
                        </a:rPr>
                        <a:t>номерах</a:t>
                      </a:r>
                      <a:endParaRPr sz="1000" dirty="0">
                        <a:latin typeface="+mn-lt"/>
                        <a:cs typeface="OfficinaSerifBookCTT"/>
                      </a:endParaRPr>
                    </a:p>
                  </a:txBody>
                  <a:tcPr marL="0" marR="0" marT="3301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10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20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40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100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532728"/>
                  </a:ext>
                </a:extLst>
              </a:tr>
              <a:tr h="310231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000" spc="-5" dirty="0">
                          <a:latin typeface="+mn-lt"/>
                          <a:cs typeface="OfficinaSerifBookCTT"/>
                        </a:rPr>
                        <a:t>Количество каналов </a:t>
                      </a:r>
                      <a:r>
                        <a:rPr sz="1000" dirty="0">
                          <a:latin typeface="+mn-lt"/>
                          <a:cs typeface="OfficinaSerifBookCTT"/>
                        </a:rPr>
                        <a:t>на </a:t>
                      </a:r>
                      <a:r>
                        <a:rPr sz="1000" spc="-5" dirty="0">
                          <a:latin typeface="+mn-lt"/>
                          <a:cs typeface="OfficinaSerifBookCTT"/>
                        </a:rPr>
                        <a:t>номерах</a:t>
                      </a:r>
                      <a:r>
                        <a:rPr sz="1000" spc="-20" dirty="0">
                          <a:latin typeface="+mn-lt"/>
                          <a:cs typeface="OfficinaSerifBookCTT"/>
                        </a:rPr>
                        <a:t> </a:t>
                      </a:r>
                      <a:r>
                        <a:rPr sz="1000" spc="-5" dirty="0">
                          <a:latin typeface="+mn-lt"/>
                          <a:cs typeface="OfficinaSerifBookCTT"/>
                        </a:rPr>
                        <a:t>пользователей</a:t>
                      </a:r>
                      <a:endParaRPr sz="1000" dirty="0">
                        <a:latin typeface="+mn-lt"/>
                        <a:cs typeface="OfficinaSerifBookCTT"/>
                      </a:endParaRPr>
                    </a:p>
                  </a:txBody>
                  <a:tcPr marL="0" marR="0" marT="330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ru-RU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3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ru-RU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3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ru-RU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3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3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375105"/>
                  </a:ext>
                </a:extLst>
              </a:tr>
              <a:tr h="334409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ru-RU" sz="1000" dirty="0" smtClean="0">
                          <a:latin typeface="+mn-lt"/>
                          <a:cs typeface="OfficinaSerifBookCTT"/>
                        </a:rPr>
                        <a:t>Стоимость дополнительного</a:t>
                      </a:r>
                      <a:r>
                        <a:rPr lang="ru-RU" sz="1000" baseline="0" dirty="0" smtClean="0">
                          <a:latin typeface="+mn-lt"/>
                          <a:cs typeface="OfficinaSerifBookCTT"/>
                        </a:rPr>
                        <a:t> канала на многоканальных номерах</a:t>
                      </a:r>
                      <a:endParaRPr sz="1000" dirty="0">
                        <a:latin typeface="+mn-lt"/>
                        <a:cs typeface="OfficinaSerifBookCTT"/>
                      </a:endParaRPr>
                    </a:p>
                  </a:txBody>
                  <a:tcPr marL="0" marR="0" marT="330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101,67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50,83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50,83 ₽/мес</a:t>
                      </a: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50,83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8044083"/>
                  </a:ext>
                </a:extLst>
              </a:tr>
              <a:tr h="310231">
                <a:tc gridSpan="5">
                  <a:txBody>
                    <a:bodyPr/>
                    <a:lstStyle/>
                    <a:p>
                      <a:pPr marL="7747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ru-RU" sz="1200" b="1" dirty="0" smtClean="0">
                          <a:latin typeface="+mn-lt"/>
                          <a:cs typeface="OfficinaSerifBookCTT"/>
                        </a:rPr>
                        <a:t>Распределение звонков</a:t>
                      </a:r>
                      <a:endParaRPr sz="1200" b="1" dirty="0">
                        <a:latin typeface="+mn-lt"/>
                        <a:cs typeface="OfficinaSerifBookCTT"/>
                      </a:endParaRPr>
                    </a:p>
                  </a:txBody>
                  <a:tcPr marL="0" marR="0" marT="330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77470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endParaRPr sz="1200" b="1" dirty="0">
                        <a:latin typeface="+mn-lt"/>
                        <a:cs typeface="OfficinaSerifBookCTT"/>
                      </a:endParaRPr>
                    </a:p>
                  </a:txBody>
                  <a:tcPr marL="0" marR="0" marT="330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826615"/>
                  </a:ext>
                </a:extLst>
              </a:tr>
              <a:tr h="310231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ru-RU" sz="1000" b="0" dirty="0" smtClean="0">
                          <a:latin typeface="+mn-lt"/>
                          <a:cs typeface="OfficinaSerifBookCTT"/>
                        </a:rPr>
                        <a:t>Голосовое меню</a:t>
                      </a:r>
                      <a:endParaRPr sz="1000" b="0" dirty="0">
                        <a:latin typeface="+mn-lt"/>
                        <a:cs typeface="OfficinaSerifBookCTT"/>
                      </a:endParaRPr>
                    </a:p>
                  </a:txBody>
                  <a:tcPr marL="0" marR="0" marT="330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3260312"/>
                  </a:ext>
                </a:extLst>
              </a:tr>
              <a:tr h="310231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ru-RU" sz="1000" dirty="0" smtClean="0">
                          <a:latin typeface="+mn-lt"/>
                          <a:cs typeface="OfficinaSerifBookCTT"/>
                        </a:rPr>
                        <a:t>Количество уровней голосового</a:t>
                      </a:r>
                      <a:r>
                        <a:rPr lang="ru-RU" sz="1000" baseline="0" dirty="0" smtClean="0">
                          <a:latin typeface="+mn-lt"/>
                          <a:cs typeface="OfficinaSerifBookCTT"/>
                        </a:rPr>
                        <a:t> меню</a:t>
                      </a:r>
                      <a:endParaRPr sz="1000" dirty="0">
                        <a:latin typeface="+mn-lt"/>
                        <a:cs typeface="OfficinaSerifBookCTT"/>
                      </a:endParaRPr>
                    </a:p>
                  </a:txBody>
                  <a:tcPr marL="0" marR="0" marT="330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2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2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2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2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721180"/>
                  </a:ext>
                </a:extLst>
              </a:tr>
              <a:tr h="310231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ru-RU" sz="1000" dirty="0" smtClean="0">
                          <a:latin typeface="+mn-lt"/>
                          <a:cs typeface="OfficinaSerifBookCTT"/>
                        </a:rPr>
                        <a:t>Количество вариантов распределения звонков</a:t>
                      </a:r>
                      <a:endParaRPr sz="1000" dirty="0">
                        <a:latin typeface="+mn-lt"/>
                        <a:cs typeface="OfficinaSerifBookCTT"/>
                      </a:endParaRPr>
                    </a:p>
                  </a:txBody>
                  <a:tcPr marL="0" marR="0" marT="330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5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5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5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5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38081"/>
                  </a:ext>
                </a:extLst>
              </a:tr>
            </a:tbl>
          </a:graphicData>
        </a:graphic>
      </p:graphicFrame>
      <p:sp>
        <p:nvSpPr>
          <p:cNvPr id="35" name="object 4"/>
          <p:cNvSpPr txBox="1"/>
          <p:nvPr/>
        </p:nvSpPr>
        <p:spPr>
          <a:xfrm>
            <a:off x="360363" y="6054681"/>
            <a:ext cx="2770463" cy="174407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800" dirty="0">
                <a:solidFill>
                  <a:srgbClr val="868686"/>
                </a:solidFill>
                <a:cs typeface="OfficinaSerifBookCTT"/>
              </a:rPr>
              <a:t>* </a:t>
            </a:r>
            <a:r>
              <a:rPr sz="800" spc="-5" dirty="0">
                <a:solidFill>
                  <a:srgbClr val="868686"/>
                </a:solidFill>
                <a:cs typeface="OfficinaSerifBookCTT"/>
              </a:rPr>
              <a:t>Стоимость </a:t>
            </a:r>
            <a:r>
              <a:rPr sz="800" spc="-5" dirty="0" err="1">
                <a:solidFill>
                  <a:srgbClr val="868686"/>
                </a:solidFill>
                <a:cs typeface="OfficinaSerifBookCTT"/>
              </a:rPr>
              <a:t>включает</a:t>
            </a:r>
            <a:r>
              <a:rPr sz="800" spc="-140" dirty="0">
                <a:solidFill>
                  <a:srgbClr val="868686"/>
                </a:solidFill>
                <a:cs typeface="OfficinaSerifBookCTT"/>
              </a:rPr>
              <a:t> </a:t>
            </a:r>
            <a:r>
              <a:rPr lang="ru-RU" sz="800" spc="-140" dirty="0" smtClean="0">
                <a:solidFill>
                  <a:srgbClr val="868686"/>
                </a:solidFill>
                <a:cs typeface="OfficinaSerifBookCTT"/>
              </a:rPr>
              <a:t> </a:t>
            </a:r>
            <a:r>
              <a:rPr sz="800" dirty="0" smtClean="0">
                <a:solidFill>
                  <a:srgbClr val="868686"/>
                </a:solidFill>
                <a:cs typeface="OfficinaSerifBookCTT"/>
              </a:rPr>
              <a:t>НДС</a:t>
            </a:r>
            <a:endParaRPr sz="800" dirty="0">
              <a:cs typeface="OfficinaSerifBookCTT"/>
            </a:endParaRPr>
          </a:p>
        </p:txBody>
      </p:sp>
      <p:sp>
        <p:nvSpPr>
          <p:cNvPr id="9" name="object 19"/>
          <p:cNvSpPr/>
          <p:nvPr/>
        </p:nvSpPr>
        <p:spPr>
          <a:xfrm>
            <a:off x="6721687" y="4994934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9"/>
          <p:cNvSpPr/>
          <p:nvPr/>
        </p:nvSpPr>
        <p:spPr>
          <a:xfrm>
            <a:off x="8386305" y="4994934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9"/>
          <p:cNvSpPr/>
          <p:nvPr/>
        </p:nvSpPr>
        <p:spPr>
          <a:xfrm>
            <a:off x="10107321" y="4994934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9"/>
          <p:cNvSpPr/>
          <p:nvPr/>
        </p:nvSpPr>
        <p:spPr>
          <a:xfrm>
            <a:off x="4991321" y="4994933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8033488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06" name="Слайд think-cell" r:id="rId6" imgW="463" imgH="464" progId="TCLayout.ActiveDocument.1">
                  <p:embed/>
                </p:oleObj>
              </mc:Choice>
              <mc:Fallback>
                <p:oleObj name="Слайд think-cell" r:id="rId6" imgW="463" imgH="464" progId="TCLayout.ActiveDocument.1">
                  <p:embed/>
                  <p:pic>
                    <p:nvPicPr>
                      <p:cNvPr id="5" name="Объект 4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Прямоугольник 5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ru-RU" sz="3100" dirty="0" err="1" smtClean="0">
              <a:latin typeface="Beeline Sans" panose="020B0500040202020204" pitchFamily="34" charset="-52"/>
              <a:ea typeface="Arial" charset="0"/>
              <a:cs typeface="Arial" charset="0"/>
              <a:sym typeface="Beeline Sans" panose="020B0500040202020204" pitchFamily="34" charset="-52"/>
            </a:endParaRPr>
          </a:p>
        </p:txBody>
      </p:sp>
      <p:graphicFrame>
        <p:nvGraphicFramePr>
          <p:cNvPr id="34" name="Таблица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6134996"/>
              </p:ext>
            </p:extLst>
          </p:nvPr>
        </p:nvGraphicFramePr>
        <p:xfrm>
          <a:off x="360363" y="700514"/>
          <a:ext cx="10801351" cy="5302717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3841611">
                  <a:extLst>
                    <a:ext uri="{9D8B030D-6E8A-4147-A177-3AD203B41FA5}">
                      <a16:colId xmlns:a16="http://schemas.microsoft.com/office/drawing/2014/main" val="444115573"/>
                    </a:ext>
                  </a:extLst>
                </a:gridCol>
                <a:gridCol w="1739935">
                  <a:extLst>
                    <a:ext uri="{9D8B030D-6E8A-4147-A177-3AD203B41FA5}">
                      <a16:colId xmlns:a16="http://schemas.microsoft.com/office/drawing/2014/main" val="397333259"/>
                    </a:ext>
                  </a:extLst>
                </a:gridCol>
                <a:gridCol w="1739935">
                  <a:extLst>
                    <a:ext uri="{9D8B030D-6E8A-4147-A177-3AD203B41FA5}">
                      <a16:colId xmlns:a16="http://schemas.microsoft.com/office/drawing/2014/main" val="1678565669"/>
                    </a:ext>
                  </a:extLst>
                </a:gridCol>
                <a:gridCol w="1483019">
                  <a:extLst>
                    <a:ext uri="{9D8B030D-6E8A-4147-A177-3AD203B41FA5}">
                      <a16:colId xmlns:a16="http://schemas.microsoft.com/office/drawing/2014/main" val="314938210"/>
                    </a:ext>
                  </a:extLst>
                </a:gridCol>
                <a:gridCol w="1996851">
                  <a:extLst>
                    <a:ext uri="{9D8B030D-6E8A-4147-A177-3AD203B41FA5}">
                      <a16:colId xmlns:a16="http://schemas.microsoft.com/office/drawing/2014/main" val="2956143092"/>
                    </a:ext>
                  </a:extLst>
                </a:gridCol>
              </a:tblGrid>
              <a:tr h="321352"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Минимальный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Базовый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Стандартный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Профессиональный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3000681"/>
                  </a:ext>
                </a:extLst>
              </a:tr>
              <a:tr h="321352">
                <a:tc gridSpan="5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latin typeface="+mn-lt"/>
                        </a:rPr>
                        <a:t>Распределение звонков</a:t>
                      </a:r>
                      <a:endParaRPr lang="ru-RU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0644635"/>
                  </a:ext>
                </a:extLst>
              </a:tr>
              <a:tr h="375047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lang="ru-RU" sz="1000" b="0" dirty="0" smtClean="0">
                          <a:latin typeface="+mn-lt"/>
                          <a:cs typeface="OfficinaSerifBookCTT"/>
                        </a:rPr>
                        <a:t>Группа </a:t>
                      </a:r>
                      <a:r>
                        <a:rPr lang="ru-RU" sz="1000" b="0" dirty="0" err="1" smtClean="0">
                          <a:latin typeface="+mn-lt"/>
                          <a:cs typeface="OfficinaSerifBookCTT"/>
                        </a:rPr>
                        <a:t>обзвона</a:t>
                      </a:r>
                      <a:endParaRPr sz="1000" b="0" dirty="0">
                        <a:latin typeface="+mn-lt"/>
                        <a:cs typeface="OfficinaSerifBookCTT"/>
                      </a:endParaRPr>
                    </a:p>
                  </a:txBody>
                  <a:tcPr marL="0" marR="0" marT="279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4145250"/>
                  </a:ext>
                </a:extLst>
              </a:tr>
              <a:tr h="321352">
                <a:tc>
                  <a:txBody>
                    <a:bodyPr/>
                    <a:lstStyle/>
                    <a:p>
                      <a:pPr marL="77470">
                        <a:lnSpc>
                          <a:spcPts val="1010"/>
                        </a:lnSpc>
                        <a:spcBef>
                          <a:spcPts val="229"/>
                        </a:spcBef>
                      </a:pPr>
                      <a:r>
                        <a:rPr lang="ru-RU" sz="1000" b="0" dirty="0" smtClean="0">
                          <a:latin typeface="+mn-lt"/>
                          <a:cs typeface="OfficinaSerifBookCTT"/>
                        </a:rPr>
                        <a:t>Количество</a:t>
                      </a:r>
                      <a:r>
                        <a:rPr lang="ru-RU" sz="1000" b="0" baseline="0" dirty="0" smtClean="0">
                          <a:latin typeface="+mn-lt"/>
                          <a:cs typeface="OfficinaSerifBookCTT"/>
                        </a:rPr>
                        <a:t> алгоритмов распределения звонков</a:t>
                      </a:r>
                      <a:endParaRPr sz="1000" b="0" dirty="0">
                        <a:latin typeface="+mn-lt"/>
                        <a:cs typeface="OfficinaSerifBookCTT"/>
                      </a:endParaRPr>
                    </a:p>
                  </a:txBody>
                  <a:tcPr marL="0" marR="0" marT="292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5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5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5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5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7631713"/>
                  </a:ext>
                </a:extLst>
              </a:tr>
              <a:tr h="375047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en-US" sz="1000" b="0" dirty="0" smtClean="0">
                          <a:latin typeface="+mn-lt"/>
                          <a:cs typeface="OfficinaSerifBookCTT"/>
                        </a:rPr>
                        <a:t>Call-</a:t>
                      </a:r>
                      <a:r>
                        <a:rPr lang="ru-RU" sz="1000" b="0" dirty="0" smtClean="0">
                          <a:latin typeface="+mn-lt"/>
                          <a:cs typeface="OfficinaSerifBookCTT"/>
                        </a:rPr>
                        <a:t>центр</a:t>
                      </a:r>
                      <a:endParaRPr sz="1000" b="0" dirty="0">
                        <a:latin typeface="+mn-lt"/>
                        <a:cs typeface="OfficinaSerifBookCTT"/>
                      </a:endParaRPr>
                    </a:p>
                  </a:txBody>
                  <a:tcPr marL="0" marR="0" marT="330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0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3260312"/>
                  </a:ext>
                </a:extLst>
              </a:tr>
              <a:tr h="321352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lang="ru-RU" sz="1000" b="0" dirty="0" smtClean="0">
                          <a:latin typeface="+mn-lt"/>
                          <a:cs typeface="OfficinaSerifBookCTT"/>
                        </a:rPr>
                        <a:t>Дополнительные 5 лицензий</a:t>
                      </a:r>
                      <a:r>
                        <a:rPr lang="ru-RU" sz="1000" b="0" baseline="0" dirty="0" smtClean="0">
                          <a:latin typeface="+mn-lt"/>
                          <a:cs typeface="OfficinaSerifBookCTT"/>
                        </a:rPr>
                        <a:t> операторов </a:t>
                      </a:r>
                      <a:r>
                        <a:rPr lang="en-US" sz="1000" b="0" baseline="0" dirty="0" smtClean="0">
                          <a:latin typeface="+mn-lt"/>
                          <a:cs typeface="OfficinaSerifBookCTT"/>
                        </a:rPr>
                        <a:t>call-</a:t>
                      </a:r>
                      <a:r>
                        <a:rPr lang="ru-RU" sz="1000" b="0" baseline="0" dirty="0" smtClean="0">
                          <a:latin typeface="+mn-lt"/>
                          <a:cs typeface="OfficinaSerifBookCTT"/>
                        </a:rPr>
                        <a:t>центра:</a:t>
                      </a:r>
                      <a:endParaRPr sz="1000" b="0" dirty="0">
                        <a:latin typeface="+mn-lt"/>
                        <a:cs typeface="OfficinaSerifBookCTT"/>
                      </a:endParaRPr>
                    </a:p>
                  </a:txBody>
                  <a:tcPr marL="0" marR="0" marT="3301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 smtClean="0">
                          <a:latin typeface="+mn-lt"/>
                        </a:rPr>
                        <a:t>508,33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508,33 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508,33 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508,33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7152902"/>
                  </a:ext>
                </a:extLst>
              </a:tr>
              <a:tr h="321352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ru-RU" sz="1000" b="0" dirty="0" smtClean="0">
                          <a:latin typeface="+mn-lt"/>
                          <a:cs typeface="OfficinaSerifBookCTT"/>
                        </a:rPr>
                        <a:t>Количество алгоритмов распределения звонков</a:t>
                      </a:r>
                      <a:endParaRPr sz="1000" b="0" dirty="0">
                        <a:latin typeface="+mn-lt"/>
                        <a:cs typeface="OfficinaSerifBookCTT"/>
                      </a:endParaRPr>
                    </a:p>
                  </a:txBody>
                  <a:tcPr marL="0" marR="0" marT="330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4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4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4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4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1579133"/>
                  </a:ext>
                </a:extLst>
              </a:tr>
              <a:tr h="375047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ru-RU" sz="1000" b="0" dirty="0" smtClean="0">
                          <a:latin typeface="+mn-lt"/>
                          <a:cs typeface="OfficinaSerifBookCTT"/>
                        </a:rPr>
                        <a:t>Индивидуальная переадресация</a:t>
                      </a:r>
                      <a:endParaRPr sz="1000" b="0" dirty="0">
                        <a:latin typeface="+mn-lt"/>
                        <a:cs typeface="OfficinaSerifBookCTT"/>
                      </a:endParaRPr>
                    </a:p>
                  </a:txBody>
                  <a:tcPr marL="0" marR="0" marT="330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0740583"/>
                  </a:ext>
                </a:extLst>
              </a:tr>
              <a:tr h="321352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ru-RU" sz="1000" b="0" dirty="0" smtClean="0">
                          <a:latin typeface="+mn-lt"/>
                          <a:cs typeface="OfficinaSerifBookCTT"/>
                        </a:rPr>
                        <a:t>«Умная» переадресация</a:t>
                      </a:r>
                      <a:endParaRPr sz="1000" b="0" dirty="0">
                        <a:latin typeface="+mn-lt"/>
                        <a:cs typeface="OfficinaSerifBookCTT"/>
                      </a:endParaRPr>
                    </a:p>
                  </a:txBody>
                  <a:tcPr marL="0" marR="0" marT="330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305,00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305,00 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305,00 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305,00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5293582"/>
                  </a:ext>
                </a:extLst>
              </a:tr>
              <a:tr h="321352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ru-RU" sz="1000" b="0" dirty="0" smtClean="0">
                          <a:latin typeface="+mn-lt"/>
                          <a:cs typeface="OfficinaSerifBookCTT"/>
                        </a:rPr>
                        <a:t>Внешняя АТС по </a:t>
                      </a:r>
                      <a:r>
                        <a:rPr lang="en-US" sz="1000" b="0" dirty="0" smtClean="0">
                          <a:latin typeface="+mn-lt"/>
                          <a:cs typeface="OfficinaSerifBookCTT"/>
                        </a:rPr>
                        <a:t>SIP</a:t>
                      </a:r>
                      <a:endParaRPr sz="1000" b="0" dirty="0">
                        <a:latin typeface="+mn-lt"/>
                        <a:cs typeface="OfficinaSerifBookCTT"/>
                      </a:endParaRPr>
                    </a:p>
                  </a:txBody>
                  <a:tcPr marL="0" marR="0" marT="330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 smtClean="0">
                          <a:latin typeface="+mn-lt"/>
                        </a:rPr>
                        <a:t>1270,83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 smtClean="0">
                          <a:latin typeface="+mn-lt"/>
                        </a:rPr>
                        <a:t>1270,83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 smtClean="0">
                          <a:latin typeface="+mn-lt"/>
                        </a:rPr>
                        <a:t>762,50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762,50 </a:t>
                      </a:r>
                      <a:r>
                        <a:rPr lang="ru-RU" sz="1000" kern="120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₽/</a:t>
                      </a:r>
                      <a:r>
                        <a:rPr lang="ru-RU" sz="1000" kern="1200" noProof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мес</a:t>
                      </a:r>
                      <a:endParaRPr lang="ru-RU" sz="1000" kern="1200" noProof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9130023"/>
                  </a:ext>
                </a:extLst>
              </a:tr>
              <a:tr h="321352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ru-RU" sz="1000" b="0" dirty="0" smtClean="0">
                          <a:latin typeface="+mn-lt"/>
                          <a:cs typeface="OfficinaSerifBookCTT"/>
                        </a:rPr>
                        <a:t>Количество линий одновременных разговоров</a:t>
                      </a:r>
                      <a:endParaRPr sz="1000" b="0" dirty="0">
                        <a:latin typeface="+mn-lt"/>
                        <a:cs typeface="OfficinaSerifBookCTT"/>
                      </a:endParaRPr>
                    </a:p>
                  </a:txBody>
                  <a:tcPr marL="0" marR="0" marT="330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5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5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00" dirty="0" smtClean="0">
                          <a:latin typeface="+mn-lt"/>
                        </a:rPr>
                        <a:t>5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860091"/>
                  </a:ext>
                </a:extLst>
              </a:tr>
              <a:tr h="321352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6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dirty="0" smtClean="0">
                          <a:latin typeface="+mn-lt"/>
                          <a:cs typeface="OfficinaSerifBookCTT"/>
                        </a:rPr>
                        <a:t>Дополнительные линии одновременных разговоров</a:t>
                      </a:r>
                    </a:p>
                  </a:txBody>
                  <a:tcPr marL="0" marR="0" marT="330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 smtClean="0">
                          <a:latin typeface="+mn-lt"/>
                        </a:rPr>
                        <a:t>254,17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 smtClean="0">
                          <a:latin typeface="+mn-lt"/>
                        </a:rPr>
                        <a:t>254,17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 smtClean="0">
                          <a:latin typeface="+mn-lt"/>
                        </a:rPr>
                        <a:t>152,50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dirty="0" smtClean="0">
                          <a:latin typeface="+mn-lt"/>
                        </a:rPr>
                        <a:t>152,50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7591843"/>
                  </a:ext>
                </a:extLst>
              </a:tr>
              <a:tr h="321352">
                <a:tc gridSpan="5">
                  <a:txBody>
                    <a:bodyPr/>
                    <a:lstStyle/>
                    <a:p>
                      <a:pPr marL="7747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6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Запись и хранение звонков</a:t>
                      </a:r>
                    </a:p>
                  </a:txBody>
                  <a:tcPr marL="0" marR="0" marT="330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8119142"/>
                  </a:ext>
                </a:extLst>
              </a:tr>
              <a:tr h="321352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lang="ru-RU" sz="1000" b="0" dirty="0" smtClean="0">
                          <a:latin typeface="+mn-lt"/>
                          <a:cs typeface="OfficinaSerifBookCTT"/>
                        </a:rPr>
                        <a:t>Запись</a:t>
                      </a:r>
                      <a:r>
                        <a:rPr lang="ru-RU" sz="1000" b="0" baseline="0" dirty="0" smtClean="0">
                          <a:latin typeface="+mn-lt"/>
                          <a:cs typeface="OfficinaSerifBookCTT"/>
                        </a:rPr>
                        <a:t> разговоров</a:t>
                      </a:r>
                      <a:endParaRPr sz="1000" b="0" dirty="0">
                        <a:latin typeface="+mn-lt"/>
                        <a:cs typeface="OfficinaSerifBookCTT"/>
                      </a:endParaRPr>
                    </a:p>
                  </a:txBody>
                  <a:tcPr marL="0" marR="0" marT="279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1 525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1 525 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₽/мес</a:t>
                      </a: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1 525 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₽/мес</a:t>
                      </a: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1 525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7074078"/>
                  </a:ext>
                </a:extLst>
              </a:tr>
              <a:tr h="321352">
                <a:tc>
                  <a:txBody>
                    <a:bodyPr/>
                    <a:lstStyle/>
                    <a:p>
                      <a:pPr marL="77470">
                        <a:lnSpc>
                          <a:spcPts val="1010"/>
                        </a:lnSpc>
                        <a:spcBef>
                          <a:spcPts val="229"/>
                        </a:spcBef>
                      </a:pPr>
                      <a:r>
                        <a:rPr lang="ru-RU" sz="1000" b="0" dirty="0" smtClean="0">
                          <a:latin typeface="+mn-lt"/>
                          <a:cs typeface="OfficinaSerifBookCTT"/>
                        </a:rPr>
                        <a:t>Объем облачного хранилища</a:t>
                      </a:r>
                      <a:r>
                        <a:rPr lang="ru-RU" sz="1000" b="0" baseline="0" dirty="0" smtClean="0">
                          <a:latin typeface="+mn-lt"/>
                          <a:cs typeface="OfficinaSerifBookCTT"/>
                        </a:rPr>
                        <a:t> включено в пакет</a:t>
                      </a:r>
                      <a:endParaRPr sz="1000" b="0" dirty="0">
                        <a:latin typeface="+mn-lt"/>
                        <a:cs typeface="OfficinaSerifBookCTT"/>
                      </a:endParaRPr>
                    </a:p>
                  </a:txBody>
                  <a:tcPr marL="0" marR="0" marT="292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1Гб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1Гб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1Гб</a:t>
                      </a:r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1Гб</a:t>
                      </a:r>
                      <a:endParaRPr lang="ru-RU" sz="1000" dirty="0" smtClean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77563"/>
                  </a:ext>
                </a:extLst>
              </a:tr>
              <a:tr h="321352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6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dirty="0" smtClean="0">
                          <a:latin typeface="+mn-lt"/>
                          <a:cs typeface="OfficinaSerifBookCTT"/>
                        </a:rPr>
                        <a:t>Дополнительные 5 Гб хранилища</a:t>
                      </a:r>
                    </a:p>
                  </a:txBody>
                  <a:tcPr marL="0" marR="0" marT="330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305,00 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305,00 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305,00 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305,00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2911826"/>
                  </a:ext>
                </a:extLst>
              </a:tr>
            </a:tbl>
          </a:graphicData>
        </a:graphic>
      </p:graphicFrame>
      <p:sp>
        <p:nvSpPr>
          <p:cNvPr id="7" name="object 19"/>
          <p:cNvSpPr/>
          <p:nvPr/>
        </p:nvSpPr>
        <p:spPr>
          <a:xfrm>
            <a:off x="4974007" y="1384822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9"/>
          <p:cNvSpPr/>
          <p:nvPr/>
        </p:nvSpPr>
        <p:spPr>
          <a:xfrm>
            <a:off x="6731624" y="1384822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9"/>
          <p:cNvSpPr/>
          <p:nvPr/>
        </p:nvSpPr>
        <p:spPr>
          <a:xfrm>
            <a:off x="8336608" y="1384822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9"/>
          <p:cNvSpPr/>
          <p:nvPr/>
        </p:nvSpPr>
        <p:spPr>
          <a:xfrm>
            <a:off x="10066015" y="1384822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9"/>
          <p:cNvSpPr/>
          <p:nvPr/>
        </p:nvSpPr>
        <p:spPr>
          <a:xfrm>
            <a:off x="4974007" y="3113862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9"/>
          <p:cNvSpPr/>
          <p:nvPr/>
        </p:nvSpPr>
        <p:spPr>
          <a:xfrm>
            <a:off x="6731624" y="3113862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9"/>
          <p:cNvSpPr/>
          <p:nvPr/>
        </p:nvSpPr>
        <p:spPr>
          <a:xfrm>
            <a:off x="8336608" y="3113862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9"/>
          <p:cNvSpPr/>
          <p:nvPr/>
        </p:nvSpPr>
        <p:spPr>
          <a:xfrm>
            <a:off x="10066015" y="3113862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43"/>
          <p:cNvSpPr/>
          <p:nvPr/>
        </p:nvSpPr>
        <p:spPr>
          <a:xfrm>
            <a:off x="4974007" y="2104584"/>
            <a:ext cx="209030" cy="21984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43"/>
          <p:cNvSpPr/>
          <p:nvPr/>
        </p:nvSpPr>
        <p:spPr>
          <a:xfrm>
            <a:off x="6705389" y="2104584"/>
            <a:ext cx="209030" cy="21984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43"/>
          <p:cNvSpPr/>
          <p:nvPr/>
        </p:nvSpPr>
        <p:spPr>
          <a:xfrm>
            <a:off x="8336608" y="2104584"/>
            <a:ext cx="209030" cy="21984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43"/>
          <p:cNvSpPr/>
          <p:nvPr/>
        </p:nvSpPr>
        <p:spPr>
          <a:xfrm>
            <a:off x="10066015" y="2104584"/>
            <a:ext cx="209030" cy="21984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4655186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94" name="Слайд think-cell" r:id="rId6" imgW="463" imgH="464" progId="TCLayout.ActiveDocument.1">
                  <p:embed/>
                </p:oleObj>
              </mc:Choice>
              <mc:Fallback>
                <p:oleObj name="Слайд think-cell" r:id="rId6" imgW="463" imgH="464" progId="TCLayout.ActiveDocument.1">
                  <p:embed/>
                  <p:pic>
                    <p:nvPicPr>
                      <p:cNvPr id="5" name="Объект 4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Прямоугольник 5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ru-RU" sz="3100" dirty="0" err="1" smtClean="0">
              <a:latin typeface="Beeline Sans" panose="020B0500040202020204" pitchFamily="34" charset="-52"/>
              <a:ea typeface="Arial" charset="0"/>
              <a:cs typeface="Arial" charset="0"/>
              <a:sym typeface="Beeline Sans" panose="020B0500040202020204" pitchFamily="34" charset="-52"/>
            </a:endParaRPr>
          </a:p>
        </p:txBody>
      </p:sp>
      <p:graphicFrame>
        <p:nvGraphicFramePr>
          <p:cNvPr id="34" name="Таблица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935765"/>
              </p:ext>
            </p:extLst>
          </p:nvPr>
        </p:nvGraphicFramePr>
        <p:xfrm>
          <a:off x="360363" y="571313"/>
          <a:ext cx="10800000" cy="5552324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3841131">
                  <a:extLst>
                    <a:ext uri="{9D8B030D-6E8A-4147-A177-3AD203B41FA5}">
                      <a16:colId xmlns:a16="http://schemas.microsoft.com/office/drawing/2014/main" val="444115573"/>
                    </a:ext>
                  </a:extLst>
                </a:gridCol>
                <a:gridCol w="1739717">
                  <a:extLst>
                    <a:ext uri="{9D8B030D-6E8A-4147-A177-3AD203B41FA5}">
                      <a16:colId xmlns:a16="http://schemas.microsoft.com/office/drawing/2014/main" val="397333259"/>
                    </a:ext>
                  </a:extLst>
                </a:gridCol>
                <a:gridCol w="1739717">
                  <a:extLst>
                    <a:ext uri="{9D8B030D-6E8A-4147-A177-3AD203B41FA5}">
                      <a16:colId xmlns:a16="http://schemas.microsoft.com/office/drawing/2014/main" val="1678565669"/>
                    </a:ext>
                  </a:extLst>
                </a:gridCol>
                <a:gridCol w="1482833">
                  <a:extLst>
                    <a:ext uri="{9D8B030D-6E8A-4147-A177-3AD203B41FA5}">
                      <a16:colId xmlns:a16="http://schemas.microsoft.com/office/drawing/2014/main" val="314938210"/>
                    </a:ext>
                  </a:extLst>
                </a:gridCol>
                <a:gridCol w="1996602">
                  <a:extLst>
                    <a:ext uri="{9D8B030D-6E8A-4147-A177-3AD203B41FA5}">
                      <a16:colId xmlns:a16="http://schemas.microsoft.com/office/drawing/2014/main" val="2956143092"/>
                    </a:ext>
                  </a:extLst>
                </a:gridCol>
              </a:tblGrid>
              <a:tr h="350934"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Минимальный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Базовый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Стандартный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Профессиональный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3000681"/>
                  </a:ext>
                </a:extLst>
              </a:tr>
              <a:tr h="350934">
                <a:tc gridSpan="5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latin typeface="+mn-lt"/>
                        </a:rPr>
                        <a:t>Интеграции</a:t>
                      </a:r>
                      <a:endParaRPr lang="ru-RU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0644635"/>
                  </a:ext>
                </a:extLst>
              </a:tr>
              <a:tr h="372596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Коннектор для интеграции с </a:t>
                      </a:r>
                      <a:r>
                        <a:rPr lang="en-US" sz="1000" b="0" i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CRM</a:t>
                      </a:r>
                      <a:r>
                        <a:rPr lang="ru-RU" sz="1000" b="0" i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-системами</a:t>
                      </a:r>
                    </a:p>
                  </a:txBody>
                  <a:tcPr marL="0" marR="0" marT="279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904,83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₽/мес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904,83 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904,83 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904,83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3495866"/>
                  </a:ext>
                </a:extLst>
              </a:tr>
              <a:tr h="373155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dirty="0" smtClean="0">
                          <a:latin typeface="+mn-lt"/>
                        </a:rPr>
                        <a:t>API</a:t>
                      </a:r>
                      <a:r>
                        <a:rPr lang="en-US" sz="1000" b="0" i="0" baseline="0" dirty="0" smtClean="0">
                          <a:latin typeface="+mn-lt"/>
                        </a:rPr>
                        <a:t>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для интеграции с внешними системами</a:t>
                      </a:r>
                      <a:endParaRPr lang="ru-RU" sz="1000" b="0" i="0" dirty="0" smtClean="0">
                        <a:latin typeface="+mn-lt"/>
                      </a:endParaRPr>
                    </a:p>
                  </a:txBody>
                  <a:tcPr marL="0" marR="0" marT="279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508,33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₽/мес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508,33 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508,33 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508,33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0214273"/>
                  </a:ext>
                </a:extLst>
              </a:tr>
              <a:tr h="373155">
                <a:tc gridSpan="5">
                  <a:txBody>
                    <a:bodyPr/>
                    <a:lstStyle/>
                    <a:p>
                      <a:pPr marL="7747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Другие</a:t>
                      </a:r>
                      <a:r>
                        <a:rPr lang="ru-RU" sz="12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сервисы</a:t>
                      </a:r>
                      <a:endParaRPr lang="ru-RU" sz="1200" b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279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5905871"/>
                  </a:ext>
                </a:extLst>
              </a:tr>
              <a:tr h="373155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dirty="0" smtClean="0">
                          <a:solidFill>
                            <a:schemeClr val="tx2"/>
                          </a:solidFill>
                          <a:latin typeface="+mn-lt"/>
                        </a:rPr>
                        <a:t>Мелодия вызова</a:t>
                      </a:r>
                    </a:p>
                  </a:txBody>
                  <a:tcPr marL="0" marR="0" marT="279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3190469"/>
                  </a:ext>
                </a:extLst>
              </a:tr>
              <a:tr h="373155">
                <a:tc>
                  <a:txBody>
                    <a:bodyPr/>
                    <a:lstStyle/>
                    <a:p>
                      <a:pPr marL="77470">
                        <a:lnSpc>
                          <a:spcPts val="1010"/>
                        </a:lnSpc>
                        <a:spcBef>
                          <a:spcPts val="229"/>
                        </a:spcBef>
                      </a:pPr>
                      <a:r>
                        <a:rPr lang="ru-RU" sz="1000" b="0" dirty="0" err="1" smtClean="0">
                          <a:solidFill>
                            <a:schemeClr val="tx2"/>
                          </a:solidFill>
                          <a:latin typeface="+mn-lt"/>
                          <a:cs typeface="OfficinaSerifBookCTT"/>
                        </a:rPr>
                        <a:t>Аудиоконференция</a:t>
                      </a:r>
                      <a:endParaRPr sz="1000" b="0" dirty="0">
                        <a:solidFill>
                          <a:schemeClr val="tx2"/>
                        </a:solidFill>
                        <a:latin typeface="+mn-lt"/>
                        <a:cs typeface="OfficinaSerifBookCTT"/>
                      </a:endParaRPr>
                    </a:p>
                  </a:txBody>
                  <a:tcPr marL="0" marR="0" marT="292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7557442"/>
                  </a:ext>
                </a:extLst>
              </a:tr>
              <a:tr h="373155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ru-RU" sz="1000" b="0" dirty="0" smtClean="0">
                          <a:solidFill>
                            <a:schemeClr val="tx2"/>
                          </a:solidFill>
                          <a:latin typeface="+mn-lt"/>
                          <a:cs typeface="OfficinaSerifBookCTT"/>
                        </a:rPr>
                        <a:t>Максимальное количество лицензий конференции</a:t>
                      </a:r>
                      <a:endParaRPr sz="1000" b="0" dirty="0">
                        <a:solidFill>
                          <a:schemeClr val="tx2"/>
                        </a:solidFill>
                        <a:latin typeface="+mn-lt"/>
                        <a:cs typeface="OfficinaSerifBookCTT"/>
                      </a:endParaRPr>
                    </a:p>
                  </a:txBody>
                  <a:tcPr marL="0" marR="0" marT="330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9539024"/>
                  </a:ext>
                </a:extLst>
              </a:tr>
              <a:tr h="373155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lang="ru-RU" sz="1000" b="0" dirty="0" smtClean="0">
                          <a:solidFill>
                            <a:schemeClr val="tx2"/>
                          </a:solidFill>
                          <a:latin typeface="+mn-lt"/>
                          <a:cs typeface="OfficinaSerifBookCTT"/>
                        </a:rPr>
                        <a:t>Звонок с сайта</a:t>
                      </a:r>
                      <a:endParaRPr sz="1000" b="0" dirty="0">
                        <a:solidFill>
                          <a:schemeClr val="tx2"/>
                        </a:solidFill>
                        <a:latin typeface="+mn-lt"/>
                        <a:cs typeface="OfficinaSerifBookCTT"/>
                      </a:endParaRPr>
                    </a:p>
                  </a:txBody>
                  <a:tcPr marL="0" marR="0" marT="3301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477844"/>
                  </a:ext>
                </a:extLst>
              </a:tr>
              <a:tr h="373155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ru-RU" sz="1000" b="0" dirty="0" smtClean="0">
                          <a:solidFill>
                            <a:schemeClr val="tx2"/>
                          </a:solidFill>
                          <a:latin typeface="+mn-lt"/>
                          <a:cs typeface="OfficinaSerifBookCTT"/>
                        </a:rPr>
                        <a:t>Факс</a:t>
                      </a:r>
                      <a:endParaRPr sz="1000" b="0" dirty="0">
                        <a:solidFill>
                          <a:schemeClr val="tx2"/>
                        </a:solidFill>
                        <a:latin typeface="+mn-lt"/>
                        <a:cs typeface="OfficinaSerifBookCTT"/>
                      </a:endParaRPr>
                    </a:p>
                  </a:txBody>
                  <a:tcPr marL="0" marR="0" marT="330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9662769"/>
                  </a:ext>
                </a:extLst>
              </a:tr>
              <a:tr h="373155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lang="ru-RU" sz="1000" b="0" dirty="0" smtClean="0">
                          <a:solidFill>
                            <a:schemeClr val="tx2"/>
                          </a:solidFill>
                          <a:latin typeface="+mn-lt"/>
                          <a:cs typeface="OfficinaSerifBookCTT"/>
                        </a:rPr>
                        <a:t>Статистика звонков</a:t>
                      </a:r>
                      <a:endParaRPr sz="1000" b="0" dirty="0">
                        <a:solidFill>
                          <a:schemeClr val="tx2"/>
                        </a:solidFill>
                        <a:latin typeface="+mn-lt"/>
                        <a:cs typeface="OfficinaSerifBookCTT"/>
                      </a:endParaRPr>
                    </a:p>
                  </a:txBody>
                  <a:tcPr marL="0" marR="0" marT="279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2872900"/>
                  </a:ext>
                </a:extLst>
              </a:tr>
              <a:tr h="373155">
                <a:tc>
                  <a:txBody>
                    <a:bodyPr/>
                    <a:lstStyle/>
                    <a:p>
                      <a:pPr marL="77470">
                        <a:lnSpc>
                          <a:spcPts val="1010"/>
                        </a:lnSpc>
                        <a:spcBef>
                          <a:spcPts val="229"/>
                        </a:spcBef>
                      </a:pPr>
                      <a:r>
                        <a:rPr lang="ru-RU" sz="1000" b="0" dirty="0" smtClean="0">
                          <a:solidFill>
                            <a:schemeClr val="tx2"/>
                          </a:solidFill>
                          <a:latin typeface="+mn-lt"/>
                          <a:cs typeface="OfficinaSerifBookCTT"/>
                        </a:rPr>
                        <a:t>Голосовая почта</a:t>
                      </a:r>
                      <a:endParaRPr sz="1000" b="0" dirty="0">
                        <a:solidFill>
                          <a:schemeClr val="tx2"/>
                        </a:solidFill>
                        <a:latin typeface="+mn-lt"/>
                        <a:cs typeface="OfficinaSerifBookCTT"/>
                      </a:endParaRPr>
                    </a:p>
                  </a:txBody>
                  <a:tcPr marL="0" marR="0" marT="292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0325691"/>
                  </a:ext>
                </a:extLst>
              </a:tr>
              <a:tr h="373155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ru-RU" sz="1000" b="0" dirty="0" smtClean="0">
                          <a:solidFill>
                            <a:schemeClr val="tx2"/>
                          </a:solidFill>
                          <a:latin typeface="+mn-lt"/>
                          <a:cs typeface="OfficinaSerifBookCTT"/>
                        </a:rPr>
                        <a:t>Расписание</a:t>
                      </a:r>
                      <a:endParaRPr sz="1000" b="0" dirty="0">
                        <a:solidFill>
                          <a:schemeClr val="tx2"/>
                        </a:solidFill>
                        <a:latin typeface="+mn-lt"/>
                        <a:cs typeface="OfficinaSerifBookCTT"/>
                      </a:endParaRPr>
                    </a:p>
                  </a:txBody>
                  <a:tcPr marL="0" marR="0" marT="330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8698387"/>
                  </a:ext>
                </a:extLst>
              </a:tr>
              <a:tr h="373155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ru-RU" sz="1000" b="0" dirty="0" smtClean="0">
                          <a:solidFill>
                            <a:schemeClr val="tx2"/>
                          </a:solidFill>
                          <a:latin typeface="+mn-lt"/>
                          <a:cs typeface="OfficinaSerifBookCTT"/>
                        </a:rPr>
                        <a:t>Настройка прав доступа для сотрудников</a:t>
                      </a:r>
                      <a:endParaRPr sz="1000" b="0" dirty="0">
                        <a:solidFill>
                          <a:schemeClr val="tx2"/>
                        </a:solidFill>
                        <a:latin typeface="+mn-lt"/>
                        <a:cs typeface="OfficinaSerifBookCTT"/>
                      </a:endParaRPr>
                    </a:p>
                  </a:txBody>
                  <a:tcPr marL="0" marR="0" marT="330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9667558"/>
                  </a:ext>
                </a:extLst>
              </a:tr>
              <a:tr h="373155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dirty="0" smtClean="0">
                          <a:solidFill>
                            <a:schemeClr val="tx2"/>
                          </a:solidFill>
                          <a:latin typeface="+mn-lt"/>
                          <a:cs typeface="OfficinaSerifBookCTT"/>
                        </a:rPr>
                        <a:t>Выборочный прием звонков</a:t>
                      </a:r>
                    </a:p>
                  </a:txBody>
                  <a:tcPr marL="0" marR="0" marT="279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758981"/>
                  </a:ext>
                </a:extLst>
              </a:tr>
            </a:tbl>
          </a:graphicData>
        </a:graphic>
      </p:graphicFrame>
      <p:sp>
        <p:nvSpPr>
          <p:cNvPr id="7" name="object 19"/>
          <p:cNvSpPr/>
          <p:nvPr/>
        </p:nvSpPr>
        <p:spPr>
          <a:xfrm>
            <a:off x="4847243" y="2470879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9"/>
          <p:cNvSpPr/>
          <p:nvPr/>
        </p:nvSpPr>
        <p:spPr>
          <a:xfrm>
            <a:off x="6591958" y="2470879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9"/>
          <p:cNvSpPr/>
          <p:nvPr/>
        </p:nvSpPr>
        <p:spPr>
          <a:xfrm>
            <a:off x="8204089" y="2470879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9"/>
          <p:cNvSpPr/>
          <p:nvPr/>
        </p:nvSpPr>
        <p:spPr>
          <a:xfrm>
            <a:off x="9951074" y="2470879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9"/>
          <p:cNvSpPr/>
          <p:nvPr/>
        </p:nvSpPr>
        <p:spPr>
          <a:xfrm>
            <a:off x="4847243" y="4302643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9"/>
          <p:cNvSpPr/>
          <p:nvPr/>
        </p:nvSpPr>
        <p:spPr>
          <a:xfrm>
            <a:off x="6591958" y="4302643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9"/>
          <p:cNvSpPr/>
          <p:nvPr/>
        </p:nvSpPr>
        <p:spPr>
          <a:xfrm>
            <a:off x="8204089" y="4302643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9"/>
          <p:cNvSpPr/>
          <p:nvPr/>
        </p:nvSpPr>
        <p:spPr>
          <a:xfrm>
            <a:off x="9951074" y="4302643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9"/>
          <p:cNvSpPr/>
          <p:nvPr/>
        </p:nvSpPr>
        <p:spPr>
          <a:xfrm>
            <a:off x="4847243" y="2830841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9"/>
          <p:cNvSpPr/>
          <p:nvPr/>
        </p:nvSpPr>
        <p:spPr>
          <a:xfrm>
            <a:off x="6591958" y="2830841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9"/>
          <p:cNvSpPr/>
          <p:nvPr/>
        </p:nvSpPr>
        <p:spPr>
          <a:xfrm>
            <a:off x="8204089" y="2830841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9"/>
          <p:cNvSpPr/>
          <p:nvPr/>
        </p:nvSpPr>
        <p:spPr>
          <a:xfrm>
            <a:off x="9951074" y="2830841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847243" y="3945563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9"/>
          <p:cNvSpPr/>
          <p:nvPr/>
        </p:nvSpPr>
        <p:spPr>
          <a:xfrm>
            <a:off x="6591958" y="3945563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9"/>
          <p:cNvSpPr/>
          <p:nvPr/>
        </p:nvSpPr>
        <p:spPr>
          <a:xfrm>
            <a:off x="8204089" y="3945563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9"/>
          <p:cNvSpPr/>
          <p:nvPr/>
        </p:nvSpPr>
        <p:spPr>
          <a:xfrm>
            <a:off x="9951074" y="3945563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9"/>
          <p:cNvSpPr/>
          <p:nvPr/>
        </p:nvSpPr>
        <p:spPr>
          <a:xfrm>
            <a:off x="4847243" y="3199512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9"/>
          <p:cNvSpPr/>
          <p:nvPr/>
        </p:nvSpPr>
        <p:spPr>
          <a:xfrm>
            <a:off x="6591958" y="3199512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9"/>
          <p:cNvSpPr/>
          <p:nvPr/>
        </p:nvSpPr>
        <p:spPr>
          <a:xfrm>
            <a:off x="8204089" y="3199512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19"/>
          <p:cNvSpPr/>
          <p:nvPr/>
        </p:nvSpPr>
        <p:spPr>
          <a:xfrm>
            <a:off x="9951074" y="3199512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19"/>
          <p:cNvSpPr/>
          <p:nvPr/>
        </p:nvSpPr>
        <p:spPr>
          <a:xfrm>
            <a:off x="4847243" y="3585601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19"/>
          <p:cNvSpPr/>
          <p:nvPr/>
        </p:nvSpPr>
        <p:spPr>
          <a:xfrm>
            <a:off x="6591958" y="3585601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9"/>
          <p:cNvSpPr/>
          <p:nvPr/>
        </p:nvSpPr>
        <p:spPr>
          <a:xfrm>
            <a:off x="8204089" y="3585601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9"/>
          <p:cNvSpPr/>
          <p:nvPr/>
        </p:nvSpPr>
        <p:spPr>
          <a:xfrm>
            <a:off x="9951074" y="3585601"/>
            <a:ext cx="234138" cy="2448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9"/>
          <p:cNvSpPr/>
          <p:nvPr/>
        </p:nvSpPr>
        <p:spPr>
          <a:xfrm>
            <a:off x="4841667" y="5042930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9"/>
          <p:cNvSpPr/>
          <p:nvPr/>
        </p:nvSpPr>
        <p:spPr>
          <a:xfrm>
            <a:off x="6586382" y="5042930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9"/>
          <p:cNvSpPr/>
          <p:nvPr/>
        </p:nvSpPr>
        <p:spPr>
          <a:xfrm>
            <a:off x="8198513" y="5042930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9"/>
          <p:cNvSpPr/>
          <p:nvPr/>
        </p:nvSpPr>
        <p:spPr>
          <a:xfrm>
            <a:off x="9945498" y="5042930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9"/>
          <p:cNvSpPr/>
          <p:nvPr/>
        </p:nvSpPr>
        <p:spPr>
          <a:xfrm>
            <a:off x="4841667" y="4677141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9"/>
          <p:cNvSpPr/>
          <p:nvPr/>
        </p:nvSpPr>
        <p:spPr>
          <a:xfrm>
            <a:off x="6586382" y="4677141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9"/>
          <p:cNvSpPr/>
          <p:nvPr/>
        </p:nvSpPr>
        <p:spPr>
          <a:xfrm>
            <a:off x="8198513" y="4677141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9"/>
          <p:cNvSpPr/>
          <p:nvPr/>
        </p:nvSpPr>
        <p:spPr>
          <a:xfrm>
            <a:off x="9945498" y="4677141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19"/>
          <p:cNvSpPr/>
          <p:nvPr/>
        </p:nvSpPr>
        <p:spPr>
          <a:xfrm>
            <a:off x="4841667" y="5431118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19"/>
          <p:cNvSpPr/>
          <p:nvPr/>
        </p:nvSpPr>
        <p:spPr>
          <a:xfrm>
            <a:off x="6586382" y="5431118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19"/>
          <p:cNvSpPr/>
          <p:nvPr/>
        </p:nvSpPr>
        <p:spPr>
          <a:xfrm>
            <a:off x="8198513" y="5431118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19"/>
          <p:cNvSpPr/>
          <p:nvPr/>
        </p:nvSpPr>
        <p:spPr>
          <a:xfrm>
            <a:off x="9945498" y="5431118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19"/>
          <p:cNvSpPr/>
          <p:nvPr/>
        </p:nvSpPr>
        <p:spPr>
          <a:xfrm>
            <a:off x="4841667" y="5783219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19"/>
          <p:cNvSpPr/>
          <p:nvPr/>
        </p:nvSpPr>
        <p:spPr>
          <a:xfrm>
            <a:off x="6586382" y="5783219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19"/>
          <p:cNvSpPr/>
          <p:nvPr/>
        </p:nvSpPr>
        <p:spPr>
          <a:xfrm>
            <a:off x="8198513" y="5783219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19"/>
          <p:cNvSpPr/>
          <p:nvPr/>
        </p:nvSpPr>
        <p:spPr>
          <a:xfrm>
            <a:off x="9945498" y="5783219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5164624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48" name="Слайд think-cell" r:id="rId6" imgW="463" imgH="464" progId="TCLayout.ActiveDocument.1">
                  <p:embed/>
                </p:oleObj>
              </mc:Choice>
              <mc:Fallback>
                <p:oleObj name="Слайд think-cell" r:id="rId6" imgW="463" imgH="464" progId="TCLayout.ActiveDocument.1">
                  <p:embed/>
                  <p:pic>
                    <p:nvPicPr>
                      <p:cNvPr id="5" name="Объект 4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Прямоугольник 5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ru-RU" sz="3100" dirty="0" err="1" smtClean="0">
              <a:latin typeface="Beeline Sans" panose="020B0500040202020204" pitchFamily="34" charset="-52"/>
              <a:ea typeface="Arial" charset="0"/>
              <a:cs typeface="Arial" charset="0"/>
              <a:sym typeface="Beeline Sans" panose="020B0500040202020204" pitchFamily="34" charset="-52"/>
            </a:endParaRPr>
          </a:p>
        </p:txBody>
      </p:sp>
      <p:graphicFrame>
        <p:nvGraphicFramePr>
          <p:cNvPr id="34" name="Таблица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5714769"/>
              </p:ext>
            </p:extLst>
          </p:nvPr>
        </p:nvGraphicFramePr>
        <p:xfrm>
          <a:off x="361466" y="658742"/>
          <a:ext cx="10800248" cy="2279269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3841219">
                  <a:extLst>
                    <a:ext uri="{9D8B030D-6E8A-4147-A177-3AD203B41FA5}">
                      <a16:colId xmlns:a16="http://schemas.microsoft.com/office/drawing/2014/main" val="444115573"/>
                    </a:ext>
                  </a:extLst>
                </a:gridCol>
                <a:gridCol w="1739757">
                  <a:extLst>
                    <a:ext uri="{9D8B030D-6E8A-4147-A177-3AD203B41FA5}">
                      <a16:colId xmlns:a16="http://schemas.microsoft.com/office/drawing/2014/main" val="397333259"/>
                    </a:ext>
                  </a:extLst>
                </a:gridCol>
                <a:gridCol w="1739757">
                  <a:extLst>
                    <a:ext uri="{9D8B030D-6E8A-4147-A177-3AD203B41FA5}">
                      <a16:colId xmlns:a16="http://schemas.microsoft.com/office/drawing/2014/main" val="1678565669"/>
                    </a:ext>
                  </a:extLst>
                </a:gridCol>
                <a:gridCol w="1482868">
                  <a:extLst>
                    <a:ext uri="{9D8B030D-6E8A-4147-A177-3AD203B41FA5}">
                      <a16:colId xmlns:a16="http://schemas.microsoft.com/office/drawing/2014/main" val="314938210"/>
                    </a:ext>
                  </a:extLst>
                </a:gridCol>
                <a:gridCol w="1996647">
                  <a:extLst>
                    <a:ext uri="{9D8B030D-6E8A-4147-A177-3AD203B41FA5}">
                      <a16:colId xmlns:a16="http://schemas.microsoft.com/office/drawing/2014/main" val="2956143092"/>
                    </a:ext>
                  </a:extLst>
                </a:gridCol>
              </a:tblGrid>
              <a:tr h="2885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Минимальный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Базовый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Стандартный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Профессиональный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3000681"/>
                  </a:ext>
                </a:extLst>
              </a:tr>
              <a:tr h="288547">
                <a:tc gridSpan="5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200" b="1" dirty="0" smtClean="0">
                          <a:latin typeface="+mn-lt"/>
                        </a:rPr>
                        <a:t>Другие сервисы</a:t>
                      </a:r>
                      <a:endParaRPr lang="ru-RU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0644635"/>
                  </a:ext>
                </a:extLst>
              </a:tr>
              <a:tr h="340435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lang="ru-RU" sz="1000" b="0" dirty="0" smtClean="0">
                          <a:solidFill>
                            <a:schemeClr val="tx2"/>
                          </a:solidFill>
                          <a:latin typeface="+mn-lt"/>
                          <a:cs typeface="OfficinaSerifBookCTT"/>
                        </a:rPr>
                        <a:t>Отчёт</a:t>
                      </a:r>
                      <a:r>
                        <a:rPr lang="ru-RU" sz="1000" b="0" baseline="0" dirty="0" smtClean="0">
                          <a:solidFill>
                            <a:schemeClr val="tx2"/>
                          </a:solidFill>
                          <a:latin typeface="+mn-lt"/>
                          <a:cs typeface="OfficinaSerifBookCTT"/>
                        </a:rPr>
                        <a:t> по пропущенным звонкам</a:t>
                      </a:r>
                      <a:endParaRPr sz="1000" b="0" dirty="0">
                        <a:solidFill>
                          <a:schemeClr val="tx2"/>
                        </a:solidFill>
                        <a:latin typeface="+mn-lt"/>
                        <a:cs typeface="OfficinaSerifBookCTT"/>
                      </a:endParaRPr>
                    </a:p>
                  </a:txBody>
                  <a:tcPr marL="0" marR="0" marT="3301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410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410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410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410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6057887"/>
                  </a:ext>
                </a:extLst>
              </a:tr>
              <a:tr h="340435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lang="ru-RU" sz="1000" b="0" dirty="0" smtClean="0">
                          <a:solidFill>
                            <a:schemeClr val="tx2"/>
                          </a:solidFill>
                          <a:latin typeface="+mn-lt"/>
                          <a:cs typeface="OfficinaSerifBookCTT"/>
                        </a:rPr>
                        <a:t>Групповой АОН/</a:t>
                      </a:r>
                      <a:r>
                        <a:rPr lang="ru-RU" sz="1000" b="0" dirty="0" err="1" smtClean="0">
                          <a:solidFill>
                            <a:schemeClr val="tx2"/>
                          </a:solidFill>
                          <a:latin typeface="+mn-lt"/>
                          <a:cs typeface="OfficinaSerifBookCTT"/>
                        </a:rPr>
                        <a:t>антиАОН</a:t>
                      </a:r>
                      <a:endParaRPr sz="1000" b="0" dirty="0">
                        <a:solidFill>
                          <a:schemeClr val="tx2"/>
                        </a:solidFill>
                        <a:latin typeface="+mn-lt"/>
                        <a:cs typeface="OfficinaSerifBookCTT"/>
                      </a:endParaRPr>
                    </a:p>
                  </a:txBody>
                  <a:tcPr marL="0" marR="0" marT="3301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2744730"/>
                  </a:ext>
                </a:extLst>
              </a:tr>
              <a:tr h="340435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lang="en-US" sz="1000" b="0" dirty="0" smtClean="0">
                          <a:solidFill>
                            <a:schemeClr val="tx2"/>
                          </a:solidFill>
                          <a:latin typeface="+mn-lt"/>
                          <a:cs typeface="OfficinaSerifBookCTT"/>
                        </a:rPr>
                        <a:t>Busy</a:t>
                      </a:r>
                      <a:r>
                        <a:rPr lang="en-US" sz="1000" b="0" baseline="0" dirty="0" smtClean="0">
                          <a:solidFill>
                            <a:schemeClr val="tx2"/>
                          </a:solidFill>
                          <a:latin typeface="+mn-lt"/>
                          <a:cs typeface="OfficinaSerifBookCTT"/>
                        </a:rPr>
                        <a:t> lamp field (BLF)</a:t>
                      </a:r>
                      <a:endParaRPr sz="1000" b="0" dirty="0">
                        <a:solidFill>
                          <a:schemeClr val="tx2"/>
                        </a:solidFill>
                        <a:latin typeface="+mn-lt"/>
                        <a:cs typeface="OfficinaSerifBookCTT"/>
                      </a:endParaRPr>
                    </a:p>
                  </a:txBody>
                  <a:tcPr marL="0" marR="0" marT="3301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00" kern="1200" noProof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00" kern="1200" noProof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00" kern="1200" noProof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00" kern="1200" noProof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0124030"/>
                  </a:ext>
                </a:extLst>
              </a:tr>
              <a:tr h="340435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lang="ru-RU" sz="1000" b="0" dirty="0" smtClean="0">
                          <a:solidFill>
                            <a:schemeClr val="tx2"/>
                          </a:solidFill>
                          <a:latin typeface="+mn-lt"/>
                          <a:cs typeface="OfficinaSerifBookCTT"/>
                        </a:rPr>
                        <a:t>Ограничения</a:t>
                      </a:r>
                      <a:r>
                        <a:rPr lang="ru-RU" sz="1000" b="0" baseline="0" dirty="0" smtClean="0">
                          <a:solidFill>
                            <a:schemeClr val="tx2"/>
                          </a:solidFill>
                          <a:latin typeface="+mn-lt"/>
                          <a:cs typeface="OfficinaSerifBookCTT"/>
                        </a:rPr>
                        <a:t> входящих/исходящих вызовов</a:t>
                      </a:r>
                      <a:endParaRPr sz="1000" b="0" dirty="0">
                        <a:solidFill>
                          <a:schemeClr val="tx2"/>
                        </a:solidFill>
                        <a:latin typeface="+mn-lt"/>
                        <a:cs typeface="OfficinaSerifBookCTT"/>
                      </a:endParaRPr>
                    </a:p>
                  </a:txBody>
                  <a:tcPr marL="0" marR="0" marT="3301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087201"/>
                  </a:ext>
                </a:extLst>
              </a:tr>
              <a:tr h="340435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lang="ru-RU" sz="1000" b="0" dirty="0" smtClean="0">
                          <a:solidFill>
                            <a:schemeClr val="tx2"/>
                          </a:solidFill>
                          <a:latin typeface="+mn-lt"/>
                          <a:cs typeface="OfficinaSerifBookCTT"/>
                        </a:rPr>
                        <a:t>Перехват вызова</a:t>
                      </a:r>
                      <a:endParaRPr sz="1000" b="0" dirty="0">
                        <a:solidFill>
                          <a:schemeClr val="tx2"/>
                        </a:solidFill>
                        <a:latin typeface="+mn-lt"/>
                        <a:cs typeface="OfficinaSerifBookCTT"/>
                      </a:endParaRPr>
                    </a:p>
                  </a:txBody>
                  <a:tcPr marL="0" marR="0" marT="3301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1685737"/>
                  </a:ext>
                </a:extLst>
              </a:tr>
            </a:tbl>
          </a:graphicData>
        </a:graphic>
      </p:graphicFrame>
      <p:sp>
        <p:nvSpPr>
          <p:cNvPr id="49" name="object 19"/>
          <p:cNvSpPr/>
          <p:nvPr/>
        </p:nvSpPr>
        <p:spPr>
          <a:xfrm>
            <a:off x="4908361" y="1595458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19"/>
          <p:cNvSpPr/>
          <p:nvPr/>
        </p:nvSpPr>
        <p:spPr>
          <a:xfrm>
            <a:off x="6653076" y="1595458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19"/>
          <p:cNvSpPr/>
          <p:nvPr/>
        </p:nvSpPr>
        <p:spPr>
          <a:xfrm>
            <a:off x="8265207" y="1595458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19"/>
          <p:cNvSpPr/>
          <p:nvPr/>
        </p:nvSpPr>
        <p:spPr>
          <a:xfrm>
            <a:off x="10012192" y="1595458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19"/>
          <p:cNvSpPr/>
          <p:nvPr/>
        </p:nvSpPr>
        <p:spPr>
          <a:xfrm>
            <a:off x="4908361" y="2022273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19"/>
          <p:cNvSpPr/>
          <p:nvPr/>
        </p:nvSpPr>
        <p:spPr>
          <a:xfrm>
            <a:off x="6653076" y="2022273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19"/>
          <p:cNvSpPr/>
          <p:nvPr/>
        </p:nvSpPr>
        <p:spPr>
          <a:xfrm>
            <a:off x="8265207" y="2022273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19"/>
          <p:cNvSpPr/>
          <p:nvPr/>
        </p:nvSpPr>
        <p:spPr>
          <a:xfrm>
            <a:off x="10012192" y="2022273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19"/>
          <p:cNvSpPr/>
          <p:nvPr/>
        </p:nvSpPr>
        <p:spPr>
          <a:xfrm>
            <a:off x="4908361" y="2388062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19"/>
          <p:cNvSpPr/>
          <p:nvPr/>
        </p:nvSpPr>
        <p:spPr>
          <a:xfrm>
            <a:off x="6653076" y="2388062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19"/>
          <p:cNvSpPr/>
          <p:nvPr/>
        </p:nvSpPr>
        <p:spPr>
          <a:xfrm>
            <a:off x="8265207" y="2388062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19"/>
          <p:cNvSpPr/>
          <p:nvPr/>
        </p:nvSpPr>
        <p:spPr>
          <a:xfrm>
            <a:off x="10012192" y="2388062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19"/>
          <p:cNvSpPr/>
          <p:nvPr/>
        </p:nvSpPr>
        <p:spPr>
          <a:xfrm>
            <a:off x="4908361" y="2753851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19"/>
          <p:cNvSpPr/>
          <p:nvPr/>
        </p:nvSpPr>
        <p:spPr>
          <a:xfrm>
            <a:off x="6653076" y="2753851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19"/>
          <p:cNvSpPr/>
          <p:nvPr/>
        </p:nvSpPr>
        <p:spPr>
          <a:xfrm>
            <a:off x="8265207" y="2753851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19"/>
          <p:cNvSpPr/>
          <p:nvPr/>
        </p:nvSpPr>
        <p:spPr>
          <a:xfrm>
            <a:off x="10012192" y="2753851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3" name="Таблица 1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767835"/>
              </p:ext>
            </p:extLst>
          </p:nvPr>
        </p:nvGraphicFramePr>
        <p:xfrm>
          <a:off x="361466" y="3324242"/>
          <a:ext cx="10801351" cy="2864737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3841611">
                  <a:extLst>
                    <a:ext uri="{9D8B030D-6E8A-4147-A177-3AD203B41FA5}">
                      <a16:colId xmlns:a16="http://schemas.microsoft.com/office/drawing/2014/main" val="444115573"/>
                    </a:ext>
                  </a:extLst>
                </a:gridCol>
                <a:gridCol w="1739935">
                  <a:extLst>
                    <a:ext uri="{9D8B030D-6E8A-4147-A177-3AD203B41FA5}">
                      <a16:colId xmlns:a16="http://schemas.microsoft.com/office/drawing/2014/main" val="397333259"/>
                    </a:ext>
                  </a:extLst>
                </a:gridCol>
                <a:gridCol w="1739935">
                  <a:extLst>
                    <a:ext uri="{9D8B030D-6E8A-4147-A177-3AD203B41FA5}">
                      <a16:colId xmlns:a16="http://schemas.microsoft.com/office/drawing/2014/main" val="1678565669"/>
                    </a:ext>
                  </a:extLst>
                </a:gridCol>
                <a:gridCol w="1483019">
                  <a:extLst>
                    <a:ext uri="{9D8B030D-6E8A-4147-A177-3AD203B41FA5}">
                      <a16:colId xmlns:a16="http://schemas.microsoft.com/office/drawing/2014/main" val="314938210"/>
                    </a:ext>
                  </a:extLst>
                </a:gridCol>
                <a:gridCol w="1996851">
                  <a:extLst>
                    <a:ext uri="{9D8B030D-6E8A-4147-A177-3AD203B41FA5}">
                      <a16:colId xmlns:a16="http://schemas.microsoft.com/office/drawing/2014/main" val="2956143092"/>
                    </a:ext>
                  </a:extLst>
                </a:gridCol>
              </a:tblGrid>
              <a:tr h="328769">
                <a:tc gridSpan="5">
                  <a:txBody>
                    <a:bodyPr/>
                    <a:lstStyle/>
                    <a:p>
                      <a:pPr marL="77470"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lang="ru-RU" sz="12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Настройки сотрудников</a:t>
                      </a:r>
                      <a:endParaRPr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3301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0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0560292"/>
                  </a:ext>
                </a:extLst>
              </a:tr>
              <a:tr h="316996">
                <a:tc>
                  <a:txBody>
                    <a:bodyPr/>
                    <a:lstStyle/>
                    <a:p>
                      <a:pPr marL="88900" indent="0">
                        <a:lnSpc>
                          <a:spcPct val="100000"/>
                        </a:lnSpc>
                      </a:pPr>
                      <a:r>
                        <a:rPr lang="ru-RU" sz="1000" b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OfficinaSerifBookCTT"/>
                        </a:rPr>
                        <a:t>Короткая нумерация</a:t>
                      </a:r>
                      <a:endParaRPr lang="ru-RU" sz="1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marL="0" marR="0" marT="279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2710173"/>
                  </a:ext>
                </a:extLst>
              </a:tr>
              <a:tr h="316996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lang="ru-RU" sz="1000" b="0" dirty="0" smtClean="0">
                          <a:latin typeface="+mn-lt"/>
                          <a:cs typeface="OfficinaSerifBookCTT"/>
                        </a:rPr>
                        <a:t>Простая переадресация звонков</a:t>
                      </a:r>
                      <a:endParaRPr sz="1000" b="0" dirty="0">
                        <a:latin typeface="+mn-lt"/>
                        <a:cs typeface="OfficinaSerifBookCTT"/>
                      </a:endParaRPr>
                    </a:p>
                  </a:txBody>
                  <a:tcPr marL="0" marR="0" marT="279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875611"/>
                  </a:ext>
                </a:extLst>
              </a:tr>
              <a:tr h="316996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ru-RU" sz="1000" b="0" dirty="0" smtClean="0">
                          <a:latin typeface="+mn-lt"/>
                          <a:cs typeface="OfficinaSerifBookCTT"/>
                        </a:rPr>
                        <a:t>Выборочная</a:t>
                      </a:r>
                      <a:r>
                        <a:rPr lang="ru-RU" sz="1000" b="0" baseline="0" dirty="0" smtClean="0">
                          <a:latin typeface="+mn-lt"/>
                          <a:cs typeface="OfficinaSerifBookCTT"/>
                        </a:rPr>
                        <a:t> переадресация звонков</a:t>
                      </a:r>
                      <a:endParaRPr sz="1000" b="0" dirty="0">
                        <a:latin typeface="+mn-lt"/>
                        <a:cs typeface="OfficinaSerifBookCTT"/>
                      </a:endParaRPr>
                    </a:p>
                  </a:txBody>
                  <a:tcPr marL="0" marR="0" marT="292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7353548"/>
                  </a:ext>
                </a:extLst>
              </a:tr>
              <a:tr h="316996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ru-RU" sz="1000" b="0" dirty="0" smtClean="0">
                          <a:latin typeface="+mn-lt"/>
                          <a:cs typeface="OfficinaSerifBookCTT"/>
                        </a:rPr>
                        <a:t>Одновременный и последовательный вызов</a:t>
                      </a:r>
                      <a:endParaRPr sz="1000" b="0" dirty="0">
                        <a:latin typeface="+mn-lt"/>
                        <a:cs typeface="OfficinaSerifBookCTT"/>
                      </a:endParaRPr>
                    </a:p>
                  </a:txBody>
                  <a:tcPr marL="0" marR="0" marT="330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6944845"/>
                  </a:ext>
                </a:extLst>
              </a:tr>
              <a:tr h="316996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ru-RU" sz="1000" b="0" dirty="0" smtClean="0">
                          <a:latin typeface="+mn-lt"/>
                          <a:cs typeface="OfficinaSerifBookCTT"/>
                        </a:rPr>
                        <a:t>Черные/белые</a:t>
                      </a:r>
                      <a:r>
                        <a:rPr lang="ru-RU" sz="1000" b="0" baseline="0" dirty="0" smtClean="0">
                          <a:latin typeface="+mn-lt"/>
                          <a:cs typeface="OfficinaSerifBookCTT"/>
                        </a:rPr>
                        <a:t> списки</a:t>
                      </a:r>
                      <a:endParaRPr sz="1000" b="0" dirty="0">
                        <a:latin typeface="+mn-lt"/>
                        <a:cs typeface="OfficinaSerifBookCTT"/>
                      </a:endParaRPr>
                    </a:p>
                  </a:txBody>
                  <a:tcPr marL="0" marR="0" marT="330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0982698"/>
                  </a:ext>
                </a:extLst>
              </a:tr>
              <a:tr h="316996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lang="ru-RU" sz="1000" b="0" dirty="0" smtClean="0">
                          <a:latin typeface="+mn-lt"/>
                          <a:cs typeface="OfficinaSerifBookCTT"/>
                        </a:rPr>
                        <a:t>Дополнительный номер</a:t>
                      </a:r>
                      <a:endParaRPr sz="1000" b="0" dirty="0">
                        <a:latin typeface="+mn-lt"/>
                        <a:cs typeface="OfficinaSerifBookCTT"/>
                      </a:endParaRPr>
                    </a:p>
                  </a:txBody>
                  <a:tcPr marL="0" marR="0" marT="3301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025015"/>
                  </a:ext>
                </a:extLst>
              </a:tr>
              <a:tr h="316996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lang="ru-RU" sz="1000" b="0" dirty="0" smtClean="0">
                          <a:latin typeface="+mn-lt"/>
                          <a:cs typeface="OfficinaSerifBookCTT"/>
                        </a:rPr>
                        <a:t>Перевод</a:t>
                      </a:r>
                      <a:r>
                        <a:rPr lang="ru-RU" sz="1000" b="0" baseline="0" dirty="0" smtClean="0">
                          <a:latin typeface="+mn-lt"/>
                          <a:cs typeface="OfficinaSerifBookCTT"/>
                        </a:rPr>
                        <a:t> вызова</a:t>
                      </a:r>
                      <a:endParaRPr sz="1000" b="0" dirty="0">
                        <a:latin typeface="+mn-lt"/>
                        <a:cs typeface="OfficinaSerifBookCTT"/>
                      </a:endParaRPr>
                    </a:p>
                  </a:txBody>
                  <a:tcPr marL="0" marR="0" marT="3301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ru-RU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1608645"/>
                  </a:ext>
                </a:extLst>
              </a:tr>
              <a:tr h="316996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lang="ru-RU" sz="1000" b="0" dirty="0" err="1" smtClean="0">
                          <a:latin typeface="+mn-lt"/>
                          <a:cs typeface="OfficinaSerifBookCTT"/>
                        </a:rPr>
                        <a:t>Софтфон</a:t>
                      </a:r>
                      <a:r>
                        <a:rPr lang="ru-RU" sz="1000" b="0" dirty="0" smtClean="0">
                          <a:latin typeface="+mn-lt"/>
                          <a:cs typeface="OfficinaSerifBookCTT"/>
                        </a:rPr>
                        <a:t> (за абонента)</a:t>
                      </a:r>
                      <a:endParaRPr sz="1000" b="0" dirty="0">
                        <a:latin typeface="+mn-lt"/>
                        <a:cs typeface="OfficinaSerifBookCTT"/>
                      </a:endParaRPr>
                    </a:p>
                  </a:txBody>
                  <a:tcPr marL="0" marR="0" marT="3301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101,67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101,67 ₽/мес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101,67 ₽/мес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101,67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7658921"/>
                  </a:ext>
                </a:extLst>
              </a:tr>
            </a:tbl>
          </a:graphicData>
        </a:graphic>
      </p:graphicFrame>
      <p:sp>
        <p:nvSpPr>
          <p:cNvPr id="104" name="object 19"/>
          <p:cNvSpPr/>
          <p:nvPr/>
        </p:nvSpPr>
        <p:spPr>
          <a:xfrm>
            <a:off x="4908361" y="3672514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9"/>
          <p:cNvSpPr/>
          <p:nvPr/>
        </p:nvSpPr>
        <p:spPr>
          <a:xfrm>
            <a:off x="6653076" y="3672514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9"/>
          <p:cNvSpPr/>
          <p:nvPr/>
        </p:nvSpPr>
        <p:spPr>
          <a:xfrm>
            <a:off x="8265207" y="3672514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9"/>
          <p:cNvSpPr/>
          <p:nvPr/>
        </p:nvSpPr>
        <p:spPr>
          <a:xfrm>
            <a:off x="10012192" y="3672514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9"/>
          <p:cNvSpPr/>
          <p:nvPr/>
        </p:nvSpPr>
        <p:spPr>
          <a:xfrm>
            <a:off x="4908361" y="3992223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9"/>
          <p:cNvSpPr/>
          <p:nvPr/>
        </p:nvSpPr>
        <p:spPr>
          <a:xfrm>
            <a:off x="6653076" y="3992223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9"/>
          <p:cNvSpPr/>
          <p:nvPr/>
        </p:nvSpPr>
        <p:spPr>
          <a:xfrm>
            <a:off x="8265207" y="3992223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9"/>
          <p:cNvSpPr/>
          <p:nvPr/>
        </p:nvSpPr>
        <p:spPr>
          <a:xfrm>
            <a:off x="10012192" y="3992223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9"/>
          <p:cNvSpPr/>
          <p:nvPr/>
        </p:nvSpPr>
        <p:spPr>
          <a:xfrm>
            <a:off x="4908361" y="4311932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9"/>
          <p:cNvSpPr/>
          <p:nvPr/>
        </p:nvSpPr>
        <p:spPr>
          <a:xfrm>
            <a:off x="6653076" y="4311932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9"/>
          <p:cNvSpPr/>
          <p:nvPr/>
        </p:nvSpPr>
        <p:spPr>
          <a:xfrm>
            <a:off x="8265207" y="4311932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9"/>
          <p:cNvSpPr/>
          <p:nvPr/>
        </p:nvSpPr>
        <p:spPr>
          <a:xfrm>
            <a:off x="10012192" y="4311932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9"/>
          <p:cNvSpPr/>
          <p:nvPr/>
        </p:nvSpPr>
        <p:spPr>
          <a:xfrm>
            <a:off x="4908361" y="4631641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9"/>
          <p:cNvSpPr/>
          <p:nvPr/>
        </p:nvSpPr>
        <p:spPr>
          <a:xfrm>
            <a:off x="6653076" y="4631641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9"/>
          <p:cNvSpPr/>
          <p:nvPr/>
        </p:nvSpPr>
        <p:spPr>
          <a:xfrm>
            <a:off x="8265207" y="4631641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9"/>
          <p:cNvSpPr/>
          <p:nvPr/>
        </p:nvSpPr>
        <p:spPr>
          <a:xfrm>
            <a:off x="10012192" y="4631641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9"/>
          <p:cNvSpPr/>
          <p:nvPr/>
        </p:nvSpPr>
        <p:spPr>
          <a:xfrm>
            <a:off x="4908361" y="4951350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9"/>
          <p:cNvSpPr/>
          <p:nvPr/>
        </p:nvSpPr>
        <p:spPr>
          <a:xfrm>
            <a:off x="6653076" y="4951350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9"/>
          <p:cNvSpPr/>
          <p:nvPr/>
        </p:nvSpPr>
        <p:spPr>
          <a:xfrm>
            <a:off x="8265207" y="4951350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9"/>
          <p:cNvSpPr/>
          <p:nvPr/>
        </p:nvSpPr>
        <p:spPr>
          <a:xfrm>
            <a:off x="10012192" y="4951350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9"/>
          <p:cNvSpPr/>
          <p:nvPr/>
        </p:nvSpPr>
        <p:spPr>
          <a:xfrm>
            <a:off x="4908361" y="5271059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9"/>
          <p:cNvSpPr/>
          <p:nvPr/>
        </p:nvSpPr>
        <p:spPr>
          <a:xfrm>
            <a:off x="6653076" y="5271059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9"/>
          <p:cNvSpPr/>
          <p:nvPr/>
        </p:nvSpPr>
        <p:spPr>
          <a:xfrm>
            <a:off x="8265207" y="5271059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9"/>
          <p:cNvSpPr/>
          <p:nvPr/>
        </p:nvSpPr>
        <p:spPr>
          <a:xfrm>
            <a:off x="10012192" y="5271059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19"/>
          <p:cNvSpPr/>
          <p:nvPr/>
        </p:nvSpPr>
        <p:spPr>
          <a:xfrm>
            <a:off x="4918987" y="5588213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19"/>
          <p:cNvSpPr/>
          <p:nvPr/>
        </p:nvSpPr>
        <p:spPr>
          <a:xfrm>
            <a:off x="6663702" y="5588213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19"/>
          <p:cNvSpPr/>
          <p:nvPr/>
        </p:nvSpPr>
        <p:spPr>
          <a:xfrm>
            <a:off x="8275833" y="5588213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19"/>
          <p:cNvSpPr/>
          <p:nvPr/>
        </p:nvSpPr>
        <p:spPr>
          <a:xfrm>
            <a:off x="10022818" y="5588213"/>
            <a:ext cx="239714" cy="2506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0034277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2" name="Слайд think-cell" r:id="rId6" imgW="463" imgH="464" progId="TCLayout.ActiveDocument.1">
                  <p:embed/>
                </p:oleObj>
              </mc:Choice>
              <mc:Fallback>
                <p:oleObj name="Слайд think-cell" r:id="rId6" imgW="463" imgH="464" progId="TCLayout.ActiveDocument.1">
                  <p:embed/>
                  <p:pic>
                    <p:nvPicPr>
                      <p:cNvPr id="5" name="Объект 4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Прямоугольник 5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ru-RU" sz="3100" dirty="0" err="1" smtClean="0">
              <a:latin typeface="Beeline Sans" panose="020B0500040202020204" pitchFamily="34" charset="-52"/>
              <a:ea typeface="Arial" charset="0"/>
              <a:cs typeface="Arial" charset="0"/>
              <a:sym typeface="Beeline Sans" panose="020B0500040202020204" pitchFamily="34" charset="-52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10936" y="757115"/>
            <a:ext cx="10845701" cy="2039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6845" marR="105410" indent="-144780">
              <a:lnSpc>
                <a:spcPct val="114999"/>
              </a:lnSpc>
              <a:spcBef>
                <a:spcPts val="100"/>
              </a:spcBef>
            </a:pPr>
            <a:r>
              <a:rPr lang="ru-RU" sz="1000" spc="-5" dirty="0">
                <a:cs typeface="OfficinaSerifBookCTT"/>
              </a:rPr>
              <a:t>1. Абонентская </a:t>
            </a:r>
            <a:r>
              <a:rPr lang="ru-RU" sz="1000" spc="-15" dirty="0">
                <a:cs typeface="OfficinaSerifBookCTT"/>
              </a:rPr>
              <a:t>плата </a:t>
            </a:r>
            <a:r>
              <a:rPr lang="ru-RU" sz="1000" spc="-5" dirty="0">
                <a:cs typeface="OfficinaSerifBookCTT"/>
              </a:rPr>
              <a:t>взимается по окончанию расчетного периода (месяц). За оказанные услуги Оператор ежемесячно </a:t>
            </a:r>
            <a:r>
              <a:rPr lang="ru-RU" sz="1000" dirty="0">
                <a:cs typeface="OfficinaSerifBookCTT"/>
              </a:rPr>
              <a:t>(по </a:t>
            </a:r>
            <a:r>
              <a:rPr lang="ru-RU" sz="1000" spc="-5" dirty="0">
                <a:cs typeface="OfficinaSerifBookCTT"/>
              </a:rPr>
              <a:t>истечении расчетного периода </a:t>
            </a:r>
            <a:r>
              <a:rPr lang="ru-RU" sz="1000" dirty="0">
                <a:cs typeface="OfficinaSerifBookCTT"/>
              </a:rPr>
              <a:t>— месяца </a:t>
            </a:r>
            <a:r>
              <a:rPr lang="ru-RU" sz="1000" spc="-5" dirty="0">
                <a:cs typeface="OfficinaSerifBookCTT"/>
              </a:rPr>
              <a:t>оказания </a:t>
            </a:r>
            <a:r>
              <a:rPr lang="ru-RU" sz="1000" dirty="0">
                <a:cs typeface="OfficinaSerifBookCTT"/>
              </a:rPr>
              <a:t>услуг)  </a:t>
            </a:r>
            <a:r>
              <a:rPr lang="ru-RU" sz="1000" spc="-5" dirty="0">
                <a:cs typeface="OfficinaSerifBookCTT"/>
              </a:rPr>
              <a:t>выставляет Абоненту </a:t>
            </a:r>
            <a:r>
              <a:rPr lang="ru-RU" sz="1000" dirty="0">
                <a:cs typeface="OfficinaSerifBookCTT"/>
              </a:rPr>
              <a:t>счет в </a:t>
            </a:r>
            <a:r>
              <a:rPr lang="ru-RU" sz="1000" spc="-5" dirty="0">
                <a:cs typeface="OfficinaSerifBookCTT"/>
              </a:rPr>
              <a:t>соответствии </a:t>
            </a:r>
            <a:r>
              <a:rPr lang="ru-RU" sz="1000" dirty="0">
                <a:cs typeface="OfficinaSerifBookCTT"/>
              </a:rPr>
              <a:t>с </a:t>
            </a:r>
            <a:r>
              <a:rPr lang="ru-RU" sz="1000" spc="-5" dirty="0">
                <a:cs typeface="OfficinaSerifBookCTT"/>
              </a:rPr>
              <a:t>действующими тарифами Оператора. </a:t>
            </a:r>
            <a:r>
              <a:rPr lang="ru-RU" sz="1000" spc="-15" dirty="0">
                <a:cs typeface="OfficinaSerifBookCTT"/>
              </a:rPr>
              <a:t>Счет </a:t>
            </a:r>
            <a:r>
              <a:rPr lang="ru-RU" sz="1000" spc="-5" dirty="0">
                <a:cs typeface="OfficinaSerifBookCTT"/>
              </a:rPr>
              <a:t>должен быть оплачен Абонентом </a:t>
            </a:r>
            <a:r>
              <a:rPr lang="ru-RU" sz="1000" dirty="0">
                <a:cs typeface="OfficinaSerifBookCTT"/>
              </a:rPr>
              <a:t>в </a:t>
            </a:r>
            <a:r>
              <a:rPr lang="ru-RU" sz="1000" spc="-5" dirty="0">
                <a:cs typeface="OfficinaSerifBookCTT"/>
              </a:rPr>
              <a:t>течение </a:t>
            </a:r>
            <a:r>
              <a:rPr lang="ru-RU" sz="1000" dirty="0">
                <a:cs typeface="OfficinaSerifBookCTT"/>
              </a:rPr>
              <a:t>25 </a:t>
            </a:r>
            <a:r>
              <a:rPr lang="ru-RU" sz="1000" spc="-5" dirty="0">
                <a:cs typeface="OfficinaSerifBookCTT"/>
              </a:rPr>
              <a:t>дней </a:t>
            </a:r>
            <a:r>
              <a:rPr lang="ru-RU" sz="1000" dirty="0">
                <a:cs typeface="OfficinaSerifBookCTT"/>
              </a:rPr>
              <a:t>с </a:t>
            </a:r>
            <a:r>
              <a:rPr lang="ru-RU" sz="1000" spc="-5" dirty="0">
                <a:cs typeface="OfficinaSerifBookCTT"/>
              </a:rPr>
              <a:t>момента </a:t>
            </a:r>
            <a:r>
              <a:rPr lang="ru-RU" sz="1000" dirty="0">
                <a:cs typeface="OfficinaSerifBookCTT"/>
              </a:rPr>
              <a:t>его </a:t>
            </a:r>
            <a:r>
              <a:rPr lang="ru-RU" sz="1000" spc="-5" dirty="0">
                <a:cs typeface="OfficinaSerifBookCTT"/>
              </a:rPr>
              <a:t>выставления, </a:t>
            </a:r>
            <a:r>
              <a:rPr lang="ru-RU" sz="1000" dirty="0">
                <a:cs typeface="OfficinaSerifBookCTT"/>
              </a:rPr>
              <a:t>если </a:t>
            </a:r>
            <a:r>
              <a:rPr lang="ru-RU" sz="1000" spc="-5" dirty="0">
                <a:cs typeface="OfficinaSerifBookCTT"/>
              </a:rPr>
              <a:t>иной  срок </a:t>
            </a:r>
            <a:r>
              <a:rPr lang="ru-RU" sz="1000" dirty="0">
                <a:cs typeface="OfficinaSerifBookCTT"/>
              </a:rPr>
              <a:t>не </a:t>
            </a:r>
            <a:r>
              <a:rPr lang="ru-RU" sz="1000" spc="-5" dirty="0">
                <a:cs typeface="OfficinaSerifBookCTT"/>
              </a:rPr>
              <a:t>предусмотрен</a:t>
            </a:r>
            <a:r>
              <a:rPr lang="ru-RU" sz="1000" spc="-60" dirty="0">
                <a:cs typeface="OfficinaSerifBookCTT"/>
              </a:rPr>
              <a:t> </a:t>
            </a:r>
            <a:r>
              <a:rPr lang="ru-RU" sz="1000" spc="-5" dirty="0">
                <a:cs typeface="OfficinaSerifBookCTT"/>
              </a:rPr>
              <a:t>Договором.</a:t>
            </a:r>
            <a:endParaRPr lang="ru-RU" sz="1000" dirty="0">
              <a:cs typeface="OfficinaSerifBookCTT"/>
            </a:endParaRPr>
          </a:p>
          <a:p>
            <a:pPr marL="156845" marR="33655" indent="-144780">
              <a:lnSpc>
                <a:spcPct val="114999"/>
              </a:lnSpc>
            </a:pPr>
            <a:r>
              <a:rPr lang="ru-RU" sz="1000" dirty="0" smtClean="0">
                <a:cs typeface="OfficinaSerifBookCTT"/>
              </a:rPr>
              <a:t>2</a:t>
            </a:r>
            <a:r>
              <a:rPr lang="ru-RU" sz="1000" dirty="0">
                <a:cs typeface="OfficinaSerifBookCTT"/>
              </a:rPr>
              <a:t>. </a:t>
            </a:r>
            <a:r>
              <a:rPr lang="ru-RU" sz="1000" spc="-5" dirty="0">
                <a:cs typeface="OfficinaSerifBookCTT"/>
              </a:rPr>
              <a:t>При </a:t>
            </a:r>
            <a:r>
              <a:rPr lang="ru-RU" sz="1000" dirty="0">
                <a:cs typeface="OfficinaSerifBookCTT"/>
              </a:rPr>
              <a:t>наличии в </a:t>
            </a:r>
            <a:r>
              <a:rPr lang="ru-RU" sz="1000" spc="-5" dirty="0">
                <a:cs typeface="OfficinaSerifBookCTT"/>
              </a:rPr>
              <a:t>течение расчетного периода блокировок абонентского номера по </a:t>
            </a:r>
            <a:r>
              <a:rPr lang="ru-RU" sz="1000" dirty="0">
                <a:cs typeface="OfficinaSerifBookCTT"/>
              </a:rPr>
              <a:t>желанию </a:t>
            </a:r>
            <a:r>
              <a:rPr lang="ru-RU" sz="1000" spc="-5" dirty="0">
                <a:cs typeface="OfficinaSerifBookCTT"/>
              </a:rPr>
              <a:t>Абонента/инициативе Оператора </a:t>
            </a:r>
            <a:r>
              <a:rPr lang="ru-RU" sz="1000" dirty="0">
                <a:cs typeface="OfficinaSerifBookCTT"/>
              </a:rPr>
              <a:t>(в случаях, </a:t>
            </a:r>
            <a:r>
              <a:rPr lang="ru-RU" sz="1000" spc="-10" dirty="0">
                <a:cs typeface="OfficinaSerifBookCTT"/>
              </a:rPr>
              <a:t>предусмотренных </a:t>
            </a:r>
            <a:r>
              <a:rPr lang="ru-RU" sz="1000" spc="-5" dirty="0">
                <a:cs typeface="OfficinaSerifBookCTT"/>
              </a:rPr>
              <a:t>Договором </a:t>
            </a:r>
            <a:r>
              <a:rPr lang="ru-RU" sz="1000" dirty="0">
                <a:cs typeface="OfficinaSerifBookCTT"/>
              </a:rPr>
              <a:t>и </a:t>
            </a:r>
            <a:r>
              <a:rPr lang="ru-RU" sz="1000" spc="-5" dirty="0" smtClean="0">
                <a:cs typeface="OfficinaSerifBookCTT"/>
              </a:rPr>
              <a:t>действующим </a:t>
            </a:r>
            <a:r>
              <a:rPr lang="ru-RU" sz="1000" spc="-5" dirty="0">
                <a:cs typeface="OfficinaSerifBookCTT"/>
              </a:rPr>
              <a:t>законодательством), </a:t>
            </a:r>
            <a:r>
              <a:rPr lang="ru-RU" sz="1000" dirty="0">
                <a:cs typeface="OfficinaSerifBookCTT"/>
              </a:rPr>
              <a:t>за </a:t>
            </a:r>
            <a:r>
              <a:rPr lang="ru-RU" sz="1000" spc="-5" dirty="0">
                <a:cs typeface="OfficinaSerifBookCTT"/>
              </a:rPr>
              <a:t>исключением блокирования номера по причине </a:t>
            </a:r>
            <a:r>
              <a:rPr lang="ru-RU" sz="1000" dirty="0">
                <a:cs typeface="OfficinaSerifBookCTT"/>
              </a:rPr>
              <a:t>несвоевременной </a:t>
            </a:r>
            <a:r>
              <a:rPr lang="ru-RU" sz="1000" spc="-5" dirty="0">
                <a:cs typeface="OfficinaSerifBookCTT"/>
              </a:rPr>
              <a:t>оплаты счета, абонентская </a:t>
            </a:r>
            <a:r>
              <a:rPr lang="ru-RU" sz="1000" spc="-15" dirty="0">
                <a:cs typeface="OfficinaSerifBookCTT"/>
              </a:rPr>
              <a:t>плата </a:t>
            </a:r>
            <a:r>
              <a:rPr lang="ru-RU" sz="1000" spc="-5" dirty="0">
                <a:cs typeface="OfficinaSerifBookCTT"/>
              </a:rPr>
              <a:t>рассчитывается посуточно. </a:t>
            </a:r>
            <a:r>
              <a:rPr lang="ru-RU" sz="1000" dirty="0">
                <a:cs typeface="OfficinaSerifBookCTT"/>
              </a:rPr>
              <a:t>В случае </a:t>
            </a:r>
            <a:r>
              <a:rPr lang="ru-RU" sz="1000" spc="-5" dirty="0">
                <a:cs typeface="OfficinaSerifBookCTT"/>
              </a:rPr>
              <a:t>блокирования  абонентского номера по причине </a:t>
            </a:r>
            <a:r>
              <a:rPr lang="ru-RU" sz="1000" dirty="0">
                <a:cs typeface="OfficinaSerifBookCTT"/>
              </a:rPr>
              <a:t>несвоевременной </a:t>
            </a:r>
            <a:r>
              <a:rPr lang="ru-RU" sz="1000" spc="-5" dirty="0">
                <a:cs typeface="OfficinaSerifBookCTT"/>
              </a:rPr>
              <a:t>оплаты счета </a:t>
            </a:r>
            <a:r>
              <a:rPr lang="ru-RU" sz="1000" dirty="0">
                <a:cs typeface="OfficinaSerifBookCTT"/>
              </a:rPr>
              <a:t>— </a:t>
            </a:r>
            <a:r>
              <a:rPr lang="ru-RU" sz="1000" spc="-5" dirty="0">
                <a:cs typeface="OfficinaSerifBookCTT"/>
              </a:rPr>
              <a:t>взимается </a:t>
            </a:r>
            <a:r>
              <a:rPr lang="ru-RU" sz="1000" dirty="0">
                <a:cs typeface="OfficinaSerifBookCTT"/>
              </a:rPr>
              <a:t>в </a:t>
            </a:r>
            <a:r>
              <a:rPr lang="ru-RU" sz="1000" spc="-5" dirty="0">
                <a:cs typeface="OfficinaSerifBookCTT"/>
              </a:rPr>
              <a:t>полном</a:t>
            </a:r>
            <a:r>
              <a:rPr lang="ru-RU" sz="1000" spc="-125" dirty="0">
                <a:cs typeface="OfficinaSerifBookCTT"/>
              </a:rPr>
              <a:t> </a:t>
            </a:r>
            <a:r>
              <a:rPr lang="ru-RU" sz="1000" spc="-5" dirty="0">
                <a:cs typeface="OfficinaSerifBookCTT"/>
              </a:rPr>
              <a:t>объеме.</a:t>
            </a:r>
            <a:endParaRPr lang="ru-RU" sz="1000" dirty="0">
              <a:cs typeface="OfficinaSerifBookCTT"/>
            </a:endParaRPr>
          </a:p>
          <a:p>
            <a:pPr marL="156845" marR="5080" indent="-144780">
              <a:lnSpc>
                <a:spcPct val="114999"/>
              </a:lnSpc>
            </a:pPr>
            <a:r>
              <a:rPr lang="ru-RU" sz="1000" dirty="0" smtClean="0">
                <a:cs typeface="OfficinaSerifBookCTT"/>
              </a:rPr>
              <a:t>3</a:t>
            </a:r>
            <a:r>
              <a:rPr lang="ru-RU" sz="1000" dirty="0">
                <a:cs typeface="OfficinaSerifBookCTT"/>
              </a:rPr>
              <a:t>. </a:t>
            </a:r>
            <a:r>
              <a:rPr lang="ru-RU" sz="1000" spc="-5" dirty="0">
                <a:cs typeface="OfficinaSerifBookCTT"/>
              </a:rPr>
              <a:t>Оплата производится </a:t>
            </a:r>
            <a:r>
              <a:rPr lang="ru-RU" sz="1000" dirty="0">
                <a:cs typeface="OfficinaSerifBookCTT"/>
              </a:rPr>
              <a:t>в </a:t>
            </a:r>
            <a:r>
              <a:rPr lang="ru-RU" sz="1000" spc="-5" dirty="0">
                <a:cs typeface="OfficinaSerifBookCTT"/>
              </a:rPr>
              <a:t>рублях. </a:t>
            </a:r>
            <a:r>
              <a:rPr lang="ru-RU" sz="1000" dirty="0">
                <a:cs typeface="OfficinaSerifBookCTT"/>
              </a:rPr>
              <a:t>Цены и </a:t>
            </a:r>
            <a:r>
              <a:rPr lang="ru-RU" sz="1000" spc="-5" dirty="0">
                <a:cs typeface="OfficinaSerifBookCTT"/>
              </a:rPr>
              <a:t>тарифы </a:t>
            </a:r>
            <a:r>
              <a:rPr lang="ru-RU" sz="1000" dirty="0">
                <a:cs typeface="OfficinaSerifBookCTT"/>
              </a:rPr>
              <a:t>указаны в </a:t>
            </a:r>
            <a:r>
              <a:rPr lang="ru-RU" sz="1000" spc="-10" dirty="0">
                <a:cs typeface="OfficinaSerifBookCTT"/>
              </a:rPr>
              <a:t>рублях </a:t>
            </a:r>
            <a:r>
              <a:rPr lang="ru-RU" sz="1000" dirty="0">
                <a:cs typeface="OfficinaSerifBookCTT"/>
              </a:rPr>
              <a:t>с </a:t>
            </a:r>
            <a:r>
              <a:rPr lang="ru-RU" sz="1000" spc="-5" dirty="0">
                <a:cs typeface="OfficinaSerifBookCTT"/>
              </a:rPr>
              <a:t>учетом </a:t>
            </a:r>
            <a:r>
              <a:rPr lang="ru-RU" sz="1000" dirty="0">
                <a:cs typeface="OfficinaSerifBookCTT"/>
              </a:rPr>
              <a:t>НДС и не </a:t>
            </a:r>
            <a:r>
              <a:rPr lang="ru-RU" sz="1000" spc="-5" dirty="0">
                <a:cs typeface="OfficinaSerifBookCTT"/>
              </a:rPr>
              <a:t>включают </a:t>
            </a:r>
            <a:r>
              <a:rPr lang="ru-RU" sz="1000" dirty="0">
                <a:cs typeface="OfficinaSerifBookCTT"/>
              </a:rPr>
              <a:t>в себя надбавку к </a:t>
            </a:r>
            <a:r>
              <a:rPr lang="ru-RU" sz="1000" spc="-5" dirty="0">
                <a:cs typeface="OfficinaSerifBookCTT"/>
              </a:rPr>
              <a:t>тарифам </a:t>
            </a:r>
            <a:r>
              <a:rPr lang="ru-RU" sz="1000" dirty="0">
                <a:cs typeface="OfficinaSerifBookCTT"/>
              </a:rPr>
              <a:t>в </a:t>
            </a:r>
            <a:r>
              <a:rPr lang="ru-RU" sz="1000" spc="-5" dirty="0">
                <a:cs typeface="OfficinaSerifBookCTT"/>
              </a:rPr>
              <a:t>размере </a:t>
            </a:r>
            <a:r>
              <a:rPr lang="ru-RU" sz="1000" spc="-10" dirty="0">
                <a:cs typeface="OfficinaSerifBookCTT"/>
              </a:rPr>
              <a:t>1,2%. </a:t>
            </a:r>
            <a:r>
              <a:rPr lang="ru-RU" sz="1000" spc="-5" dirty="0">
                <a:cs typeface="OfficinaSerifBookCTT"/>
              </a:rPr>
              <a:t>При расчете стоимости услуг применяется  </a:t>
            </a:r>
            <a:r>
              <a:rPr lang="ru-RU" sz="1000" dirty="0">
                <a:cs typeface="OfficinaSerifBookCTT"/>
              </a:rPr>
              <a:t>цена без </a:t>
            </a:r>
            <a:r>
              <a:rPr lang="ru-RU" sz="1000" spc="-5" dirty="0">
                <a:cs typeface="OfficinaSerifBookCTT"/>
              </a:rPr>
              <a:t>учета </a:t>
            </a:r>
            <a:r>
              <a:rPr lang="ru-RU" sz="1000" dirty="0">
                <a:cs typeface="OfficinaSerifBookCTT"/>
              </a:rPr>
              <a:t>НДС, полученная </a:t>
            </a:r>
            <a:r>
              <a:rPr lang="ru-RU" sz="1000" spc="-5" dirty="0">
                <a:cs typeface="OfficinaSerifBookCTT"/>
              </a:rPr>
              <a:t>путем деления указанной </a:t>
            </a:r>
            <a:r>
              <a:rPr lang="ru-RU" sz="1000" dirty="0">
                <a:cs typeface="OfficinaSerifBookCTT"/>
              </a:rPr>
              <a:t>в </a:t>
            </a:r>
            <a:r>
              <a:rPr lang="ru-RU" sz="1000" spc="-5" dirty="0">
                <a:cs typeface="OfficinaSerifBookCTT"/>
              </a:rPr>
              <a:t>прайс-листе </a:t>
            </a:r>
            <a:r>
              <a:rPr lang="ru-RU" sz="1000" dirty="0">
                <a:cs typeface="OfficinaSerifBookCTT"/>
              </a:rPr>
              <a:t>цены на </a:t>
            </a:r>
            <a:r>
              <a:rPr lang="ru-RU" sz="1000" spc="-10" dirty="0" smtClean="0">
                <a:cs typeface="OfficinaSerifBookCTT"/>
              </a:rPr>
              <a:t>1,22 </a:t>
            </a:r>
            <a:r>
              <a:rPr lang="ru-RU" sz="1000" dirty="0">
                <a:cs typeface="OfficinaSerifBookCTT"/>
              </a:rPr>
              <a:t>и </a:t>
            </a:r>
            <a:r>
              <a:rPr lang="ru-RU" sz="1000" spc="-15" dirty="0">
                <a:cs typeface="OfficinaSerifBookCTT"/>
              </a:rPr>
              <a:t>математического </a:t>
            </a:r>
            <a:r>
              <a:rPr lang="ru-RU" sz="1000" spc="-5" dirty="0">
                <a:cs typeface="OfficinaSerifBookCTT"/>
              </a:rPr>
              <a:t>округления </a:t>
            </a:r>
            <a:r>
              <a:rPr lang="ru-RU" sz="1000" dirty="0">
                <a:cs typeface="OfficinaSerifBookCTT"/>
              </a:rPr>
              <a:t>с </a:t>
            </a:r>
            <a:r>
              <a:rPr lang="ru-RU" sz="1000" spc="-5" dirty="0">
                <a:cs typeface="OfficinaSerifBookCTT"/>
              </a:rPr>
              <a:t>точностью до копеек. </a:t>
            </a:r>
            <a:r>
              <a:rPr lang="ru-RU" sz="1000" spc="-15" dirty="0">
                <a:cs typeface="OfficinaSerifBookCTT"/>
              </a:rPr>
              <a:t>Расчетная стоимость услуг не учитывает  возможных скидок и бонусов.</a:t>
            </a:r>
          </a:p>
          <a:p>
            <a:pPr marL="156845" marR="158115" indent="-144780">
              <a:lnSpc>
                <a:spcPct val="114999"/>
              </a:lnSpc>
            </a:pPr>
            <a:r>
              <a:rPr lang="ru-RU" sz="1000" dirty="0" smtClean="0">
                <a:cs typeface="OfficinaSerifBookCTT"/>
              </a:rPr>
              <a:t>4</a:t>
            </a:r>
            <a:r>
              <a:rPr lang="ru-RU" sz="1000" dirty="0">
                <a:cs typeface="OfficinaSerifBookCTT"/>
              </a:rPr>
              <a:t>. </a:t>
            </a:r>
            <a:r>
              <a:rPr lang="ru-RU" sz="1000" spc="-5" dirty="0">
                <a:cs typeface="OfficinaSerifBookCTT"/>
              </a:rPr>
              <a:t>Вызовы, переадресованные внутри закрытой группы </a:t>
            </a:r>
            <a:r>
              <a:rPr lang="ru-RU" sz="1000" dirty="0">
                <a:cs typeface="OfficinaSerifBookCTT"/>
              </a:rPr>
              <a:t>в </a:t>
            </a:r>
            <a:r>
              <a:rPr lang="ru-RU" sz="1000" spc="-5" dirty="0">
                <a:cs typeface="OfficinaSerifBookCTT"/>
              </a:rPr>
              <a:t>рамках домашнего </a:t>
            </a:r>
            <a:r>
              <a:rPr lang="ru-RU" sz="1000" dirty="0">
                <a:cs typeface="OfficinaSerifBookCTT"/>
              </a:rPr>
              <a:t>филиала, не </a:t>
            </a:r>
            <a:r>
              <a:rPr lang="ru-RU" sz="1000" spc="-5" dirty="0">
                <a:cs typeface="OfficinaSerifBookCTT"/>
              </a:rPr>
              <a:t>тарифицируются. Переадресованные вызовы </a:t>
            </a:r>
            <a:r>
              <a:rPr lang="ru-RU" sz="1000" dirty="0">
                <a:cs typeface="OfficinaSerifBookCTT"/>
              </a:rPr>
              <a:t>на </a:t>
            </a:r>
            <a:r>
              <a:rPr lang="ru-RU" sz="1000" spc="-5" dirty="0">
                <a:cs typeface="OfficinaSerifBookCTT"/>
              </a:rPr>
              <a:t>остальные номера тарифицируются </a:t>
            </a:r>
            <a:r>
              <a:rPr lang="ru-RU" sz="1000" dirty="0">
                <a:cs typeface="OfficinaSerifBookCTT"/>
              </a:rPr>
              <a:t>в </a:t>
            </a:r>
            <a:r>
              <a:rPr lang="ru-RU" sz="1000" spc="-5" dirty="0" smtClean="0">
                <a:cs typeface="OfficinaSerifBookCTT"/>
              </a:rPr>
              <a:t>соответствии </a:t>
            </a:r>
            <a:r>
              <a:rPr lang="ru-RU" sz="1000" dirty="0">
                <a:cs typeface="OfficinaSerifBookCTT"/>
              </a:rPr>
              <a:t>с </a:t>
            </a:r>
            <a:r>
              <a:rPr lang="ru-RU" sz="1000" spc="-5" dirty="0">
                <a:cs typeface="OfficinaSerifBookCTT"/>
              </a:rPr>
              <a:t>тарифным </a:t>
            </a:r>
            <a:r>
              <a:rPr lang="ru-RU" sz="1000" dirty="0">
                <a:cs typeface="OfficinaSerifBookCTT"/>
              </a:rPr>
              <a:t>планом </a:t>
            </a:r>
            <a:r>
              <a:rPr lang="ru-RU" sz="1000" spc="-5" dirty="0">
                <a:cs typeface="OfficinaSerifBookCTT"/>
              </a:rPr>
              <a:t>Абонента </a:t>
            </a:r>
            <a:r>
              <a:rPr lang="ru-RU" sz="1000" dirty="0">
                <a:cs typeface="OfficinaSerifBookCTT"/>
              </a:rPr>
              <a:t>на услугу </a:t>
            </a:r>
            <a:r>
              <a:rPr lang="ru-RU" sz="1000" spc="-5" dirty="0">
                <a:cs typeface="OfficinaSerifBookCTT"/>
              </a:rPr>
              <a:t>«Переадресация</a:t>
            </a:r>
            <a:r>
              <a:rPr lang="ru-RU" sz="1000" spc="-105" dirty="0">
                <a:cs typeface="OfficinaSerifBookCTT"/>
              </a:rPr>
              <a:t> </a:t>
            </a:r>
            <a:r>
              <a:rPr lang="ru-RU" sz="1000" dirty="0">
                <a:cs typeface="OfficinaSerifBookCTT"/>
              </a:rPr>
              <a:t>вызова».</a:t>
            </a:r>
          </a:p>
        </p:txBody>
      </p:sp>
    </p:spTree>
    <p:extLst>
      <p:ext uri="{BB962C8B-B14F-4D97-AF65-F5344CB8AC3E}">
        <p14:creationId xmlns:p14="http://schemas.microsoft.com/office/powerpoint/2010/main" val="253719556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6" name="Слайд think-cell" r:id="rId6" imgW="463" imgH="464" progId="TCLayout.ActiveDocument.1">
                  <p:embed/>
                </p:oleObj>
              </mc:Choice>
              <mc:Fallback>
                <p:oleObj name="Слайд think-cell" r:id="rId6" imgW="463" imgH="464" progId="TCLayout.ActiveDocument.1">
                  <p:embed/>
                  <p:pic>
                    <p:nvPicPr>
                      <p:cNvPr id="5" name="Объект 4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Прямоугольник 5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ru-RU" sz="3100" dirty="0" err="1" smtClean="0">
              <a:latin typeface="Beeline Sans" panose="020B0500040202020204" pitchFamily="34" charset="-52"/>
              <a:ea typeface="Arial" charset="0"/>
              <a:cs typeface="Arial" charset="0"/>
              <a:sym typeface="Beeline Sans" panose="020B0500040202020204" pitchFamily="34" charset="-52"/>
            </a:endParaRPr>
          </a:p>
        </p:txBody>
      </p:sp>
      <p:graphicFrame>
        <p:nvGraphicFramePr>
          <p:cNvPr id="34" name="Таблица 33"/>
          <p:cNvGraphicFramePr>
            <a:graphicFrameLocks noGrp="1"/>
          </p:cNvGraphicFramePr>
          <p:nvPr>
            <p:extLst/>
          </p:nvPr>
        </p:nvGraphicFramePr>
        <p:xfrm>
          <a:off x="360367" y="604262"/>
          <a:ext cx="10801351" cy="27432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3841611">
                  <a:extLst>
                    <a:ext uri="{9D8B030D-6E8A-4147-A177-3AD203B41FA5}">
                      <a16:colId xmlns:a16="http://schemas.microsoft.com/office/drawing/2014/main" val="444115573"/>
                    </a:ext>
                  </a:extLst>
                </a:gridCol>
                <a:gridCol w="1739935">
                  <a:extLst>
                    <a:ext uri="{9D8B030D-6E8A-4147-A177-3AD203B41FA5}">
                      <a16:colId xmlns:a16="http://schemas.microsoft.com/office/drawing/2014/main" val="397333259"/>
                    </a:ext>
                  </a:extLst>
                </a:gridCol>
                <a:gridCol w="1739935">
                  <a:extLst>
                    <a:ext uri="{9D8B030D-6E8A-4147-A177-3AD203B41FA5}">
                      <a16:colId xmlns:a16="http://schemas.microsoft.com/office/drawing/2014/main" val="1678565669"/>
                    </a:ext>
                  </a:extLst>
                </a:gridCol>
                <a:gridCol w="1551052">
                  <a:extLst>
                    <a:ext uri="{9D8B030D-6E8A-4147-A177-3AD203B41FA5}">
                      <a16:colId xmlns:a16="http://schemas.microsoft.com/office/drawing/2014/main" val="314938210"/>
                    </a:ext>
                  </a:extLst>
                </a:gridCol>
                <a:gridCol w="1928818">
                  <a:extLst>
                    <a:ext uri="{9D8B030D-6E8A-4147-A177-3AD203B41FA5}">
                      <a16:colId xmlns:a16="http://schemas.microsoft.com/office/drawing/2014/main" val="2956143092"/>
                    </a:ext>
                  </a:extLst>
                </a:gridCol>
              </a:tblGrid>
              <a:tr h="27280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Минимальный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Базовый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Стандартный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Профессиональный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3000681"/>
                  </a:ext>
                </a:extLst>
              </a:tr>
            </a:tbl>
          </a:graphicData>
        </a:graphic>
      </p:graphicFrame>
      <p:graphicFrame>
        <p:nvGraphicFramePr>
          <p:cNvPr id="22" name="Таблица 21"/>
          <p:cNvGraphicFramePr>
            <a:graphicFrameLocks noGrp="1"/>
          </p:cNvGraphicFramePr>
          <p:nvPr>
            <p:extLst/>
          </p:nvPr>
        </p:nvGraphicFramePr>
        <p:xfrm>
          <a:off x="360369" y="882129"/>
          <a:ext cx="10801349" cy="545808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3841611">
                  <a:extLst>
                    <a:ext uri="{9D8B030D-6E8A-4147-A177-3AD203B41FA5}">
                      <a16:colId xmlns:a16="http://schemas.microsoft.com/office/drawing/2014/main" val="343388916"/>
                    </a:ext>
                  </a:extLst>
                </a:gridCol>
                <a:gridCol w="1739934">
                  <a:extLst>
                    <a:ext uri="{9D8B030D-6E8A-4147-A177-3AD203B41FA5}">
                      <a16:colId xmlns:a16="http://schemas.microsoft.com/office/drawing/2014/main" val="82304575"/>
                    </a:ext>
                  </a:extLst>
                </a:gridCol>
                <a:gridCol w="1739934">
                  <a:extLst>
                    <a:ext uri="{9D8B030D-6E8A-4147-A177-3AD203B41FA5}">
                      <a16:colId xmlns:a16="http://schemas.microsoft.com/office/drawing/2014/main" val="1397672727"/>
                    </a:ext>
                  </a:extLst>
                </a:gridCol>
                <a:gridCol w="1557401">
                  <a:extLst>
                    <a:ext uri="{9D8B030D-6E8A-4147-A177-3AD203B41FA5}">
                      <a16:colId xmlns:a16="http://schemas.microsoft.com/office/drawing/2014/main" val="3880117809"/>
                    </a:ext>
                  </a:extLst>
                </a:gridCol>
                <a:gridCol w="1922469">
                  <a:extLst>
                    <a:ext uri="{9D8B030D-6E8A-4147-A177-3AD203B41FA5}">
                      <a16:colId xmlns:a16="http://schemas.microsoft.com/office/drawing/2014/main" val="2060766638"/>
                    </a:ext>
                  </a:extLst>
                </a:gridCol>
              </a:tblGrid>
              <a:tr h="181984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 smtClean="0">
                          <a:solidFill>
                            <a:schemeClr val="tx1"/>
                          </a:solidFill>
                          <a:latin typeface="+mn-lt"/>
                        </a:rPr>
                        <a:t>Аналитика</a:t>
                      </a:r>
                      <a:r>
                        <a:rPr lang="ru-RU" sz="1200" b="1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 продвижения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920685"/>
                  </a:ext>
                </a:extLst>
              </a:tr>
              <a:tr h="161433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dirty="0" smtClean="0">
                          <a:latin typeface="+mn-lt"/>
                        </a:rPr>
                        <a:t>Статический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 </a:t>
                      </a:r>
                      <a:r>
                        <a:rPr lang="ru-RU" sz="1000" b="0" i="0" baseline="0" dirty="0" err="1" smtClean="0">
                          <a:latin typeface="+mn-lt"/>
                        </a:rPr>
                        <a:t>к</a:t>
                      </a:r>
                      <a:r>
                        <a:rPr lang="ru-RU" sz="1000" b="0" i="0" dirty="0" err="1" smtClean="0">
                          <a:latin typeface="+mn-lt"/>
                        </a:rPr>
                        <a:t>оллтрекинг</a:t>
                      </a:r>
                      <a:r>
                        <a:rPr lang="ru-RU" sz="1000" b="0" i="0" dirty="0" smtClean="0">
                          <a:latin typeface="+mn-lt"/>
                        </a:rPr>
                        <a:t> </a:t>
                      </a:r>
                      <a:r>
                        <a:rPr lang="ru-RU" sz="10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(городской номер)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870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₽/мес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870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870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870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5939220"/>
                  </a:ext>
                </a:extLst>
              </a:tr>
              <a:tr h="161433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dirty="0" smtClean="0">
                          <a:latin typeface="+mn-lt"/>
                        </a:rPr>
                        <a:t>Статический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 </a:t>
                      </a:r>
                      <a:r>
                        <a:rPr lang="ru-RU" sz="1000" b="0" i="0" baseline="0" dirty="0" err="1" smtClean="0">
                          <a:latin typeface="+mn-lt"/>
                        </a:rPr>
                        <a:t>к</a:t>
                      </a:r>
                      <a:r>
                        <a:rPr lang="ru-RU" sz="1000" b="0" i="0" dirty="0" err="1" smtClean="0">
                          <a:latin typeface="+mn-lt"/>
                        </a:rPr>
                        <a:t>оллтрекинг</a:t>
                      </a:r>
                      <a:r>
                        <a:rPr lang="ru-RU" sz="1000" b="0" i="0" dirty="0" smtClean="0">
                          <a:latin typeface="+mn-lt"/>
                        </a:rPr>
                        <a:t> </a:t>
                      </a:r>
                      <a:r>
                        <a:rPr lang="ru-RU" sz="10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(8-800 или </a:t>
                      </a:r>
                      <a:r>
                        <a:rPr lang="en-US" sz="10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8-804</a:t>
                      </a:r>
                      <a:r>
                        <a:rPr lang="ru-RU" sz="10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ru-RU" sz="1000" b="0" i="0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ru-RU" sz="1000" b="0" i="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900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₽/мес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900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₽/мес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900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₽/мес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900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₽/мес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4951865"/>
                  </a:ext>
                </a:extLst>
              </a:tr>
              <a:tr h="161433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dirty="0" smtClean="0">
                          <a:latin typeface="+mn-lt"/>
                        </a:rPr>
                        <a:t>Статический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 </a:t>
                      </a:r>
                      <a:r>
                        <a:rPr lang="ru-RU" sz="1000" b="0" i="0" baseline="0" dirty="0" err="1" smtClean="0">
                          <a:latin typeface="+mn-lt"/>
                        </a:rPr>
                        <a:t>к</a:t>
                      </a:r>
                      <a:r>
                        <a:rPr lang="ru-RU" sz="1000" b="0" i="0" dirty="0" err="1" smtClean="0">
                          <a:latin typeface="+mn-lt"/>
                        </a:rPr>
                        <a:t>оллтрекинг</a:t>
                      </a:r>
                      <a:r>
                        <a:rPr lang="ru-RU" sz="1000" b="0" i="0" dirty="0" smtClean="0">
                          <a:latin typeface="+mn-lt"/>
                        </a:rPr>
                        <a:t> </a:t>
                      </a:r>
                      <a:r>
                        <a:rPr lang="ru-RU" sz="10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(8-800 или </a:t>
                      </a:r>
                      <a:r>
                        <a:rPr lang="en-US" sz="10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8-804</a:t>
                      </a:r>
                      <a:r>
                        <a:rPr lang="ru-RU" sz="10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ru-RU" sz="1000" b="0" i="0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ru-RU" sz="1000" b="0" i="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5 ₽/мин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5 ₽/мин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5 ₽/мин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5 ₽/мин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8511417"/>
                  </a:ext>
                </a:extLst>
              </a:tr>
              <a:tr h="16143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Выбор </a:t>
                      </a:r>
                      <a:r>
                        <a:rPr lang="ru-RU" sz="10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городского номера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300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₽/номер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300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₽/номер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300 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₽/номер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300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₽/номер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812927"/>
                  </a:ext>
                </a:extLst>
              </a:tr>
              <a:tr h="16143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  Выбор </a:t>
                      </a:r>
                      <a:r>
                        <a:rPr lang="ru-RU" sz="10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номера 8-800 или 8-804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1000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₽/номер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1000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₽/номер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1000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₽/номер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+mn-cs"/>
                        </a:rPr>
                        <a:t>1000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₽/номер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791482"/>
                  </a:ext>
                </a:extLst>
              </a:tr>
              <a:tr h="161433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Обратный звонок </a:t>
                      </a:r>
                      <a:endParaRPr lang="ru-RU" sz="1000" b="0" i="0" dirty="0" smtClean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12 ₽/мин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12 ₽/мин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12 ₽/мин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12 ₽/мин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3821836"/>
                  </a:ext>
                </a:extLst>
              </a:tr>
              <a:tr h="303307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dirty="0" err="1" smtClean="0">
                          <a:latin typeface="+mn-lt"/>
                        </a:rPr>
                        <a:t>МультиТрекинг</a:t>
                      </a:r>
                      <a:r>
                        <a:rPr lang="ru-RU" sz="1000" b="0" i="0" dirty="0" smtClean="0">
                          <a:latin typeface="+mn-lt"/>
                        </a:rPr>
                        <a:t> пакет </a:t>
                      </a:r>
                      <a:r>
                        <a:rPr lang="en-US" sz="1000" b="0" i="0" dirty="0" smtClean="0">
                          <a:latin typeface="+mn-lt"/>
                        </a:rPr>
                        <a:t>S</a:t>
                      </a:r>
                      <a:r>
                        <a:rPr lang="ru-RU" sz="1000" b="0" i="0" dirty="0" smtClean="0">
                          <a:latin typeface="+mn-lt"/>
                        </a:rPr>
                        <a:t> (1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 номер </a:t>
                      </a:r>
                      <a:r>
                        <a:rPr lang="ru-RU" sz="1000" b="0" i="0" baseline="0" dirty="0" err="1" smtClean="0">
                          <a:latin typeface="+mn-lt"/>
                        </a:rPr>
                        <a:t>коллтрекинга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, 1 </a:t>
                      </a:r>
                      <a:r>
                        <a:rPr lang="en-US" sz="1000" b="0" i="0" baseline="0" dirty="0" smtClean="0">
                          <a:latin typeface="+mn-lt"/>
                        </a:rPr>
                        <a:t>e-mail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для трекинга, 250 входящих минут)</a:t>
                      </a:r>
                      <a:endParaRPr lang="ru-RU" sz="1000" b="0" i="0" baseline="30000" dirty="0" smtClean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1950 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1950 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1950 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1950 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3290641"/>
                  </a:ext>
                </a:extLst>
              </a:tr>
              <a:tr h="303307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dirty="0" err="1" smtClean="0">
                          <a:latin typeface="+mn-lt"/>
                        </a:rPr>
                        <a:t>МультиТрекинг</a:t>
                      </a:r>
                      <a:r>
                        <a:rPr lang="ru-RU" sz="1000" b="0" i="0" dirty="0" smtClean="0">
                          <a:latin typeface="+mn-lt"/>
                        </a:rPr>
                        <a:t> пакет </a:t>
                      </a:r>
                      <a:r>
                        <a:rPr lang="en-US" sz="1000" b="0" i="0" dirty="0" smtClean="0">
                          <a:latin typeface="+mn-lt"/>
                        </a:rPr>
                        <a:t>S</a:t>
                      </a:r>
                      <a:r>
                        <a:rPr lang="ru-RU" sz="1000" b="0" i="0" dirty="0" smtClean="0">
                          <a:latin typeface="+mn-lt"/>
                        </a:rPr>
                        <a:t>+ (2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 номер </a:t>
                      </a:r>
                      <a:r>
                        <a:rPr lang="ru-RU" sz="1000" b="0" i="0" baseline="0" dirty="0" err="1" smtClean="0">
                          <a:latin typeface="+mn-lt"/>
                        </a:rPr>
                        <a:t>коллтрекинга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, 2 </a:t>
                      </a:r>
                      <a:r>
                        <a:rPr lang="en-US" sz="1000" b="0" i="0" baseline="0" dirty="0" smtClean="0">
                          <a:latin typeface="+mn-lt"/>
                        </a:rPr>
                        <a:t>e-mail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для трекинга, 400 входящих минут)</a:t>
                      </a:r>
                      <a:endParaRPr lang="ru-RU" sz="1000" b="0" i="0" baseline="30000" dirty="0" smtClean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3150 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3150 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3150 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3150 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2632186"/>
                  </a:ext>
                </a:extLst>
              </a:tr>
              <a:tr h="303307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dirty="0" err="1" smtClean="0">
                          <a:latin typeface="+mn-lt"/>
                        </a:rPr>
                        <a:t>МультиТрекинг</a:t>
                      </a:r>
                      <a:r>
                        <a:rPr lang="ru-RU" sz="1000" b="0" i="0" dirty="0" smtClean="0">
                          <a:latin typeface="+mn-lt"/>
                        </a:rPr>
                        <a:t> пакет </a:t>
                      </a:r>
                      <a:r>
                        <a:rPr lang="en-US" sz="1000" b="0" i="0" dirty="0" smtClean="0">
                          <a:latin typeface="+mn-lt"/>
                        </a:rPr>
                        <a:t>M</a:t>
                      </a:r>
                      <a:r>
                        <a:rPr lang="ru-RU" sz="1000" b="0" i="0" dirty="0" smtClean="0">
                          <a:latin typeface="+mn-lt"/>
                        </a:rPr>
                        <a:t> (5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 номеров </a:t>
                      </a:r>
                      <a:r>
                        <a:rPr lang="ru-RU" sz="1000" b="0" i="0" baseline="0" dirty="0" err="1" smtClean="0">
                          <a:latin typeface="+mn-lt"/>
                        </a:rPr>
                        <a:t>коллтрекинга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, 10 </a:t>
                      </a:r>
                      <a:r>
                        <a:rPr lang="en-US" sz="1000" b="0" i="0" baseline="0" dirty="0" smtClean="0">
                          <a:latin typeface="+mn-lt"/>
                        </a:rPr>
                        <a:t>e-mail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для трекинга, 800 входящих минут)</a:t>
                      </a:r>
                      <a:endParaRPr lang="ru-RU" sz="1000" b="0" i="0" baseline="30000" dirty="0" smtClean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6750 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6750 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6750 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6750 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8153810"/>
                  </a:ext>
                </a:extLst>
              </a:tr>
              <a:tr h="303307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dirty="0" err="1" smtClean="0">
                          <a:latin typeface="+mn-lt"/>
                        </a:rPr>
                        <a:t>МультиТрекинг</a:t>
                      </a:r>
                      <a:r>
                        <a:rPr lang="ru-RU" sz="1000" b="0" i="0" dirty="0" smtClean="0">
                          <a:latin typeface="+mn-lt"/>
                        </a:rPr>
                        <a:t> пакет </a:t>
                      </a:r>
                      <a:r>
                        <a:rPr lang="en-US" sz="1000" b="0" i="0" dirty="0" smtClean="0">
                          <a:latin typeface="+mn-lt"/>
                        </a:rPr>
                        <a:t>L</a:t>
                      </a:r>
                      <a:r>
                        <a:rPr lang="ru-RU" sz="1000" b="0" i="0" dirty="0" smtClean="0">
                          <a:latin typeface="+mn-lt"/>
                        </a:rPr>
                        <a:t> (15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 номеров </a:t>
                      </a:r>
                      <a:r>
                        <a:rPr lang="ru-RU" sz="1000" b="0" i="0" baseline="0" dirty="0" err="1" smtClean="0">
                          <a:latin typeface="+mn-lt"/>
                        </a:rPr>
                        <a:t>коллтрекинга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, 30 </a:t>
                      </a:r>
                      <a:r>
                        <a:rPr lang="en-US" sz="1000" b="0" i="0" baseline="0" dirty="0" smtClean="0">
                          <a:latin typeface="+mn-lt"/>
                        </a:rPr>
                        <a:t>e-mail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для трекинга, 2000 входящих минут)</a:t>
                      </a:r>
                      <a:endParaRPr lang="ru-RU" sz="1000" b="0" i="0" baseline="30000" dirty="0" smtClean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16200 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16200 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16200 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16200 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335410"/>
                  </a:ext>
                </a:extLst>
              </a:tr>
              <a:tr h="161433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МультиТрекинг</a:t>
                      </a:r>
                      <a:r>
                        <a:rPr lang="ru-RU" sz="1000" b="0" i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Стоимость минуты сверх лимита, руб.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2,1 ₽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2,1 ₽ 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2,1 ₽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2,1 ₽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9597963"/>
                  </a:ext>
                </a:extLst>
              </a:tr>
              <a:tr h="161433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dirty="0" smtClean="0">
                          <a:latin typeface="+mn-lt"/>
                        </a:rPr>
                        <a:t>Дополнительный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 </a:t>
                      </a:r>
                      <a:r>
                        <a:rPr lang="en-US" sz="1000" b="0" i="0" baseline="0" dirty="0" smtClean="0">
                          <a:latin typeface="+mn-lt"/>
                        </a:rPr>
                        <a:t>e-mail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для </a:t>
                      </a:r>
                      <a:r>
                        <a:rPr lang="ru-RU" sz="1000" b="0" i="0" baseline="0" dirty="0" err="1" smtClean="0">
                          <a:latin typeface="+mn-lt"/>
                        </a:rPr>
                        <a:t>МультиТрекинга</a:t>
                      </a:r>
                      <a:endParaRPr lang="ru-RU" sz="1000" b="0" i="0" baseline="30000" dirty="0" smtClean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100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100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100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100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1825578"/>
                  </a:ext>
                </a:extLst>
              </a:tr>
              <a:tr h="161433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dirty="0" smtClean="0">
                          <a:solidFill>
                            <a:schemeClr val="tx1"/>
                          </a:solidFill>
                        </a:rPr>
                        <a:t>Клиентский номер 8800 для </a:t>
                      </a:r>
                      <a:r>
                        <a:rPr lang="ru-RU" sz="1000" b="0" dirty="0" err="1" smtClean="0">
                          <a:solidFill>
                            <a:schemeClr val="tx1"/>
                          </a:solidFill>
                        </a:rPr>
                        <a:t>МультиТрекинга</a:t>
                      </a:r>
                      <a:endParaRPr lang="ru-RU" sz="1000" b="0" i="0" baseline="3000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1000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1000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1000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1000 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384015"/>
                  </a:ext>
                </a:extLst>
              </a:tr>
              <a:tr h="161433">
                <a:tc gridSpan="5">
                  <a:txBody>
                    <a:bodyPr/>
                    <a:lstStyle/>
                    <a:p>
                      <a:pPr marL="7747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1" i="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Мультитрекинг</a:t>
                      </a:r>
                      <a:r>
                        <a:rPr lang="ru-RU" sz="1050" b="1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(на 3, 6 или 12 месяцев)</a:t>
                      </a:r>
                      <a:endParaRPr lang="ru-RU" sz="1050" b="1" i="0" baseline="3000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8110088"/>
                  </a:ext>
                </a:extLst>
              </a:tr>
              <a:tr h="303307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dirty="0" err="1" smtClean="0">
                          <a:latin typeface="+mn-lt"/>
                        </a:rPr>
                        <a:t>МультиТрекинг</a:t>
                      </a:r>
                      <a:r>
                        <a:rPr lang="ru-RU" sz="1000" b="0" i="0" dirty="0" smtClean="0">
                          <a:latin typeface="+mn-lt"/>
                        </a:rPr>
                        <a:t> пакет </a:t>
                      </a:r>
                      <a:r>
                        <a:rPr lang="en-US" sz="1000" b="0" i="0" dirty="0" smtClean="0">
                          <a:latin typeface="+mn-lt"/>
                        </a:rPr>
                        <a:t>S</a:t>
                      </a:r>
                      <a:r>
                        <a:rPr lang="ru-RU" sz="1000" b="0" i="0" dirty="0" smtClean="0">
                          <a:latin typeface="+mn-lt"/>
                        </a:rPr>
                        <a:t>,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 3 месяца, скидка 5% </a:t>
                      </a:r>
                      <a:r>
                        <a:rPr lang="ru-RU" sz="1000" b="0" i="0" dirty="0" smtClean="0">
                          <a:latin typeface="+mn-lt"/>
                        </a:rPr>
                        <a:t>(1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 номер </a:t>
                      </a:r>
                      <a:r>
                        <a:rPr lang="ru-RU" sz="1000" b="0" i="0" baseline="0" dirty="0" err="1" smtClean="0">
                          <a:latin typeface="+mn-lt"/>
                        </a:rPr>
                        <a:t>коллтрекинга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, 1 </a:t>
                      </a:r>
                      <a:r>
                        <a:rPr lang="en-US" sz="1000" b="0" i="0" baseline="0" dirty="0" smtClean="0">
                          <a:latin typeface="+mn-lt"/>
                        </a:rPr>
                        <a:t>e-mail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для трекинга, 250 входящих минут)</a:t>
                      </a:r>
                      <a:endParaRPr lang="ru-RU" sz="1000" b="0" i="0" baseline="30000" dirty="0" smtClean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5580 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10530 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19890 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5580 </a:t>
                      </a: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9855866"/>
                  </a:ext>
                </a:extLst>
              </a:tr>
              <a:tr h="303307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dirty="0" err="1" smtClean="0">
                          <a:latin typeface="+mn-lt"/>
                        </a:rPr>
                        <a:t>МультиТрекинг</a:t>
                      </a:r>
                      <a:r>
                        <a:rPr lang="ru-RU" sz="1000" b="0" i="0" dirty="0" smtClean="0">
                          <a:latin typeface="+mn-lt"/>
                        </a:rPr>
                        <a:t> пакет </a:t>
                      </a:r>
                      <a:r>
                        <a:rPr lang="en-US" sz="1000" b="0" i="0" dirty="0" smtClean="0">
                          <a:latin typeface="+mn-lt"/>
                        </a:rPr>
                        <a:t>S</a:t>
                      </a:r>
                      <a:r>
                        <a:rPr lang="ru-RU" sz="1000" b="0" i="0" dirty="0" smtClean="0">
                          <a:latin typeface="+mn-lt"/>
                        </a:rPr>
                        <a:t>+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3 месяца, скидка 5% </a:t>
                      </a:r>
                      <a:r>
                        <a:rPr lang="ru-RU" sz="1000" b="0" i="0" dirty="0" smtClean="0">
                          <a:latin typeface="+mn-lt"/>
                        </a:rPr>
                        <a:t>(2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 номер </a:t>
                      </a:r>
                      <a:r>
                        <a:rPr lang="ru-RU" sz="1000" b="0" i="0" baseline="0" dirty="0" err="1" smtClean="0">
                          <a:latin typeface="+mn-lt"/>
                        </a:rPr>
                        <a:t>коллтрекинга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, 2 </a:t>
                      </a:r>
                      <a:r>
                        <a:rPr lang="en-US" sz="1000" b="0" i="0" baseline="0" dirty="0" smtClean="0">
                          <a:latin typeface="+mn-lt"/>
                        </a:rPr>
                        <a:t>e-mail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для трекинга, 400 входящих минут)</a:t>
                      </a:r>
                      <a:endParaRPr lang="ru-RU" sz="1000" b="0" i="0" baseline="30000" dirty="0" smtClean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9000 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17010 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32130 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9000 </a:t>
                      </a: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5433322"/>
                  </a:ext>
                </a:extLst>
              </a:tr>
              <a:tr h="303307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dirty="0" err="1" smtClean="0">
                          <a:latin typeface="+mn-lt"/>
                        </a:rPr>
                        <a:t>МультиТрекинг</a:t>
                      </a:r>
                      <a:r>
                        <a:rPr lang="ru-RU" sz="1000" b="0" i="0" dirty="0" smtClean="0">
                          <a:latin typeface="+mn-lt"/>
                        </a:rPr>
                        <a:t> пакет </a:t>
                      </a:r>
                      <a:r>
                        <a:rPr lang="en-US" sz="1000" b="0" i="0" dirty="0" smtClean="0">
                          <a:latin typeface="+mn-lt"/>
                        </a:rPr>
                        <a:t>M</a:t>
                      </a:r>
                      <a:r>
                        <a:rPr lang="ru-RU" sz="1000" b="0" i="0" dirty="0" smtClean="0">
                          <a:latin typeface="+mn-lt"/>
                        </a:rPr>
                        <a:t>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3 месяца, скидка 5% </a:t>
                      </a:r>
                      <a:r>
                        <a:rPr lang="ru-RU" sz="1000" b="0" i="0" dirty="0" smtClean="0">
                          <a:latin typeface="+mn-lt"/>
                        </a:rPr>
                        <a:t>(5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 номеров </a:t>
                      </a:r>
                      <a:r>
                        <a:rPr lang="ru-RU" sz="1000" b="0" i="0" baseline="0" dirty="0" err="1" smtClean="0">
                          <a:latin typeface="+mn-lt"/>
                        </a:rPr>
                        <a:t>коллтрекинга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, 10 </a:t>
                      </a:r>
                      <a:r>
                        <a:rPr lang="en-US" sz="1000" b="0" i="0" baseline="0" dirty="0" smtClean="0">
                          <a:latin typeface="+mn-lt"/>
                        </a:rPr>
                        <a:t>e-mail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для трекинга, 800 входящих минут)</a:t>
                      </a:r>
                      <a:endParaRPr lang="ru-RU" sz="1000" b="0" i="0" baseline="30000" dirty="0" smtClean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19260 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36450 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68850 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19260 </a:t>
                      </a: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0028263"/>
                  </a:ext>
                </a:extLst>
              </a:tr>
              <a:tr h="303307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dirty="0" err="1" smtClean="0">
                          <a:latin typeface="+mn-lt"/>
                        </a:rPr>
                        <a:t>МультиТрекинг</a:t>
                      </a:r>
                      <a:r>
                        <a:rPr lang="ru-RU" sz="1000" b="0" i="0" dirty="0" smtClean="0">
                          <a:latin typeface="+mn-lt"/>
                        </a:rPr>
                        <a:t> пакет </a:t>
                      </a:r>
                      <a:r>
                        <a:rPr lang="en-US" sz="1000" b="0" i="0" dirty="0" smtClean="0">
                          <a:latin typeface="+mn-lt"/>
                        </a:rPr>
                        <a:t>L</a:t>
                      </a:r>
                      <a:r>
                        <a:rPr lang="ru-RU" sz="1000" b="0" i="0" dirty="0" smtClean="0">
                          <a:latin typeface="+mn-lt"/>
                        </a:rPr>
                        <a:t>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3 месяца, скидка 5% </a:t>
                      </a:r>
                      <a:r>
                        <a:rPr lang="ru-RU" sz="1000" b="0" i="0" dirty="0" smtClean="0">
                          <a:latin typeface="+mn-lt"/>
                        </a:rPr>
                        <a:t>(15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 номеров </a:t>
                      </a:r>
                      <a:r>
                        <a:rPr lang="ru-RU" sz="1000" b="0" i="0" baseline="0" dirty="0" err="1" smtClean="0">
                          <a:latin typeface="+mn-lt"/>
                        </a:rPr>
                        <a:t>коллтрекинга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, 30 </a:t>
                      </a:r>
                      <a:r>
                        <a:rPr lang="en-US" sz="1000" b="0" i="0" baseline="0" dirty="0" smtClean="0">
                          <a:latin typeface="+mn-lt"/>
                        </a:rPr>
                        <a:t>e-mail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для трекинга, 2000 входящих минут)</a:t>
                      </a:r>
                      <a:endParaRPr lang="ru-RU" sz="1000" b="0" i="0" baseline="30000" dirty="0" smtClean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46170 </a:t>
                      </a: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87480 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165240 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46170 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6483184"/>
                  </a:ext>
                </a:extLst>
              </a:tr>
              <a:tr h="303307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dirty="0" err="1" smtClean="0">
                          <a:latin typeface="+mn-lt"/>
                        </a:rPr>
                        <a:t>МультиТрекинг</a:t>
                      </a:r>
                      <a:r>
                        <a:rPr lang="ru-RU" sz="1000" b="0" i="0" dirty="0" smtClean="0">
                          <a:latin typeface="+mn-lt"/>
                        </a:rPr>
                        <a:t> пакет </a:t>
                      </a:r>
                      <a:r>
                        <a:rPr lang="en-US" sz="1000" b="0" i="0" dirty="0" smtClean="0">
                          <a:latin typeface="+mn-lt"/>
                        </a:rPr>
                        <a:t>S</a:t>
                      </a:r>
                      <a:r>
                        <a:rPr lang="ru-RU" sz="1000" b="0" i="0" dirty="0" smtClean="0">
                          <a:latin typeface="+mn-lt"/>
                        </a:rPr>
                        <a:t>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6 месяцев, скидка 10% </a:t>
                      </a:r>
                      <a:r>
                        <a:rPr lang="ru-RU" sz="1000" b="0" i="0" dirty="0" smtClean="0">
                          <a:latin typeface="+mn-lt"/>
                        </a:rPr>
                        <a:t>(1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 номер </a:t>
                      </a:r>
                      <a:r>
                        <a:rPr lang="ru-RU" sz="1000" b="0" i="0" baseline="0" dirty="0" err="1" smtClean="0">
                          <a:latin typeface="+mn-lt"/>
                        </a:rPr>
                        <a:t>коллтрекинга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, 1 </a:t>
                      </a:r>
                      <a:r>
                        <a:rPr lang="en-US" sz="1000" b="0" i="0" baseline="0" dirty="0" smtClean="0">
                          <a:latin typeface="+mn-lt"/>
                        </a:rPr>
                        <a:t>e-mail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для трекинга, 250 входящих минут)</a:t>
                      </a:r>
                      <a:endParaRPr lang="ru-RU" sz="1000" b="0" i="0" baseline="30000" dirty="0" smtClean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10530 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10530 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10530 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10530 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001785"/>
                  </a:ext>
                </a:extLst>
              </a:tr>
              <a:tr h="303307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dirty="0" err="1" smtClean="0">
                          <a:latin typeface="+mn-lt"/>
                        </a:rPr>
                        <a:t>МультиТрекинг</a:t>
                      </a:r>
                      <a:r>
                        <a:rPr lang="ru-RU" sz="1000" b="0" i="0" dirty="0" smtClean="0">
                          <a:latin typeface="+mn-lt"/>
                        </a:rPr>
                        <a:t> пакет </a:t>
                      </a:r>
                      <a:r>
                        <a:rPr lang="en-US" sz="1000" b="0" i="0" dirty="0" smtClean="0">
                          <a:latin typeface="+mn-lt"/>
                        </a:rPr>
                        <a:t>S</a:t>
                      </a:r>
                      <a:r>
                        <a:rPr lang="ru-RU" sz="1000" b="0" i="0" dirty="0" smtClean="0">
                          <a:latin typeface="+mn-lt"/>
                        </a:rPr>
                        <a:t>+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6 месяцев, скидка 10% </a:t>
                      </a:r>
                      <a:r>
                        <a:rPr lang="ru-RU" sz="1000" b="0" i="0" dirty="0" smtClean="0">
                          <a:latin typeface="+mn-lt"/>
                        </a:rPr>
                        <a:t>(2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 номер </a:t>
                      </a:r>
                      <a:r>
                        <a:rPr lang="ru-RU" sz="1000" b="0" i="0" baseline="0" dirty="0" err="1" smtClean="0">
                          <a:latin typeface="+mn-lt"/>
                        </a:rPr>
                        <a:t>коллтрекинга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, 2 </a:t>
                      </a:r>
                      <a:r>
                        <a:rPr lang="en-US" sz="1000" b="0" i="0" baseline="0" dirty="0" smtClean="0">
                          <a:latin typeface="+mn-lt"/>
                        </a:rPr>
                        <a:t>e-mail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для трекинга, 400 входящих минут)</a:t>
                      </a:r>
                      <a:endParaRPr lang="ru-RU" sz="1000" b="0" i="0" baseline="30000" dirty="0" smtClean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17010 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17010 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17010 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17010 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58128"/>
                  </a:ext>
                </a:extLst>
              </a:tr>
              <a:tr h="303307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dirty="0" err="1" smtClean="0">
                          <a:latin typeface="+mn-lt"/>
                        </a:rPr>
                        <a:t>МультиТрекинг</a:t>
                      </a:r>
                      <a:r>
                        <a:rPr lang="ru-RU" sz="1000" b="0" i="0" dirty="0" smtClean="0">
                          <a:latin typeface="+mn-lt"/>
                        </a:rPr>
                        <a:t> пакет </a:t>
                      </a:r>
                      <a:r>
                        <a:rPr lang="en-US" sz="1000" b="0" i="0" dirty="0" smtClean="0">
                          <a:latin typeface="+mn-lt"/>
                        </a:rPr>
                        <a:t>M</a:t>
                      </a:r>
                      <a:r>
                        <a:rPr lang="ru-RU" sz="1000" b="0" i="0" dirty="0" smtClean="0">
                          <a:latin typeface="+mn-lt"/>
                        </a:rPr>
                        <a:t>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6 месяцев, скидка 10% </a:t>
                      </a:r>
                      <a:r>
                        <a:rPr lang="ru-RU" sz="1000" b="0" i="0" dirty="0" smtClean="0">
                          <a:latin typeface="+mn-lt"/>
                        </a:rPr>
                        <a:t>(5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 номеров </a:t>
                      </a:r>
                      <a:r>
                        <a:rPr lang="ru-RU" sz="1000" b="0" i="0" baseline="0" dirty="0" err="1" smtClean="0">
                          <a:latin typeface="+mn-lt"/>
                        </a:rPr>
                        <a:t>коллтрекинга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, 10 </a:t>
                      </a:r>
                      <a:r>
                        <a:rPr lang="en-US" sz="1000" b="0" i="0" baseline="0" dirty="0" smtClean="0">
                          <a:latin typeface="+mn-lt"/>
                        </a:rPr>
                        <a:t>e-mail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для трекинга, 800 входящих минут)</a:t>
                      </a:r>
                      <a:endParaRPr lang="ru-RU" sz="1000" b="0" i="0" baseline="30000" dirty="0" smtClean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36450 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36450 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36450 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36450 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6314157"/>
                  </a:ext>
                </a:extLst>
              </a:tr>
              <a:tr h="303307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dirty="0" err="1" smtClean="0">
                          <a:latin typeface="+mn-lt"/>
                        </a:rPr>
                        <a:t>МультиТрекинг</a:t>
                      </a:r>
                      <a:r>
                        <a:rPr lang="ru-RU" sz="1000" b="0" i="0" dirty="0" smtClean="0">
                          <a:latin typeface="+mn-lt"/>
                        </a:rPr>
                        <a:t> пакет </a:t>
                      </a:r>
                      <a:r>
                        <a:rPr lang="en-US" sz="1000" b="0" i="0" dirty="0" smtClean="0">
                          <a:latin typeface="+mn-lt"/>
                        </a:rPr>
                        <a:t>L</a:t>
                      </a:r>
                      <a:r>
                        <a:rPr lang="ru-RU" sz="1000" b="0" i="0" dirty="0" smtClean="0">
                          <a:latin typeface="+mn-lt"/>
                        </a:rPr>
                        <a:t>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6 месяцев, скидка 10% </a:t>
                      </a:r>
                      <a:r>
                        <a:rPr lang="ru-RU" sz="1000" b="0" i="0" dirty="0" smtClean="0">
                          <a:latin typeface="+mn-lt"/>
                        </a:rPr>
                        <a:t>(15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 номеров </a:t>
                      </a:r>
                      <a:r>
                        <a:rPr lang="ru-RU" sz="1000" b="0" i="0" baseline="0" dirty="0" err="1" smtClean="0">
                          <a:latin typeface="+mn-lt"/>
                        </a:rPr>
                        <a:t>коллтрекинга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, 30 </a:t>
                      </a:r>
                      <a:r>
                        <a:rPr lang="en-US" sz="1000" b="0" i="0" baseline="0" dirty="0" smtClean="0">
                          <a:latin typeface="+mn-lt"/>
                        </a:rPr>
                        <a:t>e-mail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для трекинга, 2000 входящих минут)</a:t>
                      </a:r>
                      <a:endParaRPr lang="ru-RU" sz="1000" b="0" i="0" baseline="30000" dirty="0" smtClean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87480 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87480 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87480 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87480 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91173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76911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1EDA0AC-921D-4240-B96C-50D453752670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83881" y="2494324"/>
            <a:ext cx="11238194" cy="3144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40665" marR="105410" indent="-228600">
              <a:spcBef>
                <a:spcPts val="100"/>
              </a:spcBef>
              <a:buAutoNum type="arabicPeriod"/>
            </a:pPr>
            <a:r>
              <a:rPr lang="ru-RU" sz="1000" spc="-5" dirty="0" smtClean="0">
                <a:cs typeface="OfficinaSerifBookCTT"/>
              </a:rPr>
              <a:t>Услуга </a:t>
            </a:r>
            <a:r>
              <a:rPr lang="ru-RU" sz="1000" spc="-5" dirty="0">
                <a:cs typeface="OfficinaSerifBookCTT"/>
              </a:rPr>
              <a:t>тарифицируется как единовременный платеж за пользование услугой в отчетном периоде использования номера С</a:t>
            </a:r>
            <a:r>
              <a:rPr lang="ru-RU" sz="1000" spc="-5" dirty="0" smtClean="0">
                <a:cs typeface="OfficinaSerifBookCTT"/>
              </a:rPr>
              <a:t>татического </a:t>
            </a:r>
            <a:r>
              <a:rPr lang="ru-RU" sz="1000" spc="-5" dirty="0" err="1" smtClean="0">
                <a:cs typeface="OfficinaSerifBookCTT"/>
              </a:rPr>
              <a:t>коллтрекинга</a:t>
            </a:r>
            <a:r>
              <a:rPr lang="en-US" sz="1000" spc="-5" dirty="0" smtClean="0">
                <a:cs typeface="OfficinaSerifBookCTT"/>
              </a:rPr>
              <a:t>/</a:t>
            </a:r>
            <a:r>
              <a:rPr lang="ru-RU" sz="1000" spc="-5" dirty="0" err="1" smtClean="0">
                <a:cs typeface="OfficinaSerifBookCTT"/>
              </a:rPr>
              <a:t>МультиТрекинга</a:t>
            </a:r>
            <a:r>
              <a:rPr lang="ru-RU" sz="1000" spc="-5" dirty="0" smtClean="0">
                <a:cs typeface="OfficinaSerifBookCTT"/>
              </a:rPr>
              <a:t> вне зависимости от </a:t>
            </a:r>
            <a:r>
              <a:rPr lang="ru-RU" sz="1000" spc="-5" dirty="0">
                <a:cs typeface="OfficinaSerifBookCTT"/>
              </a:rPr>
              <a:t>фактического времени использования</a:t>
            </a:r>
            <a:r>
              <a:rPr lang="ru-RU" sz="1000" spc="-5" dirty="0" smtClean="0">
                <a:cs typeface="OfficinaSerifBookCTT"/>
              </a:rPr>
              <a:t>.</a:t>
            </a:r>
          </a:p>
          <a:p>
            <a:pPr marL="240665" marR="105410" indent="-228600">
              <a:spcBef>
                <a:spcPts val="100"/>
              </a:spcBef>
              <a:buAutoNum type="arabicPeriod"/>
            </a:pPr>
            <a:r>
              <a:rPr lang="ru-RU" sz="1000" spc="-5" dirty="0" smtClean="0">
                <a:cs typeface="OfficinaSerifBookCTT"/>
              </a:rPr>
              <a:t>Минимальное </a:t>
            </a:r>
            <a:r>
              <a:rPr lang="ru-RU" sz="1000" spc="-5" dirty="0">
                <a:cs typeface="OfficinaSerifBookCTT"/>
              </a:rPr>
              <a:t>количество номеров </a:t>
            </a:r>
            <a:r>
              <a:rPr lang="ru-RU" sz="1000" spc="-5" dirty="0" err="1">
                <a:cs typeface="OfficinaSerifBookCTT"/>
              </a:rPr>
              <a:t>коллтрекинга</a:t>
            </a:r>
            <a:r>
              <a:rPr lang="ru-RU" sz="1000" spc="-5" dirty="0">
                <a:cs typeface="OfficinaSerifBookCTT"/>
              </a:rPr>
              <a:t>, которое может быть использовано для динамического </a:t>
            </a:r>
            <a:r>
              <a:rPr lang="ru-RU" sz="1000" spc="-5" dirty="0" err="1">
                <a:cs typeface="OfficinaSerifBookCTT"/>
              </a:rPr>
              <a:t>коллтрекинга</a:t>
            </a:r>
            <a:r>
              <a:rPr lang="ru-RU" sz="1000" spc="-5" dirty="0">
                <a:cs typeface="OfficinaSerifBookCTT"/>
              </a:rPr>
              <a:t>, предназначенного для оценки рекламных кампаний, проводимых в сети Интернет, составляет 2 номера </a:t>
            </a:r>
            <a:r>
              <a:rPr lang="ru-RU" sz="1000" spc="-5" dirty="0" err="1">
                <a:cs typeface="OfficinaSerifBookCTT"/>
              </a:rPr>
              <a:t>коллтрекинга</a:t>
            </a:r>
            <a:r>
              <a:rPr lang="ru-RU" sz="1000" spc="-5" dirty="0">
                <a:cs typeface="OfficinaSerifBookCTT"/>
              </a:rPr>
              <a:t>. Если количество номеров </a:t>
            </a:r>
            <a:r>
              <a:rPr lang="ru-RU" sz="1000" spc="-5" dirty="0" err="1">
                <a:cs typeface="OfficinaSerifBookCTT"/>
              </a:rPr>
              <a:t>коллтрекинга</a:t>
            </a:r>
            <a:r>
              <a:rPr lang="ru-RU" sz="1000" spc="-5" dirty="0">
                <a:cs typeface="OfficinaSerifBookCTT"/>
              </a:rPr>
              <a:t>, включенное в базовый вариант предоставления </a:t>
            </a:r>
            <a:r>
              <a:rPr lang="ru-RU" sz="1000" spc="-5" dirty="0" err="1">
                <a:cs typeface="OfficinaSerifBookCTT"/>
              </a:rPr>
              <a:t>Мультитрекинга</a:t>
            </a:r>
            <a:r>
              <a:rPr lang="ru-RU" sz="1000" spc="-5" dirty="0">
                <a:cs typeface="OfficinaSerifBookCTT"/>
              </a:rPr>
              <a:t>, ниже указанного значения, то доступно использование номера исключительно для статистического </a:t>
            </a:r>
            <a:r>
              <a:rPr lang="ru-RU" sz="1000" spc="-5" dirty="0" err="1">
                <a:cs typeface="OfficinaSerifBookCTT"/>
              </a:rPr>
              <a:t>коллтрекинга</a:t>
            </a:r>
            <a:r>
              <a:rPr lang="ru-RU" sz="1000" spc="-5" dirty="0">
                <a:cs typeface="OfficinaSerifBookCTT"/>
              </a:rPr>
              <a:t>, который позволяет оценить эффективность рекламных кампаний в офлайн-каналах (например, наружная реклама, радио, ТВ-реклама, печатная реклама, рассылки).</a:t>
            </a:r>
            <a:endParaRPr lang="en-US" sz="1000" spc="-5" dirty="0" smtClean="0">
              <a:cs typeface="OfficinaSerifBookCTT"/>
            </a:endParaRPr>
          </a:p>
          <a:p>
            <a:pPr marL="240665" marR="105410" indent="-228600">
              <a:spcBef>
                <a:spcPts val="100"/>
              </a:spcBef>
              <a:buAutoNum type="arabicPeriod"/>
            </a:pPr>
            <a:r>
              <a:rPr lang="ru-RU" sz="1000" dirty="0">
                <a:cs typeface="OfficinaSerifBookCTT"/>
              </a:rPr>
              <a:t>Номер 8-800 и 8-804 дополнительно тарифицируется за минуту входящего вызова в конце отчетного периода пользования номера </a:t>
            </a:r>
            <a:r>
              <a:rPr lang="ru-RU" sz="1000" dirty="0" err="1">
                <a:cs typeface="OfficinaSerifBookCTT"/>
              </a:rPr>
              <a:t>коллтрекинга</a:t>
            </a:r>
            <a:r>
              <a:rPr lang="ru-RU" sz="1000" dirty="0">
                <a:cs typeface="OfficinaSerifBookCTT"/>
              </a:rPr>
              <a:t>. Н</a:t>
            </a:r>
            <a:r>
              <a:rPr lang="ru-RU" sz="1000" dirty="0" smtClean="0">
                <a:cs typeface="OfficinaSerifBookCTT"/>
              </a:rPr>
              <a:t>еполная </a:t>
            </a:r>
            <a:r>
              <a:rPr lang="ru-RU" sz="1000" dirty="0">
                <a:cs typeface="OfficinaSerifBookCTT"/>
              </a:rPr>
              <a:t>минута соединения </a:t>
            </a:r>
            <a:r>
              <a:rPr lang="ru-RU" sz="1000" dirty="0" smtClean="0">
                <a:cs typeface="OfficinaSerifBookCTT"/>
              </a:rPr>
              <a:t>вне зависимости от продолжительности тарифицируется </a:t>
            </a:r>
            <a:r>
              <a:rPr lang="ru-RU" sz="1000" dirty="0">
                <a:cs typeface="OfficinaSerifBookCTT"/>
              </a:rPr>
              <a:t>как полная минута соединения.</a:t>
            </a:r>
            <a:endParaRPr lang="en-US" sz="1000" dirty="0" smtClean="0">
              <a:cs typeface="OfficinaSerifBookCTT"/>
            </a:endParaRPr>
          </a:p>
          <a:p>
            <a:pPr marL="240665" marR="105410" indent="-228600">
              <a:spcBef>
                <a:spcPts val="100"/>
              </a:spcBef>
              <a:buAutoNum type="arabicPeriod"/>
            </a:pPr>
            <a:r>
              <a:rPr lang="ru-RU" sz="1000" spc="-10" dirty="0" smtClean="0">
                <a:cs typeface="OfficinaSerifBookCTT"/>
              </a:rPr>
              <a:t>Дополнительный </a:t>
            </a:r>
            <a:r>
              <a:rPr lang="ru-RU" sz="1000" spc="-10" dirty="0">
                <a:cs typeface="OfficinaSerifBookCTT"/>
              </a:rPr>
              <a:t>e-</a:t>
            </a:r>
            <a:r>
              <a:rPr lang="ru-RU" sz="1000" spc="-10" dirty="0" err="1">
                <a:cs typeface="OfficinaSerifBookCTT"/>
              </a:rPr>
              <a:t>mail</a:t>
            </a:r>
            <a:r>
              <a:rPr lang="ru-RU" sz="1000" spc="-10" dirty="0">
                <a:cs typeface="OfficinaSerifBookCTT"/>
              </a:rPr>
              <a:t> для </a:t>
            </a:r>
            <a:r>
              <a:rPr lang="ru-RU" sz="1000" spc="-10" dirty="0" err="1" smtClean="0">
                <a:cs typeface="OfficinaSerifBookCTT"/>
              </a:rPr>
              <a:t>МультиТрекинга</a:t>
            </a:r>
            <a:r>
              <a:rPr lang="ru-RU" sz="1000" spc="-10" dirty="0" smtClean="0">
                <a:cs typeface="OfficinaSerifBookCTT"/>
              </a:rPr>
              <a:t> </a:t>
            </a:r>
            <a:r>
              <a:rPr lang="ru-RU" sz="1000" spc="-10" dirty="0">
                <a:cs typeface="OfficinaSerifBookCTT"/>
              </a:rPr>
              <a:t>подключается </a:t>
            </a:r>
            <a:r>
              <a:rPr lang="ru-RU" sz="1000" spc="-10" dirty="0" smtClean="0">
                <a:cs typeface="OfficinaSerifBookCTT"/>
              </a:rPr>
              <a:t>в </a:t>
            </a:r>
            <a:r>
              <a:rPr lang="ru-RU" sz="1000" spc="-10" dirty="0">
                <a:cs typeface="OfficinaSerifBookCTT"/>
              </a:rPr>
              <a:t>случае, если количество </a:t>
            </a:r>
            <a:r>
              <a:rPr lang="ru-RU" sz="1000" spc="-10" dirty="0" smtClean="0">
                <a:cs typeface="OfficinaSerifBookCTT"/>
              </a:rPr>
              <a:t>e-</a:t>
            </a:r>
            <a:r>
              <a:rPr lang="ru-RU" sz="1000" spc="-10" dirty="0" err="1" smtClean="0">
                <a:cs typeface="OfficinaSerifBookCTT"/>
              </a:rPr>
              <a:t>mail</a:t>
            </a:r>
            <a:r>
              <a:rPr lang="ru-RU" sz="1000" spc="-10" dirty="0" smtClean="0">
                <a:cs typeface="OfficinaSerifBookCTT"/>
              </a:rPr>
              <a:t> </a:t>
            </a:r>
            <a:r>
              <a:rPr lang="ru-RU" sz="1000" spc="-10" dirty="0" err="1" smtClean="0">
                <a:cs typeface="OfficinaSerifBookCTT"/>
              </a:rPr>
              <a:t>МультиТрекинга</a:t>
            </a:r>
            <a:r>
              <a:rPr lang="ru-RU" sz="1000" spc="-10" dirty="0" smtClean="0">
                <a:cs typeface="OfficinaSerifBookCTT"/>
              </a:rPr>
              <a:t>, </a:t>
            </a:r>
            <a:r>
              <a:rPr lang="ru-RU" sz="1000" spc="-10" dirty="0">
                <a:cs typeface="OfficinaSerifBookCTT"/>
              </a:rPr>
              <a:t>включенных в базовые варианты предоставления </a:t>
            </a:r>
            <a:r>
              <a:rPr lang="ru-RU" sz="1000" spc="-10" dirty="0" smtClean="0">
                <a:cs typeface="OfficinaSerifBookCTT"/>
              </a:rPr>
              <a:t>сервиса </a:t>
            </a:r>
            <a:r>
              <a:rPr lang="ru-RU" sz="1000" spc="-10" dirty="0" err="1" smtClean="0">
                <a:cs typeface="OfficinaSerifBookCTT"/>
              </a:rPr>
              <a:t>МультиТрекинга</a:t>
            </a:r>
            <a:r>
              <a:rPr lang="ru-RU" sz="1000" spc="-10" dirty="0" smtClean="0">
                <a:cs typeface="OfficinaSerifBookCTT"/>
              </a:rPr>
              <a:t>, ниже </a:t>
            </a:r>
            <a:r>
              <a:rPr lang="ru-RU" sz="1000" spc="-10" dirty="0">
                <a:cs typeface="OfficinaSerifBookCTT"/>
              </a:rPr>
              <a:t>количества необходимых </a:t>
            </a:r>
            <a:r>
              <a:rPr lang="ru-RU" sz="1000" spc="-10" dirty="0" smtClean="0">
                <a:cs typeface="OfficinaSerifBookCTT"/>
              </a:rPr>
              <a:t>клиенту. </a:t>
            </a:r>
            <a:r>
              <a:rPr lang="ru-RU" sz="1000" spc="-10" dirty="0">
                <a:cs typeface="OfficinaSerifBookCTT"/>
              </a:rPr>
              <a:t>Увеличение количества номеров </a:t>
            </a:r>
            <a:r>
              <a:rPr lang="ru-RU" sz="1000" spc="-10" dirty="0" err="1" smtClean="0">
                <a:cs typeface="OfficinaSerifBookCTT"/>
              </a:rPr>
              <a:t>МультиТрекинга</a:t>
            </a:r>
            <a:r>
              <a:rPr lang="ru-RU" sz="1000" spc="-10" dirty="0" smtClean="0">
                <a:cs typeface="OfficinaSerifBookCTT"/>
              </a:rPr>
              <a:t> </a:t>
            </a:r>
            <a:r>
              <a:rPr lang="ru-RU" sz="1000" spc="-10" dirty="0">
                <a:cs typeface="OfficinaSerifBookCTT"/>
              </a:rPr>
              <a:t>без изменения </a:t>
            </a:r>
            <a:r>
              <a:rPr lang="ru-RU" sz="1000" spc="-10" dirty="0" smtClean="0">
                <a:cs typeface="OfficinaSerifBookCTT"/>
              </a:rPr>
              <a:t>базового варианта предоставления сервиса не </a:t>
            </a:r>
            <a:r>
              <a:rPr lang="ru-RU" sz="1000" spc="-10" dirty="0">
                <a:cs typeface="OfficinaSerifBookCTT"/>
              </a:rPr>
              <a:t>предусмотрено</a:t>
            </a:r>
            <a:r>
              <a:rPr lang="ru-RU" sz="1000" spc="-10" dirty="0" smtClean="0">
                <a:cs typeface="OfficinaSerifBookCTT"/>
              </a:rPr>
              <a:t>.</a:t>
            </a:r>
          </a:p>
          <a:p>
            <a:pPr marL="240665" marR="105410" indent="-228600">
              <a:spcBef>
                <a:spcPts val="100"/>
              </a:spcBef>
              <a:buAutoNum type="arabicPeriod"/>
            </a:pPr>
            <a:r>
              <a:rPr lang="ru-RU" sz="1000" dirty="0">
                <a:cs typeface="OfficinaSerifBookCTT"/>
              </a:rPr>
              <a:t>билайн не производит анализ рекламных материалов и звонков самостоятельно, обработка данных осуществляется с использованием программного обеспечения при наличии у клиента правовых оснований на соответствующую обработку</a:t>
            </a:r>
            <a:r>
              <a:rPr lang="ru-RU" sz="1000" dirty="0" smtClean="0">
                <a:cs typeface="OfficinaSerifBookCTT"/>
              </a:rPr>
              <a:t>.</a:t>
            </a:r>
          </a:p>
          <a:p>
            <a:pPr marL="240665" marR="105410" indent="-228600">
              <a:spcBef>
                <a:spcPts val="100"/>
              </a:spcBef>
              <a:buAutoNum type="arabicPeriod"/>
            </a:pPr>
            <a:r>
              <a:rPr lang="ru-RU" sz="1000" dirty="0" smtClean="0">
                <a:cs typeface="OfficinaSerifBookCTT"/>
              </a:rPr>
              <a:t>Во </a:t>
            </a:r>
            <a:r>
              <a:rPr lang="ru-RU" sz="1000" dirty="0">
                <a:cs typeface="OfficinaSerifBookCTT"/>
              </a:rPr>
              <a:t>все </a:t>
            </a:r>
            <a:r>
              <a:rPr lang="ru-RU" sz="1000" dirty="0" smtClean="0">
                <a:cs typeface="OfficinaSerifBookCTT"/>
              </a:rPr>
              <a:t>пакеты </a:t>
            </a:r>
            <a:r>
              <a:rPr lang="ru-RU" sz="1000" dirty="0" err="1" smtClean="0">
                <a:cs typeface="OfficinaSerifBookCTT"/>
              </a:rPr>
              <a:t>Мультитрекинга</a:t>
            </a:r>
            <a:r>
              <a:rPr lang="ru-RU" sz="1000" dirty="0" smtClean="0">
                <a:cs typeface="OfficinaSerifBookCTT"/>
              </a:rPr>
              <a:t> в </a:t>
            </a:r>
            <a:r>
              <a:rPr lang="ru-RU" sz="1000" dirty="0">
                <a:cs typeface="OfficinaSerifBookCTT"/>
              </a:rPr>
              <a:t>стоимость включены «</a:t>
            </a:r>
            <a:r>
              <a:rPr lang="ru-RU" sz="1000" dirty="0" err="1">
                <a:cs typeface="OfficinaSerifBookCTT"/>
              </a:rPr>
              <a:t>Попапы</a:t>
            </a:r>
            <a:r>
              <a:rPr lang="ru-RU" sz="1000" dirty="0" smtClean="0">
                <a:cs typeface="OfficinaSerifBookCTT"/>
              </a:rPr>
              <a:t>», </a:t>
            </a:r>
            <a:r>
              <a:rPr lang="ru-RU" sz="1000" dirty="0">
                <a:cs typeface="OfficinaSerifBookCTT"/>
              </a:rPr>
              <a:t>функции «</a:t>
            </a:r>
            <a:r>
              <a:rPr lang="ru-RU" sz="1000" dirty="0" err="1">
                <a:cs typeface="OfficinaSerifBookCTT"/>
              </a:rPr>
              <a:t>Виджет</a:t>
            </a:r>
            <a:r>
              <a:rPr lang="ru-RU" sz="1000" dirty="0">
                <a:cs typeface="OfficinaSerifBookCTT"/>
              </a:rPr>
              <a:t> обратного звонка» и «</a:t>
            </a:r>
            <a:r>
              <a:rPr lang="ru-RU" sz="1000" dirty="0" err="1">
                <a:cs typeface="OfficinaSerifBookCTT"/>
              </a:rPr>
              <a:t>Дашборд</a:t>
            </a:r>
            <a:r>
              <a:rPr lang="ru-RU" sz="1000" dirty="0">
                <a:cs typeface="OfficinaSerifBookCTT"/>
              </a:rPr>
              <a:t> аналитики», а именно: </a:t>
            </a:r>
            <a:r>
              <a:rPr lang="ru-RU" sz="1000" dirty="0" smtClean="0">
                <a:cs typeface="OfficinaSerifBookCTT"/>
              </a:rPr>
              <a:t>в пакеты «S</a:t>
            </a:r>
            <a:r>
              <a:rPr lang="ru-RU" sz="1000" dirty="0">
                <a:cs typeface="OfficinaSerifBookCTT"/>
              </a:rPr>
              <a:t>» и «S+» </a:t>
            </a:r>
            <a:r>
              <a:rPr lang="ru-RU" sz="1000" dirty="0" smtClean="0">
                <a:cs typeface="OfficinaSerifBookCTT"/>
              </a:rPr>
              <a:t>−пакет </a:t>
            </a:r>
            <a:r>
              <a:rPr lang="ru-RU" sz="1000" dirty="0">
                <a:cs typeface="OfficinaSerifBookCTT"/>
              </a:rPr>
              <a:t>«Старт</a:t>
            </a:r>
            <a:r>
              <a:rPr lang="ru-RU" sz="1000" dirty="0" smtClean="0">
                <a:cs typeface="OfficinaSerifBookCTT"/>
              </a:rPr>
              <a:t>», в пакеты «M</a:t>
            </a:r>
            <a:r>
              <a:rPr lang="ru-RU" sz="1000" dirty="0">
                <a:cs typeface="OfficinaSerifBookCTT"/>
              </a:rPr>
              <a:t>» и «L» −Пакет «Бизнес». </a:t>
            </a:r>
          </a:p>
          <a:p>
            <a:pPr marL="240665" marR="105410" indent="-228600">
              <a:spcBef>
                <a:spcPts val="100"/>
              </a:spcBef>
              <a:buAutoNum type="arabicPeriod"/>
            </a:pPr>
            <a:r>
              <a:rPr lang="ru-RU" sz="1000" dirty="0" err="1" smtClean="0">
                <a:cs typeface="OfficinaSerifBookCTT"/>
              </a:rPr>
              <a:t>Попап</a:t>
            </a:r>
            <a:r>
              <a:rPr lang="ru-RU" sz="1000" dirty="0" smtClean="0">
                <a:cs typeface="OfficinaSerifBookCTT"/>
              </a:rPr>
              <a:t> </a:t>
            </a:r>
            <a:r>
              <a:rPr lang="ru-RU" sz="1000" dirty="0">
                <a:cs typeface="OfficinaSerifBookCTT"/>
              </a:rPr>
              <a:t>– всплывающие окна для разных задач и отраслей </a:t>
            </a:r>
            <a:r>
              <a:rPr lang="ru-RU" sz="1000" dirty="0" smtClean="0">
                <a:cs typeface="OfficinaSerifBookCTT"/>
              </a:rPr>
              <a:t>бизнеса.</a:t>
            </a:r>
          </a:p>
          <a:p>
            <a:pPr marL="240665" marR="105410" indent="-228600">
              <a:spcBef>
                <a:spcPts val="100"/>
              </a:spcBef>
              <a:buAutoNum type="arabicPeriod"/>
            </a:pPr>
            <a:r>
              <a:rPr lang="ru-RU" sz="1000" dirty="0">
                <a:cs typeface="OfficinaSerifBookCTT"/>
              </a:rPr>
              <a:t>Во все пакеты </a:t>
            </a:r>
            <a:r>
              <a:rPr lang="ru-RU" sz="1000" dirty="0" err="1">
                <a:cs typeface="OfficinaSerifBookCTT"/>
              </a:rPr>
              <a:t>Мультитрекинга</a:t>
            </a:r>
            <a:r>
              <a:rPr lang="ru-RU" sz="1000" dirty="0">
                <a:cs typeface="OfficinaSerifBookCTT"/>
              </a:rPr>
              <a:t> </a:t>
            </a:r>
            <a:r>
              <a:rPr lang="ru-RU" sz="1000" dirty="0" smtClean="0">
                <a:cs typeface="OfficinaSerifBookCTT"/>
              </a:rPr>
              <a:t>включены пакеты входящих </a:t>
            </a:r>
            <a:r>
              <a:rPr lang="ru-RU" sz="1000" dirty="0">
                <a:cs typeface="OfficinaSerifBookCTT"/>
              </a:rPr>
              <a:t>минут в соответствии с выбранным пакетом </a:t>
            </a:r>
            <a:r>
              <a:rPr lang="ru-RU" sz="1000" dirty="0" smtClean="0">
                <a:cs typeface="OfficinaSerifBookCTT"/>
              </a:rPr>
              <a:t>услуги.</a:t>
            </a:r>
          </a:p>
          <a:p>
            <a:pPr marL="240665" marR="105410" indent="-228600">
              <a:spcBef>
                <a:spcPts val="100"/>
              </a:spcBef>
              <a:buAutoNum type="arabicPeriod"/>
            </a:pPr>
            <a:r>
              <a:rPr lang="ru-RU" sz="1000" dirty="0" smtClean="0">
                <a:cs typeface="OfficinaSerifBookCTT"/>
              </a:rPr>
              <a:t>Входящие минуты </a:t>
            </a:r>
            <a:r>
              <a:rPr lang="ru-RU" sz="1000" dirty="0">
                <a:cs typeface="OfficinaSerifBookCTT"/>
              </a:rPr>
              <a:t>сверх лимитов, </a:t>
            </a:r>
            <a:r>
              <a:rPr lang="ru-RU" sz="1000" dirty="0" smtClean="0">
                <a:cs typeface="OfficinaSerifBookCTT"/>
              </a:rPr>
              <a:t>установленных для </a:t>
            </a:r>
            <a:r>
              <a:rPr lang="ru-RU" sz="1000" dirty="0" err="1" smtClean="0">
                <a:cs typeface="OfficinaSerifBookCTT"/>
              </a:rPr>
              <a:t>МультиТрекинга</a:t>
            </a:r>
            <a:r>
              <a:rPr lang="ru-RU" sz="1000" dirty="0" smtClean="0">
                <a:cs typeface="OfficinaSerifBookCTT"/>
              </a:rPr>
              <a:t> в пакетах </a:t>
            </a:r>
            <a:r>
              <a:rPr lang="ru-RU" sz="1000" dirty="0">
                <a:cs typeface="OfficinaSerifBookCTT"/>
              </a:rPr>
              <a:t>S, S+, M и L оплачиваются отдельно в размере 2,10 (два рубля десять копеек) за минуту.</a:t>
            </a:r>
            <a:endParaRPr lang="ru-RU" sz="1000" dirty="0" smtClean="0">
              <a:cs typeface="OfficinaSerifBookCTT"/>
            </a:endParaRPr>
          </a:p>
          <a:p>
            <a:pPr marL="240665" marR="105410" indent="-228600">
              <a:spcBef>
                <a:spcPts val="100"/>
              </a:spcBef>
              <a:buAutoNum type="arabicPeriod"/>
            </a:pPr>
            <a:endParaRPr lang="ru-RU" sz="1000" dirty="0">
              <a:cs typeface="OfficinaSerifBookCTT"/>
            </a:endParaRPr>
          </a:p>
          <a:p>
            <a:pPr marL="240665" marR="105410" indent="-228600">
              <a:spcBef>
                <a:spcPts val="100"/>
              </a:spcBef>
              <a:buAutoNum type="arabicPeriod"/>
            </a:pPr>
            <a:endParaRPr lang="ru-RU" sz="1000" dirty="0" smtClean="0">
              <a:cs typeface="OfficinaSerifBookCTT"/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/>
          </p:nvPr>
        </p:nvGraphicFramePr>
        <p:xfrm>
          <a:off x="376238" y="730112"/>
          <a:ext cx="10801351" cy="27432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3841611">
                  <a:extLst>
                    <a:ext uri="{9D8B030D-6E8A-4147-A177-3AD203B41FA5}">
                      <a16:colId xmlns:a16="http://schemas.microsoft.com/office/drawing/2014/main" val="3049061458"/>
                    </a:ext>
                  </a:extLst>
                </a:gridCol>
                <a:gridCol w="1739935">
                  <a:extLst>
                    <a:ext uri="{9D8B030D-6E8A-4147-A177-3AD203B41FA5}">
                      <a16:colId xmlns:a16="http://schemas.microsoft.com/office/drawing/2014/main" val="3746695383"/>
                    </a:ext>
                  </a:extLst>
                </a:gridCol>
                <a:gridCol w="1739935">
                  <a:extLst>
                    <a:ext uri="{9D8B030D-6E8A-4147-A177-3AD203B41FA5}">
                      <a16:colId xmlns:a16="http://schemas.microsoft.com/office/drawing/2014/main" val="1981011138"/>
                    </a:ext>
                  </a:extLst>
                </a:gridCol>
                <a:gridCol w="1560581">
                  <a:extLst>
                    <a:ext uri="{9D8B030D-6E8A-4147-A177-3AD203B41FA5}">
                      <a16:colId xmlns:a16="http://schemas.microsoft.com/office/drawing/2014/main" val="494056282"/>
                    </a:ext>
                  </a:extLst>
                </a:gridCol>
                <a:gridCol w="1919289">
                  <a:extLst>
                    <a:ext uri="{9D8B030D-6E8A-4147-A177-3AD203B41FA5}">
                      <a16:colId xmlns:a16="http://schemas.microsoft.com/office/drawing/2014/main" val="349824144"/>
                    </a:ext>
                  </a:extLst>
                </a:gridCol>
              </a:tblGrid>
              <a:tr h="27280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Минимальный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Базовый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Стандартный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Профессиональный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9698440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/>
          </p:nvPr>
        </p:nvGraphicFramePr>
        <p:xfrm>
          <a:off x="376240" y="1004432"/>
          <a:ext cx="10801349" cy="1380633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3841611">
                  <a:extLst>
                    <a:ext uri="{9D8B030D-6E8A-4147-A177-3AD203B41FA5}">
                      <a16:colId xmlns:a16="http://schemas.microsoft.com/office/drawing/2014/main" val="2052785727"/>
                    </a:ext>
                  </a:extLst>
                </a:gridCol>
                <a:gridCol w="1739934">
                  <a:extLst>
                    <a:ext uri="{9D8B030D-6E8A-4147-A177-3AD203B41FA5}">
                      <a16:colId xmlns:a16="http://schemas.microsoft.com/office/drawing/2014/main" val="3051516708"/>
                    </a:ext>
                  </a:extLst>
                </a:gridCol>
                <a:gridCol w="1739934">
                  <a:extLst>
                    <a:ext uri="{9D8B030D-6E8A-4147-A177-3AD203B41FA5}">
                      <a16:colId xmlns:a16="http://schemas.microsoft.com/office/drawing/2014/main" val="1484865857"/>
                    </a:ext>
                  </a:extLst>
                </a:gridCol>
                <a:gridCol w="1557401">
                  <a:extLst>
                    <a:ext uri="{9D8B030D-6E8A-4147-A177-3AD203B41FA5}">
                      <a16:colId xmlns:a16="http://schemas.microsoft.com/office/drawing/2014/main" val="2329816015"/>
                    </a:ext>
                  </a:extLst>
                </a:gridCol>
                <a:gridCol w="1922469">
                  <a:extLst>
                    <a:ext uri="{9D8B030D-6E8A-4147-A177-3AD203B41FA5}">
                      <a16:colId xmlns:a16="http://schemas.microsoft.com/office/drawing/2014/main" val="3572448455"/>
                    </a:ext>
                  </a:extLst>
                </a:gridCol>
              </a:tblGrid>
              <a:tr h="161433">
                <a:tc gridSpan="5">
                  <a:txBody>
                    <a:bodyPr/>
                    <a:lstStyle/>
                    <a:p>
                      <a:pPr marL="7747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1" i="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Мультитрекинг</a:t>
                      </a:r>
                      <a:r>
                        <a:rPr lang="ru-RU" sz="1050" b="1" i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(на 3, 6 или 12 месяцев)</a:t>
                      </a:r>
                      <a:endParaRPr lang="ru-RU" sz="1050" b="1" i="0" baseline="3000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169231"/>
                  </a:ext>
                </a:extLst>
              </a:tr>
              <a:tr h="303307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dirty="0" err="1" smtClean="0">
                          <a:latin typeface="+mn-lt"/>
                        </a:rPr>
                        <a:t>МультиТрекинг</a:t>
                      </a:r>
                      <a:r>
                        <a:rPr lang="ru-RU" sz="1000" b="0" i="0" dirty="0" smtClean="0">
                          <a:latin typeface="+mn-lt"/>
                        </a:rPr>
                        <a:t> пакет </a:t>
                      </a:r>
                      <a:r>
                        <a:rPr lang="en-US" sz="1000" b="0" i="0" dirty="0" smtClean="0">
                          <a:latin typeface="+mn-lt"/>
                        </a:rPr>
                        <a:t>S</a:t>
                      </a:r>
                      <a:r>
                        <a:rPr lang="ru-RU" sz="1000" b="0" i="0" dirty="0" smtClean="0">
                          <a:latin typeface="+mn-lt"/>
                        </a:rPr>
                        <a:t>,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 12 месяцев, скидка 15% </a:t>
                      </a:r>
                      <a:r>
                        <a:rPr lang="ru-RU" sz="1000" b="0" i="0" dirty="0" smtClean="0">
                          <a:latin typeface="+mn-lt"/>
                        </a:rPr>
                        <a:t>(1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 номер </a:t>
                      </a:r>
                      <a:r>
                        <a:rPr lang="ru-RU" sz="1000" b="0" i="0" baseline="0" dirty="0" err="1" smtClean="0">
                          <a:latin typeface="+mn-lt"/>
                        </a:rPr>
                        <a:t>коллтрекинга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, 1 </a:t>
                      </a:r>
                      <a:r>
                        <a:rPr lang="en-US" sz="1000" b="0" i="0" baseline="0" dirty="0" smtClean="0">
                          <a:latin typeface="+mn-lt"/>
                        </a:rPr>
                        <a:t>e-mail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для трекинга, 250 входящих минут)</a:t>
                      </a:r>
                      <a:endParaRPr lang="ru-RU" sz="1000" b="0" i="0" baseline="30000" dirty="0" smtClean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19890 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19890 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19890 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19890 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3632238"/>
                  </a:ext>
                </a:extLst>
              </a:tr>
              <a:tr h="303307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dirty="0" err="1" smtClean="0">
                          <a:latin typeface="+mn-lt"/>
                        </a:rPr>
                        <a:t>МультиТрекинг</a:t>
                      </a:r>
                      <a:r>
                        <a:rPr lang="ru-RU" sz="1000" b="0" i="0" dirty="0" smtClean="0">
                          <a:latin typeface="+mn-lt"/>
                        </a:rPr>
                        <a:t> пакет </a:t>
                      </a:r>
                      <a:r>
                        <a:rPr lang="en-US" sz="1000" b="0" i="0" dirty="0" smtClean="0">
                          <a:latin typeface="+mn-lt"/>
                        </a:rPr>
                        <a:t>S</a:t>
                      </a:r>
                      <a:r>
                        <a:rPr lang="ru-RU" sz="1000" b="0" i="0" dirty="0" smtClean="0">
                          <a:latin typeface="+mn-lt"/>
                        </a:rPr>
                        <a:t>+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12 месяцев, скидка 15% </a:t>
                      </a:r>
                      <a:r>
                        <a:rPr lang="ru-RU" sz="1000" b="0" i="0" dirty="0" smtClean="0">
                          <a:latin typeface="+mn-lt"/>
                        </a:rPr>
                        <a:t>(2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 номер </a:t>
                      </a:r>
                      <a:r>
                        <a:rPr lang="ru-RU" sz="1000" b="0" i="0" baseline="0" dirty="0" err="1" smtClean="0">
                          <a:latin typeface="+mn-lt"/>
                        </a:rPr>
                        <a:t>коллтрекинга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, 2 </a:t>
                      </a:r>
                      <a:r>
                        <a:rPr lang="en-US" sz="1000" b="0" i="0" baseline="0" dirty="0" smtClean="0">
                          <a:latin typeface="+mn-lt"/>
                        </a:rPr>
                        <a:t>e-mail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для трекинга, 400 входящих минут)</a:t>
                      </a:r>
                      <a:endParaRPr lang="ru-RU" sz="1000" b="0" i="0" baseline="30000" dirty="0" smtClean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32130 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32130 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32130 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32130 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6839517"/>
                  </a:ext>
                </a:extLst>
              </a:tr>
              <a:tr h="303307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dirty="0" err="1" smtClean="0">
                          <a:latin typeface="+mn-lt"/>
                        </a:rPr>
                        <a:t>МультиТрекинг</a:t>
                      </a:r>
                      <a:r>
                        <a:rPr lang="ru-RU" sz="1000" b="0" i="0" dirty="0" smtClean="0">
                          <a:latin typeface="+mn-lt"/>
                        </a:rPr>
                        <a:t> пакет </a:t>
                      </a:r>
                      <a:r>
                        <a:rPr lang="en-US" sz="1000" b="0" i="0" dirty="0" smtClean="0">
                          <a:latin typeface="+mn-lt"/>
                        </a:rPr>
                        <a:t>M</a:t>
                      </a:r>
                      <a:r>
                        <a:rPr lang="ru-RU" sz="1000" b="0" i="0" dirty="0" smtClean="0">
                          <a:latin typeface="+mn-lt"/>
                        </a:rPr>
                        <a:t>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12 месяцев, скидка 15% </a:t>
                      </a:r>
                      <a:r>
                        <a:rPr lang="ru-RU" sz="1000" b="0" i="0" dirty="0" smtClean="0">
                          <a:latin typeface="+mn-lt"/>
                        </a:rPr>
                        <a:t>(5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 номеров </a:t>
                      </a:r>
                      <a:r>
                        <a:rPr lang="ru-RU" sz="1000" b="0" i="0" baseline="0" dirty="0" err="1" smtClean="0">
                          <a:latin typeface="+mn-lt"/>
                        </a:rPr>
                        <a:t>коллтрекинга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, 10 </a:t>
                      </a:r>
                      <a:r>
                        <a:rPr lang="en-US" sz="1000" b="0" i="0" baseline="0" dirty="0" smtClean="0">
                          <a:latin typeface="+mn-lt"/>
                        </a:rPr>
                        <a:t>e-mail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для трекинга, 800 входящих минут)</a:t>
                      </a:r>
                      <a:endParaRPr lang="ru-RU" sz="1000" b="0" i="0" baseline="30000" dirty="0" smtClean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68850 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68850 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68850 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68850 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4114823"/>
                  </a:ext>
                </a:extLst>
              </a:tr>
              <a:tr h="303307">
                <a:tc>
                  <a:txBody>
                    <a:bodyPr/>
                    <a:lstStyle/>
                    <a:p>
                      <a:pPr marL="7747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22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dirty="0" err="1" smtClean="0">
                          <a:latin typeface="+mn-lt"/>
                        </a:rPr>
                        <a:t>МультиТрекинг</a:t>
                      </a:r>
                      <a:r>
                        <a:rPr lang="ru-RU" sz="1000" b="0" i="0" dirty="0" smtClean="0">
                          <a:latin typeface="+mn-lt"/>
                        </a:rPr>
                        <a:t> пакет </a:t>
                      </a:r>
                      <a:r>
                        <a:rPr lang="en-US" sz="1000" b="0" i="0" dirty="0" smtClean="0">
                          <a:latin typeface="+mn-lt"/>
                        </a:rPr>
                        <a:t>L</a:t>
                      </a:r>
                      <a:r>
                        <a:rPr lang="ru-RU" sz="1000" b="0" i="0" dirty="0" smtClean="0">
                          <a:latin typeface="+mn-lt"/>
                        </a:rPr>
                        <a:t>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12 месяцев, скидка 15% </a:t>
                      </a:r>
                      <a:r>
                        <a:rPr lang="ru-RU" sz="1000" b="0" i="0" dirty="0" smtClean="0">
                          <a:latin typeface="+mn-lt"/>
                        </a:rPr>
                        <a:t>(15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 номеров </a:t>
                      </a:r>
                      <a:r>
                        <a:rPr lang="ru-RU" sz="1000" b="0" i="0" baseline="0" dirty="0" err="1" smtClean="0">
                          <a:latin typeface="+mn-lt"/>
                        </a:rPr>
                        <a:t>коллтрекинга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, 30 </a:t>
                      </a:r>
                      <a:r>
                        <a:rPr lang="en-US" sz="1000" b="0" i="0" baseline="0" dirty="0" smtClean="0">
                          <a:latin typeface="+mn-lt"/>
                        </a:rPr>
                        <a:t>e-mail </a:t>
                      </a:r>
                      <a:r>
                        <a:rPr lang="ru-RU" sz="1000" b="0" i="0" baseline="0" dirty="0" smtClean="0">
                          <a:latin typeface="+mn-lt"/>
                        </a:rPr>
                        <a:t>для трекинга, 2000 входящих минут)</a:t>
                      </a:r>
                      <a:endParaRPr lang="ru-RU" sz="1000" b="0" i="0" baseline="30000" dirty="0" smtClean="0"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165240 ₽/мес</a:t>
                      </a:r>
                      <a:endParaRPr lang="ru-RU" sz="10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165240 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165240 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165240 ₽/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мес</a:t>
                      </a:r>
                      <a:endParaRPr lang="ru-RU" sz="10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8921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2448509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1EDA0AC-921D-4240-B96C-50D453752670}" type="slidenum">
              <a:rPr lang="ru-RU" smtClean="0"/>
              <a:pPr/>
              <a:t>8</a:t>
            </a:fld>
            <a:endParaRPr lang="ru-RU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/>
          </p:nvPr>
        </p:nvGraphicFramePr>
        <p:xfrm>
          <a:off x="360364" y="803496"/>
          <a:ext cx="10801349" cy="3150666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3841611">
                  <a:extLst>
                    <a:ext uri="{9D8B030D-6E8A-4147-A177-3AD203B41FA5}">
                      <a16:colId xmlns:a16="http://schemas.microsoft.com/office/drawing/2014/main" val="343388916"/>
                    </a:ext>
                  </a:extLst>
                </a:gridCol>
                <a:gridCol w="1739934">
                  <a:extLst>
                    <a:ext uri="{9D8B030D-6E8A-4147-A177-3AD203B41FA5}">
                      <a16:colId xmlns:a16="http://schemas.microsoft.com/office/drawing/2014/main" val="82304575"/>
                    </a:ext>
                  </a:extLst>
                </a:gridCol>
                <a:gridCol w="1739934">
                  <a:extLst>
                    <a:ext uri="{9D8B030D-6E8A-4147-A177-3AD203B41FA5}">
                      <a16:colId xmlns:a16="http://schemas.microsoft.com/office/drawing/2014/main" val="1397672727"/>
                    </a:ext>
                  </a:extLst>
                </a:gridCol>
                <a:gridCol w="1557401">
                  <a:extLst>
                    <a:ext uri="{9D8B030D-6E8A-4147-A177-3AD203B41FA5}">
                      <a16:colId xmlns:a16="http://schemas.microsoft.com/office/drawing/2014/main" val="3880117809"/>
                    </a:ext>
                  </a:extLst>
                </a:gridCol>
                <a:gridCol w="1922469">
                  <a:extLst>
                    <a:ext uri="{9D8B030D-6E8A-4147-A177-3AD203B41FA5}">
                      <a16:colId xmlns:a16="http://schemas.microsoft.com/office/drawing/2014/main" val="2060766638"/>
                    </a:ext>
                  </a:extLst>
                </a:gridCol>
              </a:tblGrid>
              <a:tr h="310231"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Минимальный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Базовый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Стандартный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Профессиональный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0300383"/>
                  </a:ext>
                </a:extLst>
              </a:tr>
              <a:tr h="310231">
                <a:tc gridSpan="5">
                  <a:txBody>
                    <a:bodyPr/>
                    <a:lstStyle/>
                    <a:p>
                      <a:pPr algn="ctr"/>
                      <a:r>
                        <a:rPr lang="ru-RU" sz="1200" b="1" dirty="0" smtClean="0">
                          <a:latin typeface="+mn-lt"/>
                        </a:rPr>
                        <a:t>Аналитика продвижения</a:t>
                      </a:r>
                      <a:endParaRPr lang="ru-RU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920685"/>
                  </a:ext>
                </a:extLst>
              </a:tr>
              <a:tr h="310231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lang="ru-RU" sz="1000" spc="-5" dirty="0" err="1" smtClean="0">
                          <a:latin typeface="+mn-lt"/>
                          <a:cs typeface="OfficinaSerifBookCTT"/>
                        </a:rPr>
                        <a:t>МультиЧат</a:t>
                      </a:r>
                      <a:r>
                        <a:rPr lang="ru-RU" sz="1000" spc="-5" dirty="0" smtClean="0">
                          <a:latin typeface="+mn-lt"/>
                          <a:cs typeface="OfficinaSerifBookCTT"/>
                        </a:rPr>
                        <a:t> пакет </a:t>
                      </a:r>
                      <a:r>
                        <a:rPr lang="en-US" sz="1000" spc="-5" dirty="0" smtClean="0">
                          <a:latin typeface="+mn-lt"/>
                          <a:cs typeface="OfficinaSerifBookCTT"/>
                        </a:rPr>
                        <a:t>S</a:t>
                      </a:r>
                      <a:r>
                        <a:rPr lang="en-US" sz="1000" spc="0" baseline="0" dirty="0">
                          <a:latin typeface="+mn-lt"/>
                          <a:cs typeface="OfficinaSerifBookCTT"/>
                        </a:rPr>
                        <a:t> </a:t>
                      </a:r>
                      <a:r>
                        <a:rPr lang="en-US" sz="1000" spc="0" baseline="0" dirty="0" smtClean="0">
                          <a:latin typeface="+mn-lt"/>
                          <a:cs typeface="OfficinaSerifBookCTT"/>
                        </a:rPr>
                        <a:t>(2</a:t>
                      </a:r>
                      <a:r>
                        <a:rPr lang="ru-RU" sz="1000" spc="0" baseline="0" dirty="0" smtClean="0">
                          <a:latin typeface="+mn-lt"/>
                          <a:cs typeface="OfficinaSerifBookCTT"/>
                        </a:rPr>
                        <a:t> </a:t>
                      </a:r>
                      <a:r>
                        <a:rPr lang="en-US" sz="1000" spc="0" baseline="0" dirty="0" smtClean="0">
                          <a:latin typeface="+mn-lt"/>
                          <a:cs typeface="OfficinaSerifBookCTT"/>
                        </a:rPr>
                        <a:t>000 </a:t>
                      </a:r>
                      <a:r>
                        <a:rPr lang="ru-RU" sz="1000" spc="0" baseline="0" dirty="0" smtClean="0">
                          <a:latin typeface="+mn-lt"/>
                          <a:cs typeface="OfficinaSerifBookCTT"/>
                        </a:rPr>
                        <a:t>посетителей)</a:t>
                      </a:r>
                      <a:endParaRPr lang="en-US" sz="1000" spc="-5" dirty="0" smtClean="0">
                        <a:latin typeface="+mn-lt"/>
                        <a:cs typeface="OfficinaSerifBookCTT"/>
                      </a:endParaRPr>
                    </a:p>
                  </a:txBody>
                  <a:tcPr marL="0" marR="0" marT="2794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10</a:t>
                      </a: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10</a:t>
                      </a: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10</a:t>
                      </a: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10</a:t>
                      </a: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8974741"/>
                  </a:ext>
                </a:extLst>
              </a:tr>
              <a:tr h="310231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lang="ru-RU" sz="1000" spc="-5" dirty="0" err="1" smtClean="0">
                          <a:latin typeface="+mn-lt"/>
                          <a:cs typeface="OfficinaSerifBookCTT"/>
                        </a:rPr>
                        <a:t>МультиЧат</a:t>
                      </a:r>
                      <a:r>
                        <a:rPr lang="ru-RU" sz="1000" spc="-5" dirty="0" smtClean="0">
                          <a:latin typeface="+mn-lt"/>
                          <a:cs typeface="OfficinaSerifBookCTT"/>
                        </a:rPr>
                        <a:t> пакет М</a:t>
                      </a:r>
                      <a:r>
                        <a:rPr lang="en-US" sz="1000" spc="0" baseline="0" dirty="0" smtClean="0">
                          <a:latin typeface="+mn-lt"/>
                          <a:cs typeface="OfficinaSerifBookCTT"/>
                        </a:rPr>
                        <a:t> (</a:t>
                      </a:r>
                      <a:r>
                        <a:rPr lang="ru-RU" sz="1000" spc="0" baseline="0" dirty="0" smtClean="0">
                          <a:latin typeface="+mn-lt"/>
                          <a:cs typeface="OfficinaSerifBookCTT"/>
                        </a:rPr>
                        <a:t>10 </a:t>
                      </a:r>
                      <a:r>
                        <a:rPr lang="en-US" sz="1000" spc="0" baseline="0" dirty="0" smtClean="0">
                          <a:latin typeface="+mn-lt"/>
                          <a:cs typeface="OfficinaSerifBookCTT"/>
                        </a:rPr>
                        <a:t>000 </a:t>
                      </a:r>
                      <a:r>
                        <a:rPr lang="ru-RU" sz="1000" spc="0" baseline="0" dirty="0" smtClean="0">
                          <a:latin typeface="+mn-lt"/>
                          <a:cs typeface="OfficinaSerifBookCTT"/>
                        </a:rPr>
                        <a:t>посетителей)</a:t>
                      </a:r>
                      <a:endParaRPr lang="en-US" sz="1000" spc="-5" dirty="0" smtClean="0">
                        <a:latin typeface="+mn-lt"/>
                        <a:cs typeface="OfficinaSerifBookCTT"/>
                      </a:endParaRPr>
                    </a:p>
                  </a:txBody>
                  <a:tcPr marL="0" marR="0" marT="292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2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0</a:t>
                      </a: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2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</a:t>
                      </a: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2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</a:t>
                      </a: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2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</a:t>
                      </a: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3127002"/>
                  </a:ext>
                </a:extLst>
              </a:tr>
              <a:tr h="310231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lang="ru-RU" sz="1000" spc="-5" dirty="0" err="1" smtClean="0">
                          <a:latin typeface="+mn-lt"/>
                          <a:cs typeface="OfficinaSerifBookCTT"/>
                        </a:rPr>
                        <a:t>МультиЧат</a:t>
                      </a:r>
                      <a:r>
                        <a:rPr lang="ru-RU" sz="1000" spc="-5" dirty="0" smtClean="0">
                          <a:latin typeface="+mn-lt"/>
                          <a:cs typeface="OfficinaSerifBookCTT"/>
                        </a:rPr>
                        <a:t> пакет </a:t>
                      </a:r>
                      <a:r>
                        <a:rPr lang="en-US" sz="1000" spc="-5" dirty="0" smtClean="0">
                          <a:latin typeface="+mn-lt"/>
                          <a:cs typeface="OfficinaSerifBookCTT"/>
                        </a:rPr>
                        <a:t>L</a:t>
                      </a:r>
                      <a:r>
                        <a:rPr lang="en-US" sz="1000" spc="0" baseline="0" dirty="0" smtClean="0">
                          <a:latin typeface="+mn-lt"/>
                          <a:cs typeface="OfficinaSerifBookCTT"/>
                        </a:rPr>
                        <a:t> (30 000 </a:t>
                      </a:r>
                      <a:r>
                        <a:rPr lang="ru-RU" sz="1000" spc="0" baseline="0" dirty="0" smtClean="0">
                          <a:latin typeface="+mn-lt"/>
                          <a:cs typeface="OfficinaSerifBookCTT"/>
                        </a:rPr>
                        <a:t>посетителей)</a:t>
                      </a:r>
                      <a:endParaRPr lang="en-US" sz="1000" spc="-5" dirty="0" smtClean="0">
                        <a:latin typeface="+mn-lt"/>
                        <a:cs typeface="OfficinaSerifBookCTT"/>
                      </a:endParaRPr>
                    </a:p>
                  </a:txBody>
                  <a:tcPr marL="0" marR="0" marT="292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5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0</a:t>
                      </a: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5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</a:t>
                      </a:r>
                      <a:r>
                        <a:rPr kumimoji="0" lang="en-US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 ₽/мес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5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</a:t>
                      </a:r>
                      <a:r>
                        <a:rPr kumimoji="0" lang="en-US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 ₽/мес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5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</a:t>
                      </a: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960877"/>
                  </a:ext>
                </a:extLst>
              </a:tr>
              <a:tr h="310231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lang="ru-RU" sz="1000" spc="-5" dirty="0" err="1" smtClean="0">
                          <a:latin typeface="+mn-lt"/>
                          <a:cs typeface="OfficinaSerifBookCTT"/>
                        </a:rPr>
                        <a:t>МультиЧат</a:t>
                      </a:r>
                      <a:r>
                        <a:rPr lang="ru-RU" sz="1000" spc="-5" dirty="0" smtClean="0">
                          <a:latin typeface="+mn-lt"/>
                          <a:cs typeface="OfficinaSerifBookCTT"/>
                        </a:rPr>
                        <a:t> пакет </a:t>
                      </a:r>
                      <a:r>
                        <a:rPr lang="en-US" sz="1000" spc="-5" dirty="0" smtClean="0">
                          <a:latin typeface="+mn-lt"/>
                          <a:cs typeface="OfficinaSerifBookCTT"/>
                        </a:rPr>
                        <a:t>XL</a:t>
                      </a:r>
                      <a:r>
                        <a:rPr lang="en-US" sz="1000" spc="0" baseline="0" dirty="0" smtClean="0">
                          <a:latin typeface="+mn-lt"/>
                          <a:cs typeface="OfficinaSerifBookCTT"/>
                        </a:rPr>
                        <a:t> (70 000 </a:t>
                      </a:r>
                      <a:r>
                        <a:rPr lang="ru-RU" sz="1000" spc="0" baseline="0" dirty="0" smtClean="0">
                          <a:latin typeface="+mn-lt"/>
                          <a:cs typeface="OfficinaSerifBookCTT"/>
                        </a:rPr>
                        <a:t>посетителей)</a:t>
                      </a:r>
                      <a:endParaRPr lang="en-US" sz="1000" spc="-5" dirty="0" smtClean="0">
                        <a:latin typeface="+mn-lt"/>
                        <a:cs typeface="OfficinaSerifBookCTT"/>
                      </a:endParaRPr>
                    </a:p>
                  </a:txBody>
                  <a:tcPr marL="0" marR="0" marT="2920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7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0</a:t>
                      </a: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7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</a:t>
                      </a:r>
                      <a:r>
                        <a:rPr kumimoji="0" lang="en-US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 ₽/мес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7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</a:t>
                      </a:r>
                      <a:r>
                        <a:rPr kumimoji="0" lang="en-US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 ₽/мес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7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</a:t>
                      </a: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6379217"/>
                  </a:ext>
                </a:extLst>
              </a:tr>
              <a:tr h="310231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lang="ru-RU" sz="1000" spc="-5" dirty="0" err="1" smtClean="0">
                          <a:latin typeface="+mn-lt"/>
                          <a:cs typeface="OfficinaSerifBookCTT"/>
                        </a:rPr>
                        <a:t>МультиЧат</a:t>
                      </a:r>
                      <a:r>
                        <a:rPr lang="ru-RU" sz="1000" spc="-5" dirty="0" smtClean="0">
                          <a:latin typeface="+mn-lt"/>
                          <a:cs typeface="OfficinaSerifBookCTT"/>
                        </a:rPr>
                        <a:t> пакет </a:t>
                      </a:r>
                      <a:r>
                        <a:rPr lang="en-US" sz="1000" spc="-5" dirty="0" smtClean="0">
                          <a:latin typeface="+mn-lt"/>
                          <a:cs typeface="OfficinaSerifBookCTT"/>
                        </a:rPr>
                        <a:t>2XL</a:t>
                      </a:r>
                      <a:r>
                        <a:rPr lang="en-US" sz="1000" spc="0" baseline="0" dirty="0" smtClean="0">
                          <a:latin typeface="+mn-lt"/>
                          <a:cs typeface="OfficinaSerifBookCTT"/>
                        </a:rPr>
                        <a:t> (120 000 </a:t>
                      </a:r>
                      <a:r>
                        <a:rPr lang="ru-RU" sz="1000" spc="0" baseline="0" dirty="0" smtClean="0">
                          <a:latin typeface="+mn-lt"/>
                          <a:cs typeface="OfficinaSerifBookCTT"/>
                        </a:rPr>
                        <a:t>посетителей)</a:t>
                      </a:r>
                      <a:endParaRPr lang="en-US" sz="1000" spc="-5" dirty="0" smtClean="0">
                        <a:latin typeface="+mn-lt"/>
                        <a:cs typeface="OfficinaSerifBookCTT"/>
                      </a:endParaRPr>
                    </a:p>
                  </a:txBody>
                  <a:tcPr marL="0" marR="0" marT="3301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13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0</a:t>
                      </a: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13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</a:t>
                      </a:r>
                      <a:r>
                        <a:rPr kumimoji="0" lang="en-US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 ₽/мес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13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</a:t>
                      </a:r>
                      <a:r>
                        <a:rPr kumimoji="0" lang="en-US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 ₽/мес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13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</a:t>
                      </a: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6481846"/>
                  </a:ext>
                </a:extLst>
              </a:tr>
              <a:tr h="310231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lang="ru-RU" sz="1000" spc="-5" dirty="0" err="1" smtClean="0">
                          <a:latin typeface="+mn-lt"/>
                          <a:cs typeface="OfficinaSerifBookCTT"/>
                        </a:rPr>
                        <a:t>МультиЧат</a:t>
                      </a:r>
                      <a:r>
                        <a:rPr lang="ru-RU" sz="1000" spc="-5" dirty="0" smtClean="0">
                          <a:latin typeface="+mn-lt"/>
                          <a:cs typeface="OfficinaSerifBookCTT"/>
                        </a:rPr>
                        <a:t> пакет </a:t>
                      </a:r>
                      <a:r>
                        <a:rPr lang="en-US" sz="1000" spc="-5" dirty="0" smtClean="0">
                          <a:latin typeface="+mn-lt"/>
                          <a:cs typeface="OfficinaSerifBookCTT"/>
                        </a:rPr>
                        <a:t>3XL</a:t>
                      </a:r>
                      <a:r>
                        <a:rPr lang="en-US" sz="1000" spc="0" baseline="0" dirty="0" smtClean="0">
                          <a:latin typeface="+mn-lt"/>
                          <a:cs typeface="OfficinaSerifBookCTT"/>
                        </a:rPr>
                        <a:t> (300 000 </a:t>
                      </a:r>
                      <a:r>
                        <a:rPr lang="ru-RU" sz="1000" spc="0" baseline="0" dirty="0" smtClean="0">
                          <a:latin typeface="+mn-lt"/>
                          <a:cs typeface="OfficinaSerifBookCTT"/>
                        </a:rPr>
                        <a:t>посетителей)</a:t>
                      </a:r>
                      <a:endParaRPr lang="en-US" sz="1000" spc="-5" dirty="0" smtClean="0">
                        <a:latin typeface="+mn-lt"/>
                        <a:cs typeface="OfficinaSerifBookCTT"/>
                      </a:endParaRPr>
                    </a:p>
                  </a:txBody>
                  <a:tcPr marL="0" marR="0" marT="330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20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0</a:t>
                      </a: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20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</a:t>
                      </a:r>
                      <a:r>
                        <a:rPr kumimoji="0" lang="en-US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 ₽/мес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20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</a:t>
                      </a:r>
                      <a:r>
                        <a:rPr kumimoji="0" lang="en-US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 ₽/мес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20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</a:t>
                      </a: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1583018"/>
                  </a:ext>
                </a:extLst>
              </a:tr>
              <a:tr h="334409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ru-RU" sz="1000" dirty="0" err="1" smtClean="0">
                          <a:latin typeface="+mn-lt"/>
                          <a:cs typeface="OfficinaSerifBookCTT"/>
                        </a:rPr>
                        <a:t>МультиЧат</a:t>
                      </a:r>
                      <a:r>
                        <a:rPr lang="ru-RU" sz="1000" baseline="0" dirty="0" smtClean="0">
                          <a:latin typeface="+mn-lt"/>
                          <a:cs typeface="OfficinaSerifBookCTT"/>
                        </a:rPr>
                        <a:t> Обратный звонок</a:t>
                      </a:r>
                      <a:endParaRPr sz="1000" dirty="0">
                        <a:latin typeface="+mn-lt"/>
                        <a:cs typeface="OfficinaSerifBookCTT"/>
                      </a:endParaRPr>
                    </a:p>
                  </a:txBody>
                  <a:tcPr marL="0" marR="0" marT="330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10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10 ₽/мес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10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10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775287"/>
                  </a:ext>
                </a:extLst>
              </a:tr>
              <a:tr h="334409"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lang="ru-RU" sz="1000" dirty="0" err="1" smtClean="0">
                          <a:latin typeface="+mn-lt"/>
                          <a:cs typeface="OfficinaSerifBookCTT"/>
                        </a:rPr>
                        <a:t>МультиЧат</a:t>
                      </a:r>
                      <a:r>
                        <a:rPr lang="ru-RU" sz="1000" dirty="0" smtClean="0">
                          <a:latin typeface="+mn-lt"/>
                          <a:cs typeface="OfficinaSerifBookCTT"/>
                        </a:rPr>
                        <a:t> интеграция</a:t>
                      </a:r>
                      <a:r>
                        <a:rPr lang="ru-RU" sz="1000" baseline="0" dirty="0" smtClean="0">
                          <a:latin typeface="+mn-lt"/>
                          <a:cs typeface="OfficinaSerifBookCTT"/>
                        </a:rPr>
                        <a:t> с </a:t>
                      </a:r>
                      <a:r>
                        <a:rPr lang="en-US" sz="1000" baseline="0" dirty="0" smtClean="0">
                          <a:latin typeface="+mn-lt"/>
                          <a:cs typeface="OfficinaSerifBookCTT"/>
                        </a:rPr>
                        <a:t>WhatsApp</a:t>
                      </a:r>
                      <a:endParaRPr sz="1000" dirty="0">
                        <a:latin typeface="+mn-lt"/>
                        <a:cs typeface="OfficinaSerifBookCTT"/>
                      </a:endParaRPr>
                    </a:p>
                  </a:txBody>
                  <a:tcPr marL="0" marR="0" marT="330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10</a:t>
                      </a: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10</a:t>
                      </a: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10</a:t>
                      </a: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10</a:t>
                      </a:r>
                      <a:r>
                        <a:rPr kumimoji="0" lang="en-US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00</a:t>
                      </a:r>
                      <a:r>
                        <a:rPr kumimoji="0" lang="ru-RU" sz="10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 ₽/</a:t>
                      </a:r>
                      <a:r>
                        <a:rPr kumimoji="0" lang="ru-RU" sz="1000" b="0" i="0" u="none" strike="noStrike" kern="1200" cap="none" spc="-5" normalizeH="0" baseline="0" noProof="0" dirty="0" err="1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Beeline Sans"/>
                          <a:ea typeface="+mn-ea"/>
                          <a:cs typeface="OfficinaSerifBookCTT"/>
                        </a:rPr>
                        <a:t>мес</a:t>
                      </a:r>
                      <a:endParaRPr kumimoji="0" lang="ru-RU" sz="1000" b="0" i="0" u="none" strike="noStrike" kern="1200" cap="none" spc="-5" normalizeH="0" baseline="0" noProof="0" dirty="0" smtClean="0">
                        <a:ln>
                          <a:noFill/>
                        </a:ln>
                        <a:solidFill>
                          <a:srgbClr val="1E1E1E"/>
                        </a:solidFill>
                        <a:effectLst/>
                        <a:uLnTx/>
                        <a:uFillTx/>
                        <a:latin typeface="Beeline Sans"/>
                        <a:ea typeface="+mn-ea"/>
                        <a:cs typeface="OfficinaSerifBookCT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7135887"/>
                  </a:ext>
                </a:extLst>
              </a:tr>
            </a:tbl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316012" y="4209121"/>
            <a:ext cx="10845701" cy="13696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40665" marR="105410" indent="-228600">
              <a:lnSpc>
                <a:spcPct val="114999"/>
              </a:lnSpc>
              <a:spcBef>
                <a:spcPts val="100"/>
              </a:spcBef>
              <a:buAutoNum type="arabicPeriod"/>
            </a:pPr>
            <a:r>
              <a:rPr lang="ru-RU" sz="1000" spc="-5" dirty="0" smtClean="0">
                <a:cs typeface="OfficinaSerifBookCTT"/>
              </a:rPr>
              <a:t>Услуга </a:t>
            </a:r>
            <a:r>
              <a:rPr lang="ru-RU" sz="1000" spc="-5" dirty="0">
                <a:cs typeface="OfficinaSerifBookCTT"/>
              </a:rPr>
              <a:t>тарифицируется как единовременный платеж за пользование услугой в отчетном периоде использования </a:t>
            </a:r>
            <a:r>
              <a:rPr lang="ru-RU" sz="1000" spc="-5" dirty="0" err="1" smtClean="0">
                <a:cs typeface="OfficinaSerifBookCTT"/>
              </a:rPr>
              <a:t>МультиЧата</a:t>
            </a:r>
            <a:r>
              <a:rPr lang="ru-RU" sz="1000" spc="-5" dirty="0" smtClean="0">
                <a:cs typeface="OfficinaSerifBookCTT"/>
              </a:rPr>
              <a:t> вне зависимости от </a:t>
            </a:r>
            <a:r>
              <a:rPr lang="ru-RU" sz="1000" spc="-5" dirty="0">
                <a:cs typeface="OfficinaSerifBookCTT"/>
              </a:rPr>
              <a:t>фактического времени использования</a:t>
            </a:r>
            <a:r>
              <a:rPr lang="ru-RU" sz="1000" spc="-5" dirty="0" smtClean="0">
                <a:cs typeface="OfficinaSerifBookCTT"/>
              </a:rPr>
              <a:t>.</a:t>
            </a:r>
            <a:endParaRPr lang="en-US" sz="1000" spc="-5" dirty="0" smtClean="0">
              <a:cs typeface="OfficinaSerifBookCTT"/>
            </a:endParaRPr>
          </a:p>
          <a:p>
            <a:pPr marL="240665" marR="105410" indent="-228600">
              <a:lnSpc>
                <a:spcPct val="114999"/>
              </a:lnSpc>
              <a:spcBef>
                <a:spcPts val="100"/>
              </a:spcBef>
              <a:buAutoNum type="arabicPeriod"/>
            </a:pPr>
            <a:r>
              <a:rPr lang="ru-RU" sz="1000" dirty="0" smtClean="0">
                <a:cs typeface="OfficinaSerifBookCTT"/>
              </a:rPr>
              <a:t>Возможно подключение на 6 или 12 месяцев с выставлением счета за полный срок пользования услугой вне зависимости от фактического времени использования</a:t>
            </a:r>
            <a:endParaRPr lang="en-US" sz="1000" dirty="0" smtClean="0">
              <a:cs typeface="OfficinaSerifBookCTT"/>
            </a:endParaRPr>
          </a:p>
          <a:p>
            <a:pPr marL="240665" marR="105410" indent="-228600">
              <a:lnSpc>
                <a:spcPct val="114999"/>
              </a:lnSpc>
              <a:spcBef>
                <a:spcPts val="100"/>
              </a:spcBef>
              <a:buAutoNum type="arabicPeriod"/>
            </a:pPr>
            <a:r>
              <a:rPr lang="ru-RU" sz="1000" spc="-10" dirty="0" smtClean="0">
                <a:cs typeface="OfficinaSerifBookCTT"/>
              </a:rPr>
              <a:t>Вариант предоставления сервиса устанавливается в зависимости от количества </a:t>
            </a:r>
            <a:r>
              <a:rPr lang="ru-RU" sz="1000" spc="-10" dirty="0">
                <a:cs typeface="OfficinaSerifBookCTT"/>
              </a:rPr>
              <a:t>повторных и уникальных посетителей сайта </a:t>
            </a:r>
            <a:r>
              <a:rPr lang="ru-RU" sz="1000" spc="-10" dirty="0" smtClean="0">
                <a:cs typeface="OfficinaSerifBookCTT"/>
              </a:rPr>
              <a:t>клиента за </a:t>
            </a:r>
            <a:r>
              <a:rPr lang="ru-RU" sz="1000" spc="-10" dirty="0">
                <a:cs typeface="OfficinaSerifBookCTT"/>
              </a:rPr>
              <a:t>период </a:t>
            </a:r>
            <a:r>
              <a:rPr lang="ru-RU" sz="1000" spc="-10" dirty="0" smtClean="0">
                <a:cs typeface="OfficinaSerifBookCTT"/>
              </a:rPr>
              <a:t>30 календарных дней. Выбранный пакет может быть изменен в отчетном периоде в большую сторону</a:t>
            </a:r>
            <a:r>
              <a:rPr lang="ru-RU" sz="1000" spc="-10" dirty="0">
                <a:cs typeface="OfficinaSerifBookCTT"/>
              </a:rPr>
              <a:t>, </a:t>
            </a:r>
            <a:r>
              <a:rPr lang="ru-RU" sz="1000" spc="-10" dirty="0" smtClean="0">
                <a:cs typeface="OfficinaSerifBookCTT"/>
              </a:rPr>
              <a:t>если </a:t>
            </a:r>
            <a:r>
              <a:rPr lang="ru-RU" sz="1000" spc="-10" dirty="0">
                <a:cs typeface="OfficinaSerifBookCTT"/>
              </a:rPr>
              <a:t>число повторных и уникальных посетителей превысило число визитов, предусмотренных в рамках соответствующего </a:t>
            </a:r>
            <a:r>
              <a:rPr lang="ru-RU" sz="1000" spc="-10" dirty="0" smtClean="0">
                <a:cs typeface="OfficinaSerifBookCTT"/>
              </a:rPr>
              <a:t>варианта предоставления сервиса. Разница в стоимости для оплаты будет включена в счёт за услуги связи текущего месяца</a:t>
            </a:r>
          </a:p>
          <a:p>
            <a:pPr marL="240665" marR="105410" indent="-228600">
              <a:lnSpc>
                <a:spcPct val="114999"/>
              </a:lnSpc>
              <a:spcBef>
                <a:spcPts val="100"/>
              </a:spcBef>
              <a:buAutoNum type="arabicPeriod"/>
            </a:pPr>
            <a:r>
              <a:rPr lang="ru-RU" sz="1000" dirty="0">
                <a:cs typeface="OfficinaSerifBookCTT"/>
              </a:rPr>
              <a:t>билайн не производит анализ рекламных материалов и звонков самостоятельно, обработка данных осуществляется с использованием программного обеспечения при наличии у клиента правовых оснований на соответствующую обработку</a:t>
            </a:r>
            <a:r>
              <a:rPr lang="ru-RU" sz="1000" dirty="0" smtClean="0">
                <a:cs typeface="OfficinaSerifBookCT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870237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60" name="Слайд think-cell" r:id="rId6" imgW="463" imgH="464" progId="TCLayout.ActiveDocument.1">
                  <p:embed/>
                </p:oleObj>
              </mc:Choice>
              <mc:Fallback>
                <p:oleObj name="Слайд think-cell" r:id="rId6" imgW="463" imgH="464" progId="TCLayout.ActiveDocument.1">
                  <p:embed/>
                  <p:pic>
                    <p:nvPicPr>
                      <p:cNvPr id="5" name="Объект 4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Прямоугольник 5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ru-RU" sz="3100" dirty="0" err="1" smtClean="0">
              <a:latin typeface="Beeline Sans" panose="020B0500040202020204" pitchFamily="34" charset="-52"/>
              <a:ea typeface="Arial" charset="0"/>
              <a:cs typeface="Arial" charset="0"/>
              <a:sym typeface="Beeline Sans" panose="020B0500040202020204" pitchFamily="34" charset="-52"/>
            </a:endParaRPr>
          </a:p>
        </p:txBody>
      </p:sp>
      <p:graphicFrame>
        <p:nvGraphicFramePr>
          <p:cNvPr id="34" name="Таблица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473128"/>
              </p:ext>
            </p:extLst>
          </p:nvPr>
        </p:nvGraphicFramePr>
        <p:xfrm>
          <a:off x="549207" y="835834"/>
          <a:ext cx="10403714" cy="250716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5086279">
                  <a:extLst>
                    <a:ext uri="{9D8B030D-6E8A-4147-A177-3AD203B41FA5}">
                      <a16:colId xmlns:a16="http://schemas.microsoft.com/office/drawing/2014/main" val="444115573"/>
                    </a:ext>
                  </a:extLst>
                </a:gridCol>
                <a:gridCol w="5317435">
                  <a:extLst>
                    <a:ext uri="{9D8B030D-6E8A-4147-A177-3AD203B41FA5}">
                      <a16:colId xmlns:a16="http://schemas.microsoft.com/office/drawing/2014/main" val="3793490007"/>
                    </a:ext>
                  </a:extLst>
                </a:gridCol>
              </a:tblGrid>
              <a:tr h="313395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Описание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Стоимость</a:t>
                      </a:r>
                      <a:endParaRPr lang="ru-RU" sz="1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3000681"/>
                  </a:ext>
                </a:extLst>
              </a:tr>
              <a:tr h="313395"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2070735" algn="l"/>
                          <a:tab pos="2250440" algn="l"/>
                          <a:tab pos="5220970" algn="l"/>
                        </a:tabLst>
                      </a:pPr>
                      <a:r>
                        <a:rPr lang="en-US" sz="12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SMS</a:t>
                      </a:r>
                      <a:r>
                        <a:rPr lang="ru-RU" sz="12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-визитка</a:t>
                      </a:r>
                      <a:endParaRPr lang="ru-RU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7429912"/>
                  </a:ext>
                </a:extLst>
              </a:tr>
              <a:tr h="313395">
                <a:tc>
                  <a:txBody>
                    <a:bodyPr/>
                    <a:lstStyle/>
                    <a:p>
                      <a:pPr hangingPunct="0"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2070735" algn="l"/>
                          <a:tab pos="2250440" algn="l"/>
                          <a:tab pos="5220970" algn="l"/>
                        </a:tabLst>
                      </a:pPr>
                      <a:r>
                        <a:rPr lang="ru-RU" sz="90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Подключение Услуги</a:t>
                      </a:r>
                      <a:endParaRPr lang="ru-RU" sz="1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latin typeface="+mn-lt"/>
                        </a:rPr>
                        <a:t>0 </a:t>
                      </a:r>
                      <a:r>
                        <a:rPr kumimoji="0" lang="ru-RU" sz="12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</a:t>
                      </a:r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4145250"/>
                  </a:ext>
                </a:extLst>
              </a:tr>
              <a:tr h="313395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Пакет из 100 сообщений на номера абонентов российских операторов подвижной связи</a:t>
                      </a:r>
                      <a:r>
                        <a:rPr lang="ru-RU" sz="900" baseline="3000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1,2</a:t>
                      </a:r>
                      <a:endParaRPr lang="ru-RU" sz="1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latin typeface="+mn-lt"/>
                        </a:rPr>
                        <a:t>355,83 </a:t>
                      </a:r>
                      <a:r>
                        <a:rPr kumimoji="0" lang="ru-RU" sz="12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</a:t>
                      </a:r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6467854"/>
                  </a:ext>
                </a:extLst>
              </a:tr>
              <a:tr h="313395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Пакет из 500 сообщений на номера абонентов российских операторов подвижной связи</a:t>
                      </a:r>
                      <a:r>
                        <a:rPr lang="ru-RU" sz="900" baseline="3000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1,2</a:t>
                      </a:r>
                      <a:endParaRPr lang="ru-RU" sz="1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latin typeface="+mn-lt"/>
                        </a:rPr>
                        <a:t>1</a:t>
                      </a:r>
                      <a:r>
                        <a:rPr lang="ru-RU" sz="1200" baseline="0" dirty="0" smtClean="0">
                          <a:latin typeface="+mn-lt"/>
                        </a:rPr>
                        <a:t> 525,00 </a:t>
                      </a:r>
                      <a:r>
                        <a:rPr kumimoji="0" lang="ru-RU" sz="12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</a:t>
                      </a:r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3260312"/>
                  </a:ext>
                </a:extLst>
              </a:tr>
              <a:tr h="313395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Пакет из 1000 сообщений на номера абонентов российских операторов подвижной связи</a:t>
                      </a:r>
                      <a:r>
                        <a:rPr lang="ru-RU" sz="900" baseline="3000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1,2</a:t>
                      </a:r>
                      <a:endParaRPr lang="ru-RU" sz="1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latin typeface="+mn-lt"/>
                        </a:rPr>
                        <a:t>2 948,33 </a:t>
                      </a:r>
                      <a:r>
                        <a:rPr kumimoji="0" lang="ru-RU" sz="12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</a:t>
                      </a:r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7152902"/>
                  </a:ext>
                </a:extLst>
              </a:tr>
              <a:tr h="313395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Пакет из 2000 сообщений на номера абонентов российских операторов подвижной связи</a:t>
                      </a:r>
                      <a:r>
                        <a:rPr lang="ru-RU" sz="900" baseline="3000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1,2</a:t>
                      </a:r>
                      <a:endParaRPr lang="ru-RU" sz="1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latin typeface="+mn-lt"/>
                        </a:rPr>
                        <a:t>5 795,00 </a:t>
                      </a:r>
                      <a:r>
                        <a:rPr kumimoji="0" lang="ru-RU" sz="12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</a:t>
                      </a:r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2891754"/>
                  </a:ext>
                </a:extLst>
              </a:tr>
              <a:tr h="313395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ru-RU" sz="1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Пакет из 5000 сообщений на номера абонентов российских операторов подвижной связи</a:t>
                      </a:r>
                      <a:r>
                        <a:rPr lang="ru-RU" sz="900" baseline="30000" dirty="0">
                          <a:effectLst/>
                          <a:latin typeface="+mn-lt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1,2 </a:t>
                      </a:r>
                      <a:endParaRPr lang="ru-RU" sz="1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latin typeface="+mn-lt"/>
                        </a:rPr>
                        <a:t>13 725,00 </a:t>
                      </a:r>
                      <a:r>
                        <a:rPr kumimoji="0" lang="ru-RU" sz="12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</a:t>
                      </a:r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3849839"/>
                  </a:ext>
                </a:extLst>
              </a:tr>
            </a:tbl>
          </a:graphicData>
        </a:graphic>
      </p:graphicFrame>
      <p:sp>
        <p:nvSpPr>
          <p:cNvPr id="16" name="Прямоугольник 15"/>
          <p:cNvSpPr/>
          <p:nvPr/>
        </p:nvSpPr>
        <p:spPr>
          <a:xfrm>
            <a:off x="478971" y="3551188"/>
            <a:ext cx="1040371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hangingPunct="0">
              <a:spcAft>
                <a:spcPts val="0"/>
              </a:spcAft>
            </a:pPr>
            <a:r>
              <a:rPr lang="ru-RU" sz="1000" dirty="0">
                <a:ea typeface="Times New Roman" panose="02020603050405020304" pitchFamily="18" charset="0"/>
                <a:cs typeface="Arial" panose="020B0604020202020204" pitchFamily="34" charset="0"/>
              </a:rPr>
              <a:t>1. </a:t>
            </a:r>
            <a:r>
              <a:rPr lang="ru-RU" sz="1000" dirty="0" smtClean="0">
                <a:ea typeface="Times New Roman" panose="02020603050405020304" pitchFamily="18" charset="0"/>
                <a:cs typeface="Arial" panose="020B0604020202020204" pitchFamily="34" charset="0"/>
              </a:rPr>
              <a:t>Взимается </a:t>
            </a:r>
            <a:r>
              <a:rPr lang="ru-RU" sz="1000" dirty="0">
                <a:ea typeface="Times New Roman" panose="02020603050405020304" pitchFamily="18" charset="0"/>
                <a:cs typeface="Arial" panose="020B0604020202020204" pitchFamily="34" charset="0"/>
              </a:rPr>
              <a:t>единовременно при подключении пакета. Срок действия пакета </a:t>
            </a:r>
            <a:r>
              <a:rPr lang="en-US" sz="1000" dirty="0">
                <a:ea typeface="Times New Roman" panose="02020603050405020304" pitchFamily="18" charset="0"/>
                <a:cs typeface="Arial" panose="020B0604020202020204" pitchFamily="34" charset="0"/>
              </a:rPr>
              <a:t>SMS</a:t>
            </a:r>
            <a:r>
              <a:rPr lang="ru-RU" sz="1000" dirty="0">
                <a:ea typeface="Times New Roman" panose="02020603050405020304" pitchFamily="18" charset="0"/>
                <a:cs typeface="Arial" panose="020B0604020202020204" pitchFamily="34" charset="0"/>
              </a:rPr>
              <a:t>-сообщений не ограничен и действует до полного исчерпания или до момента отключения услуги. Возможно повторное подключение пакета </a:t>
            </a:r>
            <a:r>
              <a:rPr lang="en-US" sz="1000" dirty="0">
                <a:ea typeface="Times New Roman" panose="02020603050405020304" pitchFamily="18" charset="0"/>
                <a:cs typeface="Arial" panose="020B0604020202020204" pitchFamily="34" charset="0"/>
              </a:rPr>
              <a:t>SMS</a:t>
            </a:r>
            <a:r>
              <a:rPr lang="ru-RU" sz="1000" dirty="0">
                <a:ea typeface="Times New Roman" panose="02020603050405020304" pitchFamily="18" charset="0"/>
                <a:cs typeface="Arial" panose="020B0604020202020204" pitchFamily="34" charset="0"/>
              </a:rPr>
              <a:t>-сообщений до окончания текущего пакета. Денежные средства за неизрасходованный пакет </a:t>
            </a:r>
            <a:r>
              <a:rPr lang="en-US" sz="1000" dirty="0">
                <a:ea typeface="Times New Roman" panose="02020603050405020304" pitchFamily="18" charset="0"/>
                <a:cs typeface="Arial" panose="020B0604020202020204" pitchFamily="34" charset="0"/>
              </a:rPr>
              <a:t>SMS</a:t>
            </a:r>
            <a:r>
              <a:rPr lang="ru-RU" sz="1000" dirty="0">
                <a:ea typeface="Times New Roman" panose="02020603050405020304" pitchFamily="18" charset="0"/>
                <a:cs typeface="Arial" panose="020B0604020202020204" pitchFamily="34" charset="0"/>
              </a:rPr>
              <a:t>-сообщений не подлежат возврату.</a:t>
            </a:r>
            <a:endParaRPr lang="ru-RU" sz="1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</a:pPr>
            <a:r>
              <a:rPr lang="ru-RU" sz="1000" dirty="0">
                <a:ea typeface="Times New Roman" panose="02020603050405020304" pitchFamily="18" charset="0"/>
                <a:cs typeface="Arial" panose="020B0604020202020204" pitchFamily="34" charset="0"/>
              </a:rPr>
              <a:t>2. </a:t>
            </a:r>
            <a:r>
              <a:rPr lang="ru-RU" sz="1000" dirty="0" smtClean="0">
                <a:ea typeface="Times New Roman" panose="02020603050405020304" pitchFamily="18" charset="0"/>
                <a:cs typeface="Arial" panose="020B0604020202020204" pitchFamily="34" charset="0"/>
              </a:rPr>
              <a:t>При </a:t>
            </a:r>
            <a:r>
              <a:rPr lang="ru-RU" sz="1000" dirty="0">
                <a:ea typeface="Times New Roman" panose="02020603050405020304" pitchFamily="18" charset="0"/>
                <a:cs typeface="Arial" panose="020B0604020202020204" pitchFamily="34" charset="0"/>
              </a:rPr>
              <a:t>использовании кодировки UCS-2 (кириллица) максимальная длина сообщения составляет 70 символов.</a:t>
            </a:r>
            <a:endParaRPr lang="ru-RU" sz="1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</a:pPr>
            <a:r>
              <a:rPr lang="ru-RU" sz="1000" dirty="0">
                <a:ea typeface="Times New Roman" panose="02020603050405020304" pitchFamily="18" charset="0"/>
                <a:cs typeface="Arial" panose="020B0604020202020204" pitchFamily="34" charset="0"/>
              </a:rPr>
              <a:t>При использовании кодировки Latin1 (латиница) максимальная длина сообщения не превышает 160 символов и зависит от используемых в сообщении символов (фактическая длина – от 80 до 160 символов).</a:t>
            </a:r>
            <a:endParaRPr lang="ru-RU" sz="1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</a:pPr>
            <a:r>
              <a:rPr lang="ru-RU" sz="1000" dirty="0">
                <a:ea typeface="Times New Roman" panose="02020603050405020304" pitchFamily="18" charset="0"/>
                <a:cs typeface="Arial" panose="020B0604020202020204" pitchFamily="34" charset="0"/>
              </a:rPr>
              <a:t>Если размер сообщения превышает указанные ограничения, то оно делится в соответствии с допустимым стандартом 3GPP TS 23.038/23.040 количеством символов; при этом часть объема сообщения (140 октетов) отводится на служебную информацию, используемую для корректного отображения сообщения на абонентском устройстве Пользователя (8bit или 16bit CSMS </a:t>
            </a:r>
            <a:r>
              <a:rPr lang="ru-RU" sz="1000" dirty="0" err="1">
                <a:ea typeface="Times New Roman" panose="02020603050405020304" pitchFamily="18" charset="0"/>
                <a:cs typeface="Arial" panose="020B0604020202020204" pitchFamily="34" charset="0"/>
              </a:rPr>
              <a:t>reference</a:t>
            </a:r>
            <a:r>
              <a:rPr lang="ru-RU" sz="1000" dirty="0"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1000" dirty="0" err="1">
                <a:ea typeface="Times New Roman" panose="02020603050405020304" pitchFamily="18" charset="0"/>
                <a:cs typeface="Arial" panose="020B0604020202020204" pitchFamily="34" charset="0"/>
              </a:rPr>
              <a:t>number</a:t>
            </a:r>
            <a:r>
              <a:rPr lang="ru-RU" sz="1000" dirty="0">
                <a:ea typeface="Times New Roman" panose="02020603050405020304" pitchFamily="18" charset="0"/>
                <a:cs typeface="Arial" panose="020B0604020202020204" pitchFamily="34" charset="0"/>
              </a:rPr>
              <a:t> в зависимости от используемого подключения). Полученные в результате такой сегментации сообщения тарифицируются по отдельности.</a:t>
            </a:r>
            <a:endParaRPr lang="ru-RU" sz="1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180340" algn="just" hangingPunct="0">
              <a:spcAft>
                <a:spcPts val="0"/>
              </a:spcAft>
            </a:pPr>
            <a:r>
              <a:rPr lang="ru-RU" sz="1000" dirty="0"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ru-RU" sz="1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</a:pPr>
            <a:r>
              <a:rPr lang="ru-RU" sz="1000" dirty="0">
                <a:ea typeface="Times New Roman" panose="02020603050405020304" pitchFamily="18" charset="0"/>
                <a:cs typeface="Arial" panose="020B0604020202020204" pitchFamily="34" charset="0"/>
              </a:rPr>
              <a:t>Оплата производится в рублях. </a:t>
            </a:r>
            <a:endParaRPr lang="ru-RU" sz="1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</a:pPr>
            <a:r>
              <a:rPr lang="ru-RU" sz="1000" dirty="0">
                <a:ea typeface="Times New Roman" panose="02020603050405020304" pitchFamily="18" charset="0"/>
                <a:cs typeface="Arial" panose="020B0604020202020204" pitchFamily="34" charset="0"/>
              </a:rPr>
              <a:t>Цены указаны в рублях с учетом НДС и сборов и не включают в себя надбавку к тарифам в размере 1,2%.</a:t>
            </a:r>
            <a:endParaRPr lang="ru-RU" sz="1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</a:pPr>
            <a:r>
              <a:rPr lang="ru-RU" sz="1000" dirty="0">
                <a:ea typeface="Times New Roman" panose="02020603050405020304" pitchFamily="18" charset="0"/>
                <a:cs typeface="Arial" panose="020B0604020202020204" pitchFamily="34" charset="0"/>
              </a:rPr>
              <a:t>За оказанные услуги Оператор ежемесячно (по истечении расчетного периода – месяца оказания услуг) выставляет Абоненту счет в соответствии с действующими тарифами Оператора. Счет должен быть оплачен Абонентом в течение 25 дней с момента его выставления, если иной срок не предусмотрен заключенным договором об оказании услуг связи «Билайн» с Абонентом.</a:t>
            </a:r>
            <a:endParaRPr lang="ru-RU" sz="10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424446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2" name="Слайд think-cell" r:id="rId6" imgW="463" imgH="464" progId="TCLayout.ActiveDocument.1">
                  <p:embed/>
                </p:oleObj>
              </mc:Choice>
              <mc:Fallback>
                <p:oleObj name="Слайд think-cell" r:id="rId6" imgW="463" imgH="464" progId="TCLayout.ActiveDocument.1">
                  <p:embed/>
                  <p:pic>
                    <p:nvPicPr>
                      <p:cNvPr id="5" name="Объект 4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Прямоугольник 5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ru-RU" sz="3100" dirty="0" err="1" smtClean="0">
              <a:latin typeface="Beeline Sans" panose="020B0500040202020204" pitchFamily="34" charset="-52"/>
              <a:ea typeface="Arial" charset="0"/>
              <a:cs typeface="Arial" charset="0"/>
              <a:sym typeface="Beeline Sans" panose="020B0500040202020204" pitchFamily="34" charset="-52"/>
            </a:endParaRPr>
          </a:p>
        </p:txBody>
      </p:sp>
      <p:graphicFrame>
        <p:nvGraphicFramePr>
          <p:cNvPr id="34" name="Таблица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7741171"/>
              </p:ext>
            </p:extLst>
          </p:nvPr>
        </p:nvGraphicFramePr>
        <p:xfrm>
          <a:off x="549207" y="893586"/>
          <a:ext cx="10403714" cy="2205749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5086279">
                  <a:extLst>
                    <a:ext uri="{9D8B030D-6E8A-4147-A177-3AD203B41FA5}">
                      <a16:colId xmlns:a16="http://schemas.microsoft.com/office/drawing/2014/main" val="444115573"/>
                    </a:ext>
                  </a:extLst>
                </a:gridCol>
                <a:gridCol w="5317435">
                  <a:extLst>
                    <a:ext uri="{9D8B030D-6E8A-4147-A177-3AD203B41FA5}">
                      <a16:colId xmlns:a16="http://schemas.microsoft.com/office/drawing/2014/main" val="3793490007"/>
                    </a:ext>
                  </a:extLst>
                </a:gridCol>
              </a:tblGrid>
              <a:tr h="247462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Описание</a:t>
                      </a:r>
                      <a:endParaRPr lang="ru-RU" sz="1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Стоимость</a:t>
                      </a:r>
                      <a:endParaRPr lang="ru-RU" sz="1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3000681"/>
                  </a:ext>
                </a:extLst>
              </a:tr>
              <a:tr h="285509"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2070735" algn="l"/>
                          <a:tab pos="2250440" algn="l"/>
                          <a:tab pos="5220970" algn="l"/>
                        </a:tabLst>
                      </a:pPr>
                      <a:r>
                        <a:rPr lang="ru-RU" sz="12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Речевая аналитика - основной пакет</a:t>
                      </a:r>
                      <a:endParaRPr lang="ru-RU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635212"/>
                  </a:ext>
                </a:extLst>
              </a:tr>
              <a:tr h="247462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10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Транскрибация</a:t>
                      </a:r>
                      <a:r>
                        <a:rPr lang="ru-RU" sz="1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и анализ данных - пакет из 500 минут</a:t>
                      </a:r>
                      <a:r>
                        <a:rPr lang="ru-RU" sz="1000" kern="1200" baseline="300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1,2</a:t>
                      </a:r>
                      <a:endParaRPr lang="ru-RU" sz="10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latin typeface="+mn-lt"/>
                        </a:rPr>
                        <a:t>762,50 </a:t>
                      </a:r>
                      <a:r>
                        <a:rPr kumimoji="0" lang="ru-RU" sz="12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</a:t>
                      </a:r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6467854"/>
                  </a:ext>
                </a:extLst>
              </a:tr>
              <a:tr h="247462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10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Транскрибация</a:t>
                      </a:r>
                      <a:r>
                        <a:rPr lang="ru-RU" sz="1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и анализ данных - пакет из 1000 минут</a:t>
                      </a:r>
                      <a:r>
                        <a:rPr lang="ru-RU" sz="1000" kern="1200" baseline="300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1,2</a:t>
                      </a:r>
                      <a:endParaRPr lang="ru-RU" sz="10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latin typeface="+mn-lt"/>
                        </a:rPr>
                        <a:t>1</a:t>
                      </a:r>
                      <a:r>
                        <a:rPr lang="ru-RU" sz="1200" baseline="0" dirty="0" smtClean="0">
                          <a:latin typeface="+mn-lt"/>
                        </a:rPr>
                        <a:t> 423,33 </a:t>
                      </a:r>
                      <a:r>
                        <a:rPr kumimoji="0" lang="ru-RU" sz="12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</a:t>
                      </a:r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3260312"/>
                  </a:ext>
                </a:extLst>
              </a:tr>
              <a:tr h="247462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10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Транскрибация</a:t>
                      </a:r>
                      <a:r>
                        <a:rPr lang="ru-RU" sz="1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и анализ данных - пакет из 2000 минут</a:t>
                      </a:r>
                      <a:r>
                        <a:rPr lang="ru-RU" sz="1000" kern="1200" baseline="300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1,2</a:t>
                      </a:r>
                      <a:endParaRPr lang="ru-RU" sz="10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latin typeface="+mn-lt"/>
                        </a:rPr>
                        <a:t>2 643,33 </a:t>
                      </a:r>
                      <a:r>
                        <a:rPr kumimoji="0" lang="ru-RU" sz="12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</a:t>
                      </a:r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7152902"/>
                  </a:ext>
                </a:extLst>
              </a:tr>
              <a:tr h="247462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10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Транскрибация</a:t>
                      </a:r>
                      <a:r>
                        <a:rPr lang="ru-RU" sz="1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и анализ данных - пакет из 5000 минут</a:t>
                      </a:r>
                      <a:r>
                        <a:rPr lang="ru-RU" sz="1000" kern="1200" baseline="300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1,2</a:t>
                      </a:r>
                      <a:endParaRPr lang="ru-RU" sz="10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latin typeface="+mn-lt"/>
                        </a:rPr>
                        <a:t>6</a:t>
                      </a:r>
                      <a:r>
                        <a:rPr lang="ru-RU" sz="1200" baseline="0" dirty="0" smtClean="0">
                          <a:latin typeface="+mn-lt"/>
                        </a:rPr>
                        <a:t> 354,17</a:t>
                      </a:r>
                      <a:r>
                        <a:rPr lang="ru-RU" sz="1200" dirty="0" smtClean="0">
                          <a:latin typeface="+mn-lt"/>
                        </a:rPr>
                        <a:t> </a:t>
                      </a:r>
                      <a:r>
                        <a:rPr kumimoji="0" lang="ru-RU" sz="12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</a:t>
                      </a:r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2891754"/>
                  </a:ext>
                </a:extLst>
              </a:tr>
              <a:tr h="247462">
                <a:tc>
                  <a:txBody>
                    <a:bodyPr/>
                    <a:lstStyle/>
                    <a:p>
                      <a:pPr hangingPunct="0">
                        <a:spcAft>
                          <a:spcPts val="0"/>
                        </a:spcAft>
                      </a:pPr>
                      <a:r>
                        <a:rPr lang="ru-RU" sz="10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Транскрибация</a:t>
                      </a:r>
                      <a:r>
                        <a:rPr lang="ru-RU" sz="1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и анализ данных - пакет из 10000 минут</a:t>
                      </a:r>
                      <a:r>
                        <a:rPr lang="ru-RU" sz="1000" kern="1200" baseline="300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1,2</a:t>
                      </a:r>
                      <a:endParaRPr lang="ru-RU" sz="10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latin typeface="+mn-lt"/>
                        </a:rPr>
                        <a:t>12 200,00 </a:t>
                      </a:r>
                      <a:r>
                        <a:rPr kumimoji="0" lang="ru-RU" sz="12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</a:t>
                      </a:r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3849839"/>
                  </a:ext>
                </a:extLst>
              </a:tr>
              <a:tr h="24746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Транскрибация</a:t>
                      </a:r>
                      <a:r>
                        <a:rPr lang="ru-RU" sz="1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и анализ данных - пакет из 20000 минут</a:t>
                      </a:r>
                      <a:r>
                        <a:rPr lang="ru-RU" sz="1000" kern="1200" baseline="300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1,2</a:t>
                      </a:r>
                      <a:endParaRPr lang="ru-RU" sz="100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latin typeface="+mn-lt"/>
                        </a:rPr>
                        <a:t>22 366,67 </a:t>
                      </a:r>
                      <a:r>
                        <a:rPr kumimoji="0" lang="ru-RU" sz="12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</a:t>
                      </a:r>
                      <a:endParaRPr lang="ru-RU" sz="1200" dirty="0"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3436281"/>
                  </a:ext>
                </a:extLst>
              </a:tr>
            </a:tbl>
          </a:graphicData>
        </a:graphic>
      </p:graphicFrame>
      <p:sp>
        <p:nvSpPr>
          <p:cNvPr id="16" name="Прямоугольник 15"/>
          <p:cNvSpPr/>
          <p:nvPr/>
        </p:nvSpPr>
        <p:spPr>
          <a:xfrm>
            <a:off x="549207" y="3269926"/>
            <a:ext cx="1040371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 algn="just" hangingPunct="0">
              <a:spcAft>
                <a:spcPts val="0"/>
              </a:spcAft>
              <a:buAutoNum type="arabicPeriod"/>
            </a:pPr>
            <a:r>
              <a:rPr lang="ru-RU" sz="1000" spc="-5" dirty="0" smtClean="0">
                <a:cs typeface="OfficinaSerifBookCTT"/>
              </a:rPr>
              <a:t>Абонентская </a:t>
            </a:r>
            <a:r>
              <a:rPr lang="ru-RU" sz="1000" spc="-15" dirty="0">
                <a:cs typeface="OfficinaSerifBookCTT"/>
              </a:rPr>
              <a:t>плата </a:t>
            </a:r>
            <a:r>
              <a:rPr lang="ru-RU" sz="1000" spc="-5" dirty="0">
                <a:cs typeface="OfficinaSerifBookCTT"/>
              </a:rPr>
              <a:t>взимается по окончанию расчетного </a:t>
            </a:r>
            <a:r>
              <a:rPr lang="ru-RU" sz="1000" spc="-5" dirty="0" smtClean="0">
                <a:cs typeface="OfficinaSerifBookCTT"/>
              </a:rPr>
              <a:t>периода. </a:t>
            </a:r>
            <a:r>
              <a:rPr lang="ru-RU" sz="1000" spc="-5" dirty="0">
                <a:cs typeface="OfficinaSerifBookCTT"/>
              </a:rPr>
              <a:t>За оказанные услуги Оператор ежемесячно </a:t>
            </a:r>
            <a:r>
              <a:rPr lang="ru-RU" sz="1000" dirty="0">
                <a:cs typeface="OfficinaSerifBookCTT"/>
              </a:rPr>
              <a:t>(по </a:t>
            </a:r>
            <a:r>
              <a:rPr lang="ru-RU" sz="1000" spc="-5" dirty="0">
                <a:cs typeface="OfficinaSerifBookCTT"/>
              </a:rPr>
              <a:t>истечении расчетного периода </a:t>
            </a:r>
            <a:r>
              <a:rPr lang="ru-RU" sz="1000" dirty="0">
                <a:cs typeface="OfficinaSerifBookCTT"/>
              </a:rPr>
              <a:t>— месяца </a:t>
            </a:r>
            <a:r>
              <a:rPr lang="ru-RU" sz="1000" spc="-5" dirty="0">
                <a:cs typeface="OfficinaSerifBookCTT"/>
              </a:rPr>
              <a:t>оказания </a:t>
            </a:r>
            <a:r>
              <a:rPr lang="ru-RU" sz="1000" dirty="0">
                <a:cs typeface="OfficinaSerifBookCTT"/>
              </a:rPr>
              <a:t>услуг)  </a:t>
            </a:r>
            <a:r>
              <a:rPr lang="ru-RU" sz="1000" spc="-5" dirty="0">
                <a:cs typeface="OfficinaSerifBookCTT"/>
              </a:rPr>
              <a:t>выставляет Абоненту </a:t>
            </a:r>
            <a:r>
              <a:rPr lang="ru-RU" sz="1000" dirty="0">
                <a:cs typeface="OfficinaSerifBookCTT"/>
              </a:rPr>
              <a:t>счет в </a:t>
            </a:r>
            <a:r>
              <a:rPr lang="ru-RU" sz="1000" spc="-5" dirty="0">
                <a:cs typeface="OfficinaSerifBookCTT"/>
              </a:rPr>
              <a:t>соответствии </a:t>
            </a:r>
            <a:r>
              <a:rPr lang="ru-RU" sz="1000" dirty="0">
                <a:cs typeface="OfficinaSerifBookCTT"/>
              </a:rPr>
              <a:t>с </a:t>
            </a:r>
            <a:r>
              <a:rPr lang="ru-RU" sz="1000" spc="-5" dirty="0">
                <a:cs typeface="OfficinaSerifBookCTT"/>
              </a:rPr>
              <a:t>действующими тарифами Оператора. </a:t>
            </a:r>
            <a:r>
              <a:rPr lang="ru-RU" sz="1000" spc="-15" dirty="0">
                <a:cs typeface="OfficinaSerifBookCTT"/>
              </a:rPr>
              <a:t>Счет </a:t>
            </a:r>
            <a:r>
              <a:rPr lang="ru-RU" sz="1000" spc="-5" dirty="0">
                <a:cs typeface="OfficinaSerifBookCTT"/>
              </a:rPr>
              <a:t>должен быть оплачен Абонентом </a:t>
            </a:r>
            <a:r>
              <a:rPr lang="ru-RU" sz="1000" dirty="0">
                <a:cs typeface="OfficinaSerifBookCTT"/>
              </a:rPr>
              <a:t>в </a:t>
            </a:r>
            <a:r>
              <a:rPr lang="ru-RU" sz="1000" spc="-5" dirty="0">
                <a:cs typeface="OfficinaSerifBookCTT"/>
              </a:rPr>
              <a:t>течение </a:t>
            </a:r>
            <a:r>
              <a:rPr lang="ru-RU" sz="1000" dirty="0">
                <a:cs typeface="OfficinaSerifBookCTT"/>
              </a:rPr>
              <a:t>25 </a:t>
            </a:r>
            <a:r>
              <a:rPr lang="ru-RU" sz="1000" spc="-5" dirty="0">
                <a:cs typeface="OfficinaSerifBookCTT"/>
              </a:rPr>
              <a:t>дней </a:t>
            </a:r>
            <a:r>
              <a:rPr lang="ru-RU" sz="1000" dirty="0">
                <a:cs typeface="OfficinaSerifBookCTT"/>
              </a:rPr>
              <a:t>с </a:t>
            </a:r>
            <a:r>
              <a:rPr lang="ru-RU" sz="1000" spc="-5" dirty="0">
                <a:cs typeface="OfficinaSerifBookCTT"/>
              </a:rPr>
              <a:t>момента </a:t>
            </a:r>
            <a:r>
              <a:rPr lang="ru-RU" sz="1000" dirty="0">
                <a:cs typeface="OfficinaSerifBookCTT"/>
              </a:rPr>
              <a:t>его </a:t>
            </a:r>
            <a:r>
              <a:rPr lang="ru-RU" sz="1000" spc="-5" dirty="0">
                <a:cs typeface="OfficinaSerifBookCTT"/>
              </a:rPr>
              <a:t>выставления, </a:t>
            </a:r>
            <a:r>
              <a:rPr lang="ru-RU" sz="1000" dirty="0">
                <a:cs typeface="OfficinaSerifBookCTT"/>
              </a:rPr>
              <a:t>если </a:t>
            </a:r>
            <a:r>
              <a:rPr lang="ru-RU" sz="1000" spc="-5" dirty="0">
                <a:cs typeface="OfficinaSerifBookCTT"/>
              </a:rPr>
              <a:t>иной  срок </a:t>
            </a:r>
            <a:r>
              <a:rPr lang="ru-RU" sz="1000" dirty="0">
                <a:cs typeface="OfficinaSerifBookCTT"/>
              </a:rPr>
              <a:t>не </a:t>
            </a:r>
            <a:r>
              <a:rPr lang="ru-RU" sz="1000" spc="-5" dirty="0">
                <a:cs typeface="OfficinaSerifBookCTT"/>
              </a:rPr>
              <a:t>предусмотрен</a:t>
            </a:r>
            <a:r>
              <a:rPr lang="ru-RU" sz="1000" spc="-60" dirty="0">
                <a:cs typeface="OfficinaSerifBookCTT"/>
              </a:rPr>
              <a:t> </a:t>
            </a:r>
            <a:r>
              <a:rPr lang="ru-RU" sz="1000" spc="-5" dirty="0">
                <a:cs typeface="OfficinaSerifBookCTT"/>
              </a:rPr>
              <a:t>Договором. </a:t>
            </a:r>
            <a:endParaRPr lang="ru-RU" sz="1000" spc="-5" dirty="0" smtClean="0">
              <a:cs typeface="OfficinaSerifBookCTT"/>
            </a:endParaRPr>
          </a:p>
          <a:p>
            <a:pPr marL="228600" indent="-228600" algn="just" hangingPunct="0">
              <a:spcAft>
                <a:spcPts val="0"/>
              </a:spcAft>
              <a:buAutoNum type="arabicPeriod"/>
            </a:pPr>
            <a:r>
              <a:rPr lang="ru-RU" sz="1000" spc="-5" dirty="0" smtClean="0">
                <a:cs typeface="OfficinaSerifBookCTT"/>
              </a:rPr>
              <a:t>В случае использования неполных минут для </a:t>
            </a:r>
            <a:r>
              <a:rPr lang="ru-RU" sz="1000" spc="-5" dirty="0" err="1" smtClean="0">
                <a:cs typeface="OfficinaSerifBookCTT"/>
              </a:rPr>
              <a:t>транскрибации</a:t>
            </a:r>
            <a:r>
              <a:rPr lang="ru-RU" sz="1000" spc="-5" dirty="0" smtClean="0">
                <a:cs typeface="OfficinaSerifBookCTT"/>
              </a:rPr>
              <a:t> и анализа, осуществляется округление в большую сторону до минуты.</a:t>
            </a:r>
          </a:p>
          <a:p>
            <a:pPr algn="just" hangingPunct="0">
              <a:spcAft>
                <a:spcPts val="0"/>
              </a:spcAft>
            </a:pPr>
            <a:r>
              <a:rPr lang="ru-RU" sz="1000" dirty="0" smtClean="0">
                <a:ea typeface="Times New Roman" panose="02020603050405020304" pitchFamily="18" charset="0"/>
                <a:cs typeface="Arial" panose="020B0604020202020204" pitchFamily="34" charset="0"/>
              </a:rPr>
              <a:t>3. </a:t>
            </a:r>
            <a:r>
              <a:rPr lang="ru-RU" sz="1000" dirty="0"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r>
              <a:rPr lang="ru-RU" sz="1000" dirty="0" smtClean="0">
                <a:ea typeface="Times New Roman" panose="02020603050405020304" pitchFamily="18" charset="0"/>
                <a:cs typeface="Arial" panose="020B0604020202020204" pitchFamily="34" charset="0"/>
              </a:rPr>
              <a:t>  Начисляется по окончании расчётного периода, после чего начисление отключается.</a:t>
            </a:r>
            <a:endParaRPr lang="ru-RU" sz="1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</a:pPr>
            <a:endParaRPr lang="ru-RU" sz="1000" dirty="0" smtClean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 hangingPunct="0">
              <a:spcAft>
                <a:spcPts val="0"/>
              </a:spcAft>
            </a:pPr>
            <a:r>
              <a:rPr lang="ru-RU" sz="1000" dirty="0" smtClean="0">
                <a:ea typeface="Times New Roman" panose="02020603050405020304" pitchFamily="18" charset="0"/>
                <a:cs typeface="Arial" panose="020B0604020202020204" pitchFamily="34" charset="0"/>
              </a:rPr>
              <a:t>Оплата </a:t>
            </a:r>
            <a:r>
              <a:rPr lang="ru-RU" sz="1000" dirty="0">
                <a:ea typeface="Times New Roman" panose="02020603050405020304" pitchFamily="18" charset="0"/>
                <a:cs typeface="Arial" panose="020B0604020202020204" pitchFamily="34" charset="0"/>
              </a:rPr>
              <a:t>производится в рублях. </a:t>
            </a:r>
            <a:endParaRPr lang="ru-RU" sz="1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</a:pPr>
            <a:r>
              <a:rPr lang="ru-RU" sz="1000" dirty="0">
                <a:ea typeface="Times New Roman" panose="02020603050405020304" pitchFamily="18" charset="0"/>
                <a:cs typeface="Arial" panose="020B0604020202020204" pitchFamily="34" charset="0"/>
              </a:rPr>
              <a:t>Цены указаны в рублях с учетом НДС и сборов и не включают в себя надбавку к тарифам в размере 1,2</a:t>
            </a:r>
            <a:r>
              <a:rPr lang="ru-RU" sz="1000" dirty="0" smtClean="0">
                <a:ea typeface="Times New Roman" panose="02020603050405020304" pitchFamily="18" charset="0"/>
                <a:cs typeface="Arial" panose="020B0604020202020204" pitchFamily="34" charset="0"/>
              </a:rPr>
              <a:t>%.</a:t>
            </a:r>
            <a:endParaRPr lang="ru-RU" sz="1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67938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1EDA0AC-921D-4240-B96C-50D453752670}" type="slidenum">
              <a:rPr lang="ru-RU" smtClean="0"/>
              <a:pPr/>
              <a:t>11</a:t>
            </a:fld>
            <a:endParaRPr lang="ru-RU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6091078"/>
              </p:ext>
            </p:extLst>
          </p:nvPr>
        </p:nvGraphicFramePr>
        <p:xfrm>
          <a:off x="549207" y="848437"/>
          <a:ext cx="10442926" cy="2885715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3416153">
                  <a:extLst>
                    <a:ext uri="{9D8B030D-6E8A-4147-A177-3AD203B41FA5}">
                      <a16:colId xmlns:a16="http://schemas.microsoft.com/office/drawing/2014/main" val="3661897458"/>
                    </a:ext>
                  </a:extLst>
                </a:gridCol>
                <a:gridCol w="4909133">
                  <a:extLst>
                    <a:ext uri="{9D8B030D-6E8A-4147-A177-3AD203B41FA5}">
                      <a16:colId xmlns:a16="http://schemas.microsoft.com/office/drawing/2014/main" val="444115573"/>
                    </a:ext>
                  </a:extLst>
                </a:gridCol>
                <a:gridCol w="2117640">
                  <a:extLst>
                    <a:ext uri="{9D8B030D-6E8A-4147-A177-3AD203B41FA5}">
                      <a16:colId xmlns:a16="http://schemas.microsoft.com/office/drawing/2014/main" val="3815251716"/>
                    </a:ext>
                  </a:extLst>
                </a:gridCol>
              </a:tblGrid>
              <a:tr h="2474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Основной пакет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>
                          <a:solidFill>
                            <a:schemeClr val="tx1"/>
                          </a:solidFill>
                          <a:latin typeface="+mn-lt"/>
                        </a:rPr>
                        <a:t>Дополнительный пакет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Стоимость</a:t>
                      </a:r>
                      <a:endParaRPr lang="ru-RU" sz="1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3000681"/>
                  </a:ext>
                </a:extLst>
              </a:tr>
              <a:tr h="282531">
                <a:tc gridSpan="3"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200"/>
                        </a:spcBef>
                        <a:spcAft>
                          <a:spcPts val="200"/>
                        </a:spcAft>
                        <a:tabLst>
                          <a:tab pos="2070735" algn="l"/>
                          <a:tab pos="2250440" algn="l"/>
                          <a:tab pos="5220970" algn="l"/>
                        </a:tabLst>
                      </a:pPr>
                      <a:r>
                        <a:rPr lang="ru-RU" sz="12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Речевая аналитика – Дополнительный пакет</a:t>
                      </a:r>
                      <a:endParaRPr lang="ru-RU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ru-RU" sz="1000" b="0" i="0" u="none" strike="noStrike" dirty="0">
                        <a:solidFill>
                          <a:srgbClr val="1E1E1E"/>
                        </a:solidFill>
                        <a:effectLst/>
                        <a:latin typeface="Beeline Sans" panose="020B0500040202020204" pitchFamily="34" charset="-5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180993"/>
                  </a:ext>
                </a:extLst>
              </a:tr>
              <a:tr h="247462">
                <a:tc rowSpan="3">
                  <a:txBody>
                    <a:bodyPr/>
                    <a:lstStyle/>
                    <a:p>
                      <a:pPr algn="l" rtl="0" fontAlgn="ctr"/>
                      <a:r>
                        <a:rPr lang="ru-RU" sz="1000" b="0" i="0" u="none" strike="noStrike" dirty="0" err="1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Транскрибация</a:t>
                      </a:r>
                      <a:r>
                        <a:rPr lang="ru-RU" sz="1000" b="0" i="0" u="none" strike="noStrike" dirty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 и анализ данных - пакет из 500 </a:t>
                      </a:r>
                      <a:r>
                        <a:rPr lang="ru-RU" sz="1000" b="0" i="0" u="none" strike="noStrike" dirty="0" smtClean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минут</a:t>
                      </a:r>
                      <a:r>
                        <a:rPr lang="ru-RU" sz="1000" b="0" i="0" u="none" strike="noStrike" baseline="30000" dirty="0" smtClean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1,2</a:t>
                      </a:r>
                      <a:endParaRPr lang="ru-RU" sz="1000" b="0" i="0" u="none" strike="noStrike" dirty="0">
                        <a:solidFill>
                          <a:srgbClr val="1E1E1E"/>
                        </a:solidFill>
                        <a:effectLst/>
                        <a:latin typeface="Beeline Sans" panose="020B0500040202020204" pitchFamily="34" charset="-5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000" b="0" i="0" u="none" strike="noStrike" dirty="0" err="1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Транскрибация</a:t>
                      </a:r>
                      <a:r>
                        <a:rPr lang="ru-RU" sz="1000" b="0" i="0" u="none" strike="noStrike" dirty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 и анализ данных - пакет из дополнительных 100 минут</a:t>
                      </a:r>
                      <a:r>
                        <a:rPr lang="ru-RU" sz="1000" b="0" i="0" u="none" strike="noStrike" baseline="30000" dirty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2,3</a:t>
                      </a:r>
                      <a:endParaRPr lang="ru-RU" sz="1000" b="0" i="0" u="none" strike="noStrike" dirty="0">
                        <a:solidFill>
                          <a:srgbClr val="1E1E1E"/>
                        </a:solidFill>
                        <a:effectLst/>
                        <a:latin typeface="Beeline Sans" panose="020B0500040202020204" pitchFamily="34" charset="-5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157,58 </a:t>
                      </a:r>
                      <a:r>
                        <a:rPr kumimoji="0" lang="ru-RU" sz="12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6467854"/>
                  </a:ext>
                </a:extLst>
              </a:tr>
              <a:tr h="247462">
                <a:tc vMerge="1">
                  <a:txBody>
                    <a:bodyPr/>
                    <a:lstStyle/>
                    <a:p>
                      <a:pPr algn="l" rtl="0" fontAlgn="ctr"/>
                      <a:endParaRPr lang="ru-RU" sz="1000" b="0" i="0" u="none" strike="noStrike">
                        <a:solidFill>
                          <a:srgbClr val="1E1E1E"/>
                        </a:solidFill>
                        <a:effectLst/>
                        <a:latin typeface="Beeline Sans" panose="020B0500040202020204" pitchFamily="34" charset="-5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000" b="0" i="0" u="none" strike="noStrike" dirty="0" err="1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Транскрибация</a:t>
                      </a:r>
                      <a:r>
                        <a:rPr lang="ru-RU" sz="1000" b="0" i="0" u="none" strike="noStrike" dirty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 и анализ данных - пакет из дополнительных 200 минут</a:t>
                      </a:r>
                      <a:r>
                        <a:rPr lang="ru-RU" sz="1000" b="0" i="0" u="none" strike="noStrike" baseline="30000" dirty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2,3</a:t>
                      </a:r>
                      <a:endParaRPr lang="ru-RU" sz="1000" b="0" i="0" u="none" strike="noStrike" dirty="0">
                        <a:solidFill>
                          <a:srgbClr val="1E1E1E"/>
                        </a:solidFill>
                        <a:effectLst/>
                        <a:latin typeface="Beeline Sans" panose="020B0500040202020204" pitchFamily="34" charset="-5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315,17 </a:t>
                      </a:r>
                      <a:r>
                        <a:rPr kumimoji="0" lang="ru-RU" sz="12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3260312"/>
                  </a:ext>
                </a:extLst>
              </a:tr>
              <a:tr h="247462">
                <a:tc vMerge="1">
                  <a:txBody>
                    <a:bodyPr/>
                    <a:lstStyle/>
                    <a:p>
                      <a:pPr algn="l" rtl="0" fontAlgn="ctr"/>
                      <a:endParaRPr lang="ru-RU" sz="1000" b="0" i="0" u="none" strike="noStrike" dirty="0">
                        <a:solidFill>
                          <a:srgbClr val="1E1E1E"/>
                        </a:solidFill>
                        <a:effectLst/>
                        <a:latin typeface="Beeline Sans" panose="020B0500040202020204" pitchFamily="34" charset="-5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000" b="0" i="0" u="none" strike="noStrike" dirty="0" err="1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Транскрибация</a:t>
                      </a:r>
                      <a:r>
                        <a:rPr lang="ru-RU" sz="1000" b="0" i="0" u="none" strike="noStrike" dirty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 и анализ данных - пакет из дополнительных 500 минут №</a:t>
                      </a:r>
                      <a:r>
                        <a:rPr lang="ru-RU" sz="1000" b="0" i="0" u="none" strike="noStrike" dirty="0" smtClean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1</a:t>
                      </a:r>
                      <a:r>
                        <a:rPr lang="ru-RU" sz="1000" b="0" i="0" u="none" strike="noStrike" baseline="30000" dirty="0" smtClean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2,3</a:t>
                      </a:r>
                      <a:endParaRPr lang="ru-RU" sz="1000" b="0" i="0" u="none" strike="noStrike" dirty="0">
                        <a:solidFill>
                          <a:srgbClr val="1E1E1E"/>
                        </a:solidFill>
                        <a:effectLst/>
                        <a:latin typeface="Beeline Sans" panose="020B0500040202020204" pitchFamily="34" charset="-5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787,92 </a:t>
                      </a:r>
                      <a:r>
                        <a:rPr kumimoji="0" lang="ru-RU" sz="12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7152902"/>
                  </a:ext>
                </a:extLst>
              </a:tr>
              <a:tr h="247462"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ru-RU" sz="1000" b="0" i="0" u="none" strike="noStrike" dirty="0" err="1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Транскрибация</a:t>
                      </a:r>
                      <a:r>
                        <a:rPr lang="ru-RU" sz="1000" b="0" i="0" u="none" strike="noStrike" dirty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 и анализ данных - пакет из 1000 </a:t>
                      </a:r>
                      <a:r>
                        <a:rPr lang="ru-RU" sz="1000" b="0" i="0" u="none" strike="noStrike" dirty="0" smtClean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минут</a:t>
                      </a:r>
                      <a:r>
                        <a:rPr lang="ru-RU" sz="1000" b="0" i="0" u="none" strike="noStrike" baseline="30000" dirty="0" smtClean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1,2</a:t>
                      </a:r>
                      <a:endParaRPr lang="ru-RU" sz="1000" b="0" i="0" u="none" strike="noStrike" dirty="0">
                        <a:solidFill>
                          <a:srgbClr val="1E1E1E"/>
                        </a:solidFill>
                        <a:effectLst/>
                        <a:latin typeface="Beeline Sans" panose="020B0500040202020204" pitchFamily="34" charset="-5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000" b="0" i="0" u="none" strike="noStrike" dirty="0" err="1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Транскрибация</a:t>
                      </a:r>
                      <a:r>
                        <a:rPr lang="ru-RU" sz="1000" b="0" i="0" u="none" strike="noStrike" dirty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 и анализ данных - пакет из дополнительных 500 минут №</a:t>
                      </a:r>
                      <a:r>
                        <a:rPr lang="ru-RU" sz="1000" b="0" i="0" u="none" strike="noStrike" dirty="0" smtClean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2</a:t>
                      </a:r>
                      <a:r>
                        <a:rPr lang="ru-RU" sz="1000" b="0" i="0" u="none" strike="noStrike" baseline="30000" dirty="0" smtClean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2,3</a:t>
                      </a:r>
                      <a:endParaRPr lang="ru-RU" sz="1000" b="0" i="0" u="none" strike="noStrike" dirty="0">
                        <a:solidFill>
                          <a:srgbClr val="1E1E1E"/>
                        </a:solidFill>
                        <a:effectLst/>
                        <a:latin typeface="Beeline Sans" panose="020B0500040202020204" pitchFamily="34" charset="-5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737,08 </a:t>
                      </a:r>
                      <a:r>
                        <a:rPr kumimoji="0" lang="ru-RU" sz="12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2891754"/>
                  </a:ext>
                </a:extLst>
              </a:tr>
              <a:tr h="247462">
                <a:tc vMerge="1">
                  <a:txBody>
                    <a:bodyPr/>
                    <a:lstStyle/>
                    <a:p>
                      <a:pPr algn="l" rtl="0" fontAlgn="ctr"/>
                      <a:endParaRPr lang="ru-RU" sz="1000" b="0" i="0" u="none" strike="noStrike" dirty="0">
                        <a:solidFill>
                          <a:srgbClr val="1E1E1E"/>
                        </a:solidFill>
                        <a:effectLst/>
                        <a:latin typeface="Beeline Sans" panose="020B0500040202020204" pitchFamily="34" charset="-5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000" b="0" i="0" u="none" strike="noStrike" dirty="0" err="1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Транскрибация</a:t>
                      </a:r>
                      <a:r>
                        <a:rPr lang="ru-RU" sz="1000" b="0" i="0" u="none" strike="noStrike" dirty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 и анализ данных - пакет из дополнительных 1000 минут №</a:t>
                      </a:r>
                      <a:r>
                        <a:rPr lang="ru-RU" sz="1000" b="0" i="0" u="none" strike="noStrike" dirty="0" smtClean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1</a:t>
                      </a:r>
                      <a:r>
                        <a:rPr lang="ru-RU" sz="1000" b="0" i="0" u="none" strike="noStrike" baseline="30000" dirty="0" smtClean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2,3</a:t>
                      </a:r>
                      <a:endParaRPr lang="ru-RU" sz="1000" b="0" i="0" u="none" strike="noStrike" dirty="0">
                        <a:solidFill>
                          <a:srgbClr val="1E1E1E"/>
                        </a:solidFill>
                        <a:effectLst/>
                        <a:latin typeface="Beeline Sans" panose="020B0500040202020204" pitchFamily="34" charset="-5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1474,17 </a:t>
                      </a:r>
                      <a:r>
                        <a:rPr kumimoji="0" lang="ru-RU" sz="12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3849839"/>
                  </a:ext>
                </a:extLst>
              </a:tr>
              <a:tr h="349168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000" b="0" i="0" u="none" strike="noStrike" dirty="0" err="1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Транскрибация</a:t>
                      </a:r>
                      <a:r>
                        <a:rPr lang="ru-RU" sz="1000" b="0" i="0" u="none" strike="noStrike" dirty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 и анализ данных - пакет из 2000 минут</a:t>
                      </a:r>
                      <a:r>
                        <a:rPr lang="ru-RU" sz="1000" b="0" i="0" u="none" strike="noStrike" baseline="30000" dirty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1,2</a:t>
                      </a:r>
                      <a:endParaRPr lang="ru-RU" sz="1000" b="0" i="0" u="none" strike="noStrike" dirty="0">
                        <a:solidFill>
                          <a:srgbClr val="1E1E1E"/>
                        </a:solidFill>
                        <a:effectLst/>
                        <a:latin typeface="Beeline Sans" panose="020B0500040202020204" pitchFamily="34" charset="-5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000" b="0" i="0" u="none" strike="noStrike" dirty="0" err="1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Транскрибация</a:t>
                      </a:r>
                      <a:r>
                        <a:rPr lang="ru-RU" sz="1000" b="0" i="0" u="none" strike="noStrike" dirty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 и анализ данных - пакет из дополнительных 1000 минут №</a:t>
                      </a:r>
                      <a:r>
                        <a:rPr lang="ru-RU" sz="1000" b="0" i="0" u="none" strike="noStrike" dirty="0" smtClean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2</a:t>
                      </a:r>
                      <a:r>
                        <a:rPr lang="ru-RU" sz="1000" b="0" i="0" u="none" strike="noStrike" baseline="30000" dirty="0" smtClean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2,3</a:t>
                      </a:r>
                      <a:endParaRPr lang="ru-RU" sz="1000" b="0" i="0" u="none" strike="noStrike" dirty="0">
                        <a:solidFill>
                          <a:srgbClr val="1E1E1E"/>
                        </a:solidFill>
                        <a:effectLst/>
                        <a:latin typeface="Beeline Sans" panose="020B0500040202020204" pitchFamily="34" charset="-5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1372,50 </a:t>
                      </a:r>
                      <a:r>
                        <a:rPr kumimoji="0" lang="ru-RU" sz="12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3436281"/>
                  </a:ext>
                </a:extLst>
              </a:tr>
              <a:tr h="247462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000" b="0" i="0" u="none" strike="noStrike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Транскрибация и анализ данных - пакет из 5000 минут</a:t>
                      </a:r>
                      <a:r>
                        <a:rPr lang="ru-RU" sz="1000" b="0" i="0" u="none" strike="noStrike" baseline="3000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1,2</a:t>
                      </a:r>
                      <a:endParaRPr lang="ru-RU" sz="1000" b="0" i="0" u="none" strike="noStrike">
                        <a:solidFill>
                          <a:srgbClr val="1E1E1E"/>
                        </a:solidFill>
                        <a:effectLst/>
                        <a:latin typeface="Beeline Sans" panose="020B0500040202020204" pitchFamily="34" charset="-5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000" b="0" i="0" u="none" strike="noStrike" dirty="0" err="1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Транскрибация</a:t>
                      </a:r>
                      <a:r>
                        <a:rPr lang="ru-RU" sz="1000" b="0" i="0" u="none" strike="noStrike" dirty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 и анализ данных - пакет из дополнительных 1000 минут №</a:t>
                      </a:r>
                      <a:r>
                        <a:rPr lang="ru-RU" sz="1000" b="0" i="0" u="none" strike="noStrike" dirty="0" smtClean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3</a:t>
                      </a:r>
                      <a:r>
                        <a:rPr lang="ru-RU" sz="1000" b="0" i="0" u="none" strike="noStrike" baseline="30000" dirty="0" smtClean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2,3</a:t>
                      </a:r>
                      <a:endParaRPr lang="ru-RU" sz="1000" b="0" i="0" u="none" strike="noStrike" dirty="0">
                        <a:solidFill>
                          <a:srgbClr val="1E1E1E"/>
                        </a:solidFill>
                        <a:effectLst/>
                        <a:latin typeface="Beeline Sans" panose="020B0500040202020204" pitchFamily="34" charset="-5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1321,67 </a:t>
                      </a:r>
                      <a:r>
                        <a:rPr kumimoji="0" lang="ru-RU" sz="12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3881040"/>
                  </a:ext>
                </a:extLst>
              </a:tr>
              <a:tr h="247462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000" b="0" i="0" u="none" strike="noStrike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Транскрибация и анализ данных - пакет из 10000 минут</a:t>
                      </a:r>
                      <a:r>
                        <a:rPr lang="ru-RU" sz="1000" b="0" i="0" u="none" strike="noStrike" baseline="3000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1,2</a:t>
                      </a:r>
                      <a:endParaRPr lang="ru-RU" sz="1000" b="0" i="0" u="none" strike="noStrike">
                        <a:solidFill>
                          <a:srgbClr val="1E1E1E"/>
                        </a:solidFill>
                        <a:effectLst/>
                        <a:latin typeface="Beeline Sans" panose="020B0500040202020204" pitchFamily="34" charset="-5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000" b="0" i="0" u="none" strike="noStrike" dirty="0" err="1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Транскрибация</a:t>
                      </a:r>
                      <a:r>
                        <a:rPr lang="ru-RU" sz="1000" b="0" i="0" u="none" strike="noStrike" dirty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 и анализ данных - пакет из дополнительных 1000 минут №</a:t>
                      </a:r>
                      <a:r>
                        <a:rPr lang="ru-RU" sz="1000" b="0" i="0" u="none" strike="noStrike" dirty="0" smtClean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4</a:t>
                      </a:r>
                      <a:r>
                        <a:rPr lang="ru-RU" sz="1000" b="0" i="0" u="none" strike="noStrike" baseline="30000" dirty="0" smtClean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2,3</a:t>
                      </a:r>
                      <a:endParaRPr lang="ru-RU" sz="1000" b="0" i="0" u="none" strike="noStrike" dirty="0">
                        <a:solidFill>
                          <a:srgbClr val="1E1E1E"/>
                        </a:solidFill>
                        <a:effectLst/>
                        <a:latin typeface="Beeline Sans" panose="020B0500040202020204" pitchFamily="34" charset="-5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1270,83 </a:t>
                      </a:r>
                      <a:r>
                        <a:rPr kumimoji="0" lang="ru-RU" sz="12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0128388"/>
                  </a:ext>
                </a:extLst>
              </a:tr>
              <a:tr h="247462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000" b="0" i="0" u="none" strike="noStrike" dirty="0" err="1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Транскрибация</a:t>
                      </a:r>
                      <a:r>
                        <a:rPr lang="ru-RU" sz="1000" b="0" i="0" u="none" strike="noStrike" dirty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 и анализ данных - пакет из 20000 минут</a:t>
                      </a:r>
                      <a:r>
                        <a:rPr lang="ru-RU" sz="1000" b="0" i="0" u="none" strike="noStrike" baseline="30000" dirty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1,2</a:t>
                      </a:r>
                      <a:endParaRPr lang="ru-RU" sz="1000" b="0" i="0" u="none" strike="noStrike" dirty="0">
                        <a:solidFill>
                          <a:srgbClr val="1E1E1E"/>
                        </a:solidFill>
                        <a:effectLst/>
                        <a:latin typeface="Beeline Sans" panose="020B0500040202020204" pitchFamily="34" charset="-5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000" b="0" i="0" u="none" strike="noStrike" dirty="0" err="1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Транскрибация</a:t>
                      </a:r>
                      <a:r>
                        <a:rPr lang="ru-RU" sz="1000" b="0" i="0" u="none" strike="noStrike" dirty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 и анализ данных - пакет из дополнительных 2000 минут</a:t>
                      </a:r>
                      <a:r>
                        <a:rPr lang="ru-RU" sz="1000" b="0" i="0" u="none" strike="noStrike" baseline="30000" dirty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2,3</a:t>
                      </a:r>
                      <a:endParaRPr lang="ru-RU" sz="1000" b="0" i="0" u="none" strike="noStrike" dirty="0">
                        <a:solidFill>
                          <a:srgbClr val="1E1E1E"/>
                        </a:solidFill>
                        <a:effectLst/>
                        <a:latin typeface="Beeline Sans" panose="020B0500040202020204" pitchFamily="34" charset="-52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2033,33 </a:t>
                      </a:r>
                      <a:r>
                        <a:rPr kumimoji="0" lang="ru-RU" sz="1200" b="0" i="0" u="none" strike="noStrike" kern="1200" cap="none" spc="-5" normalizeH="0" baseline="0" noProof="0" dirty="0" smtClean="0">
                          <a:ln>
                            <a:noFill/>
                          </a:ln>
                          <a:solidFill>
                            <a:srgbClr val="1E1E1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OfficinaSerifBookCTT"/>
                        </a:rPr>
                        <a:t>₽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9474181"/>
                  </a:ext>
                </a:extLst>
              </a:tr>
            </a:tbl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549207" y="3931067"/>
            <a:ext cx="1040371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 algn="just" hangingPunct="0">
              <a:spcAft>
                <a:spcPts val="0"/>
              </a:spcAft>
              <a:buAutoNum type="arabicPeriod"/>
            </a:pPr>
            <a:r>
              <a:rPr lang="ru-RU" sz="1000" spc="-5" dirty="0" smtClean="0">
                <a:cs typeface="OfficinaSerifBookCTT"/>
              </a:rPr>
              <a:t>Абонентская </a:t>
            </a:r>
            <a:r>
              <a:rPr lang="ru-RU" sz="1000" spc="-15" dirty="0">
                <a:cs typeface="OfficinaSerifBookCTT"/>
              </a:rPr>
              <a:t>плата </a:t>
            </a:r>
            <a:r>
              <a:rPr lang="ru-RU" sz="1000" spc="-5" dirty="0">
                <a:cs typeface="OfficinaSerifBookCTT"/>
              </a:rPr>
              <a:t>взимается по окончанию расчетного </a:t>
            </a:r>
            <a:r>
              <a:rPr lang="ru-RU" sz="1000" spc="-5" dirty="0" smtClean="0">
                <a:cs typeface="OfficinaSerifBookCTT"/>
              </a:rPr>
              <a:t>периода. </a:t>
            </a:r>
            <a:r>
              <a:rPr lang="ru-RU" sz="1000" spc="-5" dirty="0">
                <a:cs typeface="OfficinaSerifBookCTT"/>
              </a:rPr>
              <a:t>За оказанные услуги Оператор ежемесячно </a:t>
            </a:r>
            <a:r>
              <a:rPr lang="ru-RU" sz="1000" dirty="0">
                <a:cs typeface="OfficinaSerifBookCTT"/>
              </a:rPr>
              <a:t>(по </a:t>
            </a:r>
            <a:r>
              <a:rPr lang="ru-RU" sz="1000" spc="-5" dirty="0">
                <a:cs typeface="OfficinaSerifBookCTT"/>
              </a:rPr>
              <a:t>истечении расчетного периода </a:t>
            </a:r>
            <a:r>
              <a:rPr lang="ru-RU" sz="1000" dirty="0">
                <a:cs typeface="OfficinaSerifBookCTT"/>
              </a:rPr>
              <a:t>— месяца </a:t>
            </a:r>
            <a:r>
              <a:rPr lang="ru-RU" sz="1000" spc="-5" dirty="0">
                <a:cs typeface="OfficinaSerifBookCTT"/>
              </a:rPr>
              <a:t>оказания </a:t>
            </a:r>
            <a:r>
              <a:rPr lang="ru-RU" sz="1000" dirty="0">
                <a:cs typeface="OfficinaSerifBookCTT"/>
              </a:rPr>
              <a:t>услуг)  </a:t>
            </a:r>
            <a:r>
              <a:rPr lang="ru-RU" sz="1000" spc="-5" dirty="0">
                <a:cs typeface="OfficinaSerifBookCTT"/>
              </a:rPr>
              <a:t>выставляет Абоненту </a:t>
            </a:r>
            <a:r>
              <a:rPr lang="ru-RU" sz="1000" dirty="0">
                <a:cs typeface="OfficinaSerifBookCTT"/>
              </a:rPr>
              <a:t>счет в </a:t>
            </a:r>
            <a:r>
              <a:rPr lang="ru-RU" sz="1000" spc="-5" dirty="0">
                <a:cs typeface="OfficinaSerifBookCTT"/>
              </a:rPr>
              <a:t>соответствии </a:t>
            </a:r>
            <a:r>
              <a:rPr lang="ru-RU" sz="1000" dirty="0">
                <a:cs typeface="OfficinaSerifBookCTT"/>
              </a:rPr>
              <a:t>с </a:t>
            </a:r>
            <a:r>
              <a:rPr lang="ru-RU" sz="1000" spc="-5" dirty="0">
                <a:cs typeface="OfficinaSerifBookCTT"/>
              </a:rPr>
              <a:t>действующими тарифами Оператора. </a:t>
            </a:r>
            <a:r>
              <a:rPr lang="ru-RU" sz="1000" spc="-15" dirty="0">
                <a:cs typeface="OfficinaSerifBookCTT"/>
              </a:rPr>
              <a:t>Счет </a:t>
            </a:r>
            <a:r>
              <a:rPr lang="ru-RU" sz="1000" spc="-5" dirty="0">
                <a:cs typeface="OfficinaSerifBookCTT"/>
              </a:rPr>
              <a:t>должен быть оплачен Абонентом </a:t>
            </a:r>
            <a:r>
              <a:rPr lang="ru-RU" sz="1000" dirty="0">
                <a:cs typeface="OfficinaSerifBookCTT"/>
              </a:rPr>
              <a:t>в </a:t>
            </a:r>
            <a:r>
              <a:rPr lang="ru-RU" sz="1000" spc="-5" dirty="0">
                <a:cs typeface="OfficinaSerifBookCTT"/>
              </a:rPr>
              <a:t>течение </a:t>
            </a:r>
            <a:r>
              <a:rPr lang="ru-RU" sz="1000" dirty="0">
                <a:cs typeface="OfficinaSerifBookCTT"/>
              </a:rPr>
              <a:t>25 </a:t>
            </a:r>
            <a:r>
              <a:rPr lang="ru-RU" sz="1000" spc="-5" dirty="0">
                <a:cs typeface="OfficinaSerifBookCTT"/>
              </a:rPr>
              <a:t>дней </a:t>
            </a:r>
            <a:r>
              <a:rPr lang="ru-RU" sz="1000" dirty="0">
                <a:cs typeface="OfficinaSerifBookCTT"/>
              </a:rPr>
              <a:t>с </a:t>
            </a:r>
            <a:r>
              <a:rPr lang="ru-RU" sz="1000" spc="-5" dirty="0">
                <a:cs typeface="OfficinaSerifBookCTT"/>
              </a:rPr>
              <a:t>момента </a:t>
            </a:r>
            <a:r>
              <a:rPr lang="ru-RU" sz="1000" dirty="0">
                <a:cs typeface="OfficinaSerifBookCTT"/>
              </a:rPr>
              <a:t>его </a:t>
            </a:r>
            <a:r>
              <a:rPr lang="ru-RU" sz="1000" spc="-5" dirty="0">
                <a:cs typeface="OfficinaSerifBookCTT"/>
              </a:rPr>
              <a:t>выставления, </a:t>
            </a:r>
            <a:r>
              <a:rPr lang="ru-RU" sz="1000" dirty="0">
                <a:cs typeface="OfficinaSerifBookCTT"/>
              </a:rPr>
              <a:t>если </a:t>
            </a:r>
            <a:r>
              <a:rPr lang="ru-RU" sz="1000" spc="-5" dirty="0">
                <a:cs typeface="OfficinaSerifBookCTT"/>
              </a:rPr>
              <a:t>иной  срок </a:t>
            </a:r>
            <a:r>
              <a:rPr lang="ru-RU" sz="1000" dirty="0">
                <a:cs typeface="OfficinaSerifBookCTT"/>
              </a:rPr>
              <a:t>не </a:t>
            </a:r>
            <a:r>
              <a:rPr lang="ru-RU" sz="1000" spc="-5" dirty="0">
                <a:cs typeface="OfficinaSerifBookCTT"/>
              </a:rPr>
              <a:t>предусмотрен</a:t>
            </a:r>
            <a:r>
              <a:rPr lang="ru-RU" sz="1000" spc="-60" dirty="0">
                <a:cs typeface="OfficinaSerifBookCTT"/>
              </a:rPr>
              <a:t> </a:t>
            </a:r>
            <a:r>
              <a:rPr lang="ru-RU" sz="1000" spc="-5" dirty="0">
                <a:cs typeface="OfficinaSerifBookCTT"/>
              </a:rPr>
              <a:t>Договором. </a:t>
            </a:r>
            <a:endParaRPr lang="ru-RU" sz="1000" spc="-5" dirty="0" smtClean="0">
              <a:cs typeface="OfficinaSerifBookCTT"/>
            </a:endParaRPr>
          </a:p>
          <a:p>
            <a:pPr marL="228600" indent="-228600" algn="just" hangingPunct="0">
              <a:spcAft>
                <a:spcPts val="0"/>
              </a:spcAft>
              <a:buAutoNum type="arabicPeriod"/>
            </a:pPr>
            <a:r>
              <a:rPr lang="ru-RU" sz="1000" spc="-5" dirty="0" smtClean="0">
                <a:cs typeface="OfficinaSerifBookCTT"/>
              </a:rPr>
              <a:t>В случае использования неполных минут для </a:t>
            </a:r>
            <a:r>
              <a:rPr lang="ru-RU" sz="1000" spc="-5" dirty="0" err="1" smtClean="0">
                <a:cs typeface="OfficinaSerifBookCTT"/>
              </a:rPr>
              <a:t>транскрибации</a:t>
            </a:r>
            <a:r>
              <a:rPr lang="ru-RU" sz="1000" spc="-5" dirty="0" smtClean="0">
                <a:cs typeface="OfficinaSerifBookCTT"/>
              </a:rPr>
              <a:t> и анализа, осуществляется округление в большую сторону до минуты.</a:t>
            </a:r>
          </a:p>
          <a:p>
            <a:pPr algn="just" hangingPunct="0">
              <a:spcAft>
                <a:spcPts val="0"/>
              </a:spcAft>
            </a:pPr>
            <a:r>
              <a:rPr lang="ru-RU" sz="1000" dirty="0" smtClean="0">
                <a:ea typeface="Times New Roman" panose="02020603050405020304" pitchFamily="18" charset="0"/>
                <a:cs typeface="Arial" panose="020B0604020202020204" pitchFamily="34" charset="0"/>
              </a:rPr>
              <a:t>3. </a:t>
            </a:r>
            <a:r>
              <a:rPr lang="ru-RU" sz="1000" dirty="0"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r>
              <a:rPr lang="ru-RU" sz="1000" dirty="0" smtClean="0"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lang="ru-RU" sz="1000" dirty="0">
                <a:ea typeface="Times New Roman" panose="02020603050405020304" pitchFamily="18" charset="0"/>
                <a:cs typeface="Arial" panose="020B0604020202020204" pitchFamily="34" charset="0"/>
              </a:rPr>
              <a:t>Начисляется разово за каждый дополнительный пакет по окончании расчётного </a:t>
            </a:r>
            <a:r>
              <a:rPr lang="ru-RU" sz="1000" dirty="0" smtClean="0">
                <a:ea typeface="Times New Roman" panose="02020603050405020304" pitchFamily="18" charset="0"/>
                <a:cs typeface="Arial" panose="020B0604020202020204" pitchFamily="34" charset="0"/>
              </a:rPr>
              <a:t>периода</a:t>
            </a:r>
          </a:p>
          <a:p>
            <a:pPr algn="just" hangingPunct="0">
              <a:spcAft>
                <a:spcPts val="0"/>
              </a:spcAft>
            </a:pPr>
            <a:endParaRPr lang="ru-RU" sz="1000" dirty="0" smtClean="0"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 hangingPunct="0">
              <a:spcAft>
                <a:spcPts val="0"/>
              </a:spcAft>
            </a:pPr>
            <a:r>
              <a:rPr lang="ru-RU" sz="1000" dirty="0" smtClean="0">
                <a:ea typeface="Times New Roman" panose="02020603050405020304" pitchFamily="18" charset="0"/>
                <a:cs typeface="Arial" panose="020B0604020202020204" pitchFamily="34" charset="0"/>
              </a:rPr>
              <a:t>Оплата </a:t>
            </a:r>
            <a:r>
              <a:rPr lang="ru-RU" sz="1000" dirty="0">
                <a:ea typeface="Times New Roman" panose="02020603050405020304" pitchFamily="18" charset="0"/>
                <a:cs typeface="Arial" panose="020B0604020202020204" pitchFamily="34" charset="0"/>
              </a:rPr>
              <a:t>производится в рублях. </a:t>
            </a:r>
            <a:endParaRPr lang="ru-RU" sz="1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</a:pPr>
            <a:r>
              <a:rPr lang="ru-RU" sz="1000" dirty="0">
                <a:ea typeface="Times New Roman" panose="02020603050405020304" pitchFamily="18" charset="0"/>
                <a:cs typeface="Arial" panose="020B0604020202020204" pitchFamily="34" charset="0"/>
              </a:rPr>
              <a:t>Цены указаны в рублях с учетом НДС и сборов и не включают в себя надбавку к тарифам в размере 1,2</a:t>
            </a:r>
            <a:r>
              <a:rPr lang="ru-RU" sz="1000" dirty="0" smtClean="0">
                <a:ea typeface="Times New Roman" panose="02020603050405020304" pitchFamily="18" charset="0"/>
                <a:cs typeface="Arial" panose="020B0604020202020204" pitchFamily="34" charset="0"/>
              </a:rPr>
              <a:t>%.</a:t>
            </a:r>
            <a:endParaRPr lang="ru-RU" sz="1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567990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60" name="Слайд think-cell" r:id="rId6" imgW="463" imgH="464" progId="TCLayout.ActiveDocument.1">
                  <p:embed/>
                </p:oleObj>
              </mc:Choice>
              <mc:Fallback>
                <p:oleObj name="Слайд think-cell" r:id="rId6" imgW="463" imgH="464" progId="TCLayout.ActiveDocument.1">
                  <p:embed/>
                  <p:pic>
                    <p:nvPicPr>
                      <p:cNvPr id="5" name="Объект 4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Прямоугольник 5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ru-RU" sz="3100" dirty="0" err="1" smtClean="0">
              <a:latin typeface="Beeline Sans" panose="020B0500040202020204" pitchFamily="34" charset="-52"/>
              <a:ea typeface="Arial" charset="0"/>
              <a:cs typeface="Arial" charset="0"/>
              <a:sym typeface="Beeline Sans" panose="020B0500040202020204" pitchFamily="34" charset="-52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529672" y="4270775"/>
            <a:ext cx="1040371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 algn="just" hangingPunct="0">
              <a:spcAft>
                <a:spcPts val="0"/>
              </a:spcAft>
              <a:buAutoNum type="arabicPeriod"/>
            </a:pPr>
            <a:r>
              <a:rPr lang="ru-RU" sz="1000" spc="-5" dirty="0" smtClean="0">
                <a:cs typeface="OfficinaSerifBookCTT"/>
              </a:rPr>
              <a:t>Абонентская </a:t>
            </a:r>
            <a:r>
              <a:rPr lang="ru-RU" sz="1000" spc="-15" dirty="0">
                <a:cs typeface="OfficinaSerifBookCTT"/>
              </a:rPr>
              <a:t>плата </a:t>
            </a:r>
            <a:r>
              <a:rPr lang="ru-RU" sz="1000" spc="-5" dirty="0">
                <a:cs typeface="OfficinaSerifBookCTT"/>
              </a:rPr>
              <a:t>взимается по окончанию расчетного </a:t>
            </a:r>
            <a:r>
              <a:rPr lang="ru-RU" sz="1000" spc="-5" dirty="0" smtClean="0">
                <a:cs typeface="OfficinaSerifBookCTT"/>
              </a:rPr>
              <a:t>периода. </a:t>
            </a:r>
            <a:r>
              <a:rPr lang="ru-RU" sz="1000" spc="-5" dirty="0">
                <a:cs typeface="OfficinaSerifBookCTT"/>
              </a:rPr>
              <a:t>За оказанные услуги Оператор ежемесячно </a:t>
            </a:r>
            <a:r>
              <a:rPr lang="ru-RU" sz="1000" dirty="0">
                <a:cs typeface="OfficinaSerifBookCTT"/>
              </a:rPr>
              <a:t>(по </a:t>
            </a:r>
            <a:r>
              <a:rPr lang="ru-RU" sz="1000" spc="-5" dirty="0">
                <a:cs typeface="OfficinaSerifBookCTT"/>
              </a:rPr>
              <a:t>истечении расчетного периода </a:t>
            </a:r>
            <a:r>
              <a:rPr lang="ru-RU" sz="1000" dirty="0">
                <a:cs typeface="OfficinaSerifBookCTT"/>
              </a:rPr>
              <a:t>— месяца </a:t>
            </a:r>
            <a:r>
              <a:rPr lang="ru-RU" sz="1000" spc="-5" dirty="0">
                <a:cs typeface="OfficinaSerifBookCTT"/>
              </a:rPr>
              <a:t>оказания </a:t>
            </a:r>
            <a:r>
              <a:rPr lang="ru-RU" sz="1000" dirty="0">
                <a:cs typeface="OfficinaSerifBookCTT"/>
              </a:rPr>
              <a:t>услуг)  </a:t>
            </a:r>
            <a:r>
              <a:rPr lang="ru-RU" sz="1000" spc="-5" dirty="0">
                <a:cs typeface="OfficinaSerifBookCTT"/>
              </a:rPr>
              <a:t>выставляет Абоненту </a:t>
            </a:r>
            <a:r>
              <a:rPr lang="ru-RU" sz="1000" dirty="0">
                <a:cs typeface="OfficinaSerifBookCTT"/>
              </a:rPr>
              <a:t>счет в </a:t>
            </a:r>
            <a:r>
              <a:rPr lang="ru-RU" sz="1000" spc="-5" dirty="0">
                <a:cs typeface="OfficinaSerifBookCTT"/>
              </a:rPr>
              <a:t>соответствии </a:t>
            </a:r>
            <a:r>
              <a:rPr lang="ru-RU" sz="1000" dirty="0">
                <a:cs typeface="OfficinaSerifBookCTT"/>
              </a:rPr>
              <a:t>с </a:t>
            </a:r>
            <a:r>
              <a:rPr lang="ru-RU" sz="1000" spc="-5" dirty="0">
                <a:cs typeface="OfficinaSerifBookCTT"/>
              </a:rPr>
              <a:t>действующими тарифами Оператора. </a:t>
            </a:r>
            <a:r>
              <a:rPr lang="ru-RU" sz="1000" spc="-15" dirty="0">
                <a:cs typeface="OfficinaSerifBookCTT"/>
              </a:rPr>
              <a:t>Счет </a:t>
            </a:r>
            <a:r>
              <a:rPr lang="ru-RU" sz="1000" spc="-5" dirty="0">
                <a:cs typeface="OfficinaSerifBookCTT"/>
              </a:rPr>
              <a:t>должен быть оплачен Абонентом </a:t>
            </a:r>
            <a:r>
              <a:rPr lang="ru-RU" sz="1000" dirty="0">
                <a:cs typeface="OfficinaSerifBookCTT"/>
              </a:rPr>
              <a:t>в </a:t>
            </a:r>
            <a:r>
              <a:rPr lang="ru-RU" sz="1000" spc="-5" dirty="0">
                <a:cs typeface="OfficinaSerifBookCTT"/>
              </a:rPr>
              <a:t>течение </a:t>
            </a:r>
            <a:r>
              <a:rPr lang="ru-RU" sz="1000" dirty="0">
                <a:cs typeface="OfficinaSerifBookCTT"/>
              </a:rPr>
              <a:t>25 </a:t>
            </a:r>
            <a:r>
              <a:rPr lang="ru-RU" sz="1000" spc="-5" dirty="0">
                <a:cs typeface="OfficinaSerifBookCTT"/>
              </a:rPr>
              <a:t>дней </a:t>
            </a:r>
            <a:r>
              <a:rPr lang="ru-RU" sz="1000" dirty="0">
                <a:cs typeface="OfficinaSerifBookCTT"/>
              </a:rPr>
              <a:t>с </a:t>
            </a:r>
            <a:r>
              <a:rPr lang="ru-RU" sz="1000" spc="-5" dirty="0">
                <a:cs typeface="OfficinaSerifBookCTT"/>
              </a:rPr>
              <a:t>момента </a:t>
            </a:r>
            <a:r>
              <a:rPr lang="ru-RU" sz="1000" dirty="0">
                <a:cs typeface="OfficinaSerifBookCTT"/>
              </a:rPr>
              <a:t>его </a:t>
            </a:r>
            <a:r>
              <a:rPr lang="ru-RU" sz="1000" spc="-5" dirty="0">
                <a:cs typeface="OfficinaSerifBookCTT"/>
              </a:rPr>
              <a:t>выставления, </a:t>
            </a:r>
            <a:r>
              <a:rPr lang="ru-RU" sz="1000" dirty="0">
                <a:cs typeface="OfficinaSerifBookCTT"/>
              </a:rPr>
              <a:t>если </a:t>
            </a:r>
            <a:r>
              <a:rPr lang="ru-RU" sz="1000" spc="-5" dirty="0">
                <a:cs typeface="OfficinaSerifBookCTT"/>
              </a:rPr>
              <a:t>иной  срок </a:t>
            </a:r>
            <a:r>
              <a:rPr lang="ru-RU" sz="1000" dirty="0">
                <a:cs typeface="OfficinaSerifBookCTT"/>
              </a:rPr>
              <a:t>не </a:t>
            </a:r>
            <a:r>
              <a:rPr lang="ru-RU" sz="1000" spc="-5" dirty="0">
                <a:cs typeface="OfficinaSerifBookCTT"/>
              </a:rPr>
              <a:t>предусмотрен</a:t>
            </a:r>
            <a:r>
              <a:rPr lang="ru-RU" sz="1000" spc="-60" dirty="0">
                <a:cs typeface="OfficinaSerifBookCTT"/>
              </a:rPr>
              <a:t> </a:t>
            </a:r>
            <a:r>
              <a:rPr lang="ru-RU" sz="1000" spc="-5" dirty="0">
                <a:cs typeface="OfficinaSerifBookCTT"/>
              </a:rPr>
              <a:t>Договором. </a:t>
            </a:r>
            <a:endParaRPr lang="ru-RU" sz="1000" spc="-5" dirty="0" smtClean="0">
              <a:cs typeface="OfficinaSerifBookCTT"/>
            </a:endParaRPr>
          </a:p>
          <a:p>
            <a:pPr marL="228600" indent="-228600" algn="just" hangingPunct="0">
              <a:spcAft>
                <a:spcPts val="0"/>
              </a:spcAft>
              <a:buAutoNum type="arabicPeriod"/>
            </a:pPr>
            <a:r>
              <a:rPr lang="ru-RU" sz="1000" spc="-5" dirty="0" smtClean="0">
                <a:cs typeface="OfficinaSerifBookCTT"/>
              </a:rPr>
              <a:t>В случае использования неполных минут осуществляется округление в большую сторону до минуты.</a:t>
            </a:r>
          </a:p>
          <a:p>
            <a:pPr algn="just" hangingPunct="0">
              <a:spcAft>
                <a:spcPts val="0"/>
              </a:spcAft>
            </a:pPr>
            <a:endParaRPr lang="ru-RU" sz="1000" spc="-5" dirty="0" smtClean="0">
              <a:cs typeface="OfficinaSerifBookCTT"/>
            </a:endParaRPr>
          </a:p>
          <a:p>
            <a:pPr algn="just" hangingPunct="0">
              <a:spcAft>
                <a:spcPts val="0"/>
              </a:spcAft>
            </a:pPr>
            <a:r>
              <a:rPr lang="ru-RU" sz="1000" dirty="0" smtClean="0">
                <a:ea typeface="Times New Roman" panose="02020603050405020304" pitchFamily="18" charset="0"/>
                <a:cs typeface="Arial" panose="020B0604020202020204" pitchFamily="34" charset="0"/>
              </a:rPr>
              <a:t>Оплата </a:t>
            </a:r>
            <a:r>
              <a:rPr lang="ru-RU" sz="1000" dirty="0">
                <a:ea typeface="Times New Roman" panose="02020603050405020304" pitchFamily="18" charset="0"/>
                <a:cs typeface="Arial" panose="020B0604020202020204" pitchFamily="34" charset="0"/>
              </a:rPr>
              <a:t>производится в рублях. </a:t>
            </a:r>
            <a:endParaRPr lang="ru-RU" sz="1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hangingPunct="0">
              <a:spcAft>
                <a:spcPts val="0"/>
              </a:spcAft>
            </a:pPr>
            <a:r>
              <a:rPr lang="ru-RU" sz="1000" dirty="0">
                <a:ea typeface="Times New Roman" panose="02020603050405020304" pitchFamily="18" charset="0"/>
                <a:cs typeface="Arial" panose="020B0604020202020204" pitchFamily="34" charset="0"/>
              </a:rPr>
              <a:t>Цены указаны в рублях с учетом НДС и сборов и не включают в себя надбавку к тарифам в размере 1,2</a:t>
            </a:r>
            <a:r>
              <a:rPr lang="ru-RU" sz="1000" dirty="0" smtClean="0">
                <a:ea typeface="Times New Roman" panose="02020603050405020304" pitchFamily="18" charset="0"/>
                <a:cs typeface="Arial" panose="020B0604020202020204" pitchFamily="34" charset="0"/>
              </a:rPr>
              <a:t>%.</a:t>
            </a:r>
            <a:endParaRPr lang="ru-RU" sz="1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4313585"/>
              </p:ext>
            </p:extLst>
          </p:nvPr>
        </p:nvGraphicFramePr>
        <p:xfrm>
          <a:off x="529672" y="752835"/>
          <a:ext cx="10491254" cy="3319106"/>
        </p:xfrm>
        <a:graphic>
          <a:graphicData uri="http://schemas.openxmlformats.org/drawingml/2006/table">
            <a:tbl>
              <a:tblPr/>
              <a:tblGrid>
                <a:gridCol w="3626102">
                  <a:extLst>
                    <a:ext uri="{9D8B030D-6E8A-4147-A177-3AD203B41FA5}">
                      <a16:colId xmlns:a16="http://schemas.microsoft.com/office/drawing/2014/main" val="4178000846"/>
                    </a:ext>
                  </a:extLst>
                </a:gridCol>
                <a:gridCol w="4145845">
                  <a:extLst>
                    <a:ext uri="{9D8B030D-6E8A-4147-A177-3AD203B41FA5}">
                      <a16:colId xmlns:a16="http://schemas.microsoft.com/office/drawing/2014/main" val="3219149402"/>
                    </a:ext>
                  </a:extLst>
                </a:gridCol>
                <a:gridCol w="1332944">
                  <a:extLst>
                    <a:ext uri="{9D8B030D-6E8A-4147-A177-3AD203B41FA5}">
                      <a16:colId xmlns:a16="http://schemas.microsoft.com/office/drawing/2014/main" val="1243321447"/>
                    </a:ext>
                  </a:extLst>
                </a:gridCol>
                <a:gridCol w="1386363">
                  <a:extLst>
                    <a:ext uri="{9D8B030D-6E8A-4147-A177-3AD203B41FA5}">
                      <a16:colId xmlns:a16="http://schemas.microsoft.com/office/drawing/2014/main" val="1581914553"/>
                    </a:ext>
                  </a:extLst>
                </a:gridCol>
              </a:tblGrid>
              <a:tr h="49537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Название основного пакета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B1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Включенных минут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B1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Стоимость </a:t>
                      </a:r>
                      <a:endParaRPr lang="ru-RU" sz="1200" b="1" i="0" u="none" strike="noStrike" dirty="0" smtClean="0">
                        <a:solidFill>
                          <a:srgbClr val="1E1E1E"/>
                        </a:solidFill>
                        <a:effectLst/>
                        <a:latin typeface="Beeline Sans" panose="020B0500040202020204" pitchFamily="34" charset="-52"/>
                      </a:endParaRPr>
                    </a:p>
                    <a:p>
                      <a:pPr algn="ctr" rtl="0" fontAlgn="ctr"/>
                      <a:r>
                        <a:rPr lang="ru-RU" sz="1200" b="1" i="0" u="none" strike="noStrike" dirty="0" smtClean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минуты </a:t>
                      </a:r>
                      <a:r>
                        <a:rPr lang="ru-RU" sz="1200" b="1" i="0" u="none" strike="noStrike" dirty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с НДС, </a:t>
                      </a:r>
                      <a:r>
                        <a:rPr lang="ru-RU" sz="1200" b="1" i="0" u="none" strike="noStrike" dirty="0" err="1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руб</a:t>
                      </a:r>
                      <a:r>
                        <a:rPr lang="ru-RU" sz="1200" b="1" i="0" u="none" strike="noStrike" dirty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B1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Стоимость </a:t>
                      </a:r>
                      <a:endParaRPr lang="ru-RU" sz="1200" b="1" i="0" u="none" strike="noStrike" dirty="0" smtClean="0">
                        <a:solidFill>
                          <a:srgbClr val="1E1E1E"/>
                        </a:solidFill>
                        <a:effectLst/>
                        <a:latin typeface="Beeline Sans" panose="020B0500040202020204" pitchFamily="34" charset="-52"/>
                      </a:endParaRPr>
                    </a:p>
                    <a:p>
                      <a:pPr algn="ctr" rtl="0" fontAlgn="ctr"/>
                      <a:r>
                        <a:rPr lang="ru-RU" sz="1200" b="1" i="0" u="none" strike="noStrike" dirty="0" smtClean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пакета </a:t>
                      </a:r>
                      <a:r>
                        <a:rPr lang="ru-RU" sz="1200" b="1" i="0" u="none" strike="noStrike" dirty="0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с НДС, </a:t>
                      </a:r>
                      <a:r>
                        <a:rPr lang="ru-RU" sz="1200" b="1" i="0" u="none" strike="noStrike" dirty="0" err="1">
                          <a:solidFill>
                            <a:srgbClr val="1E1E1E"/>
                          </a:solidFill>
                          <a:effectLst/>
                          <a:latin typeface="Beeline Sans" panose="020B0500040202020204" pitchFamily="34" charset="-52"/>
                        </a:rPr>
                        <a:t>руб</a:t>
                      </a:r>
                      <a:endParaRPr lang="ru-RU" sz="1200" b="1" i="0" u="none" strike="noStrike" dirty="0">
                        <a:solidFill>
                          <a:srgbClr val="1E1E1E"/>
                        </a:solidFill>
                        <a:effectLst/>
                        <a:latin typeface="Beeline Sans" panose="020B0500040202020204" pitchFamily="34" charset="-52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B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1726765"/>
                  </a:ext>
                </a:extLst>
              </a:tr>
              <a:tr h="31374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Голосовые кампании - Основной пакет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5353089"/>
                  </a:ext>
                </a:extLst>
              </a:tr>
              <a:tr h="31374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Голосовые кампании - пакет из 1000 </a:t>
                      </a:r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минут</a:t>
                      </a:r>
                      <a:r>
                        <a:rPr lang="ru-RU" sz="1200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1,2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0,61 </a:t>
                      </a:r>
                      <a:r>
                        <a:rPr lang="ru-RU" sz="1200" kern="1200" baseline="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610,00 </a:t>
                      </a:r>
                      <a:r>
                        <a:rPr lang="ru-RU" sz="1200" kern="1200" baseline="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505391"/>
                  </a:ext>
                </a:extLst>
              </a:tr>
              <a:tr h="31374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Голосовые кампании - пакет из 5000 </a:t>
                      </a:r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минут</a:t>
                      </a:r>
                      <a:r>
                        <a:rPr lang="ru-RU" sz="1200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1,2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0,55 </a:t>
                      </a:r>
                      <a:r>
                        <a:rPr lang="ru-RU" sz="1200" kern="1200" baseline="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2 745,00 </a:t>
                      </a:r>
                      <a:r>
                        <a:rPr lang="ru-RU" sz="1200" kern="1200" baseline="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0729748"/>
                  </a:ext>
                </a:extLst>
              </a:tr>
              <a:tr h="31374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Голосовые кампании - пакет из 10000 </a:t>
                      </a:r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минут</a:t>
                      </a:r>
                      <a:r>
                        <a:rPr lang="ru-RU" sz="1200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1,2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0,49 </a:t>
                      </a:r>
                      <a:r>
                        <a:rPr lang="ru-RU" sz="1200" kern="1200" baseline="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4 880,00 </a:t>
                      </a:r>
                      <a:r>
                        <a:rPr lang="ru-RU" sz="1200" kern="1200" baseline="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486070"/>
                  </a:ext>
                </a:extLst>
              </a:tr>
              <a:tr h="31374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Голосовые кампании – Дополнительный пакет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6847329"/>
                  </a:ext>
                </a:extLst>
              </a:tr>
              <a:tr h="31374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Голосовые кампании - пакет из 1000 </a:t>
                      </a:r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минут</a:t>
                      </a:r>
                      <a:r>
                        <a:rPr lang="ru-RU" sz="1200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1,2</a:t>
                      </a:r>
                      <a:endParaRPr lang="ru-RU" sz="1200" kern="1200" baseline="300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Голосовые кампании - пакет из дополнительных 500 </a:t>
                      </a:r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минут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0,66 </a:t>
                      </a:r>
                      <a:r>
                        <a:rPr lang="ru-RU" sz="1200" kern="1200" baseline="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330,42 </a:t>
                      </a:r>
                      <a:r>
                        <a:rPr lang="ru-RU" sz="1200" kern="1200" baseline="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2757016"/>
                  </a:ext>
                </a:extLst>
              </a:tr>
              <a:tr h="31374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Голосовые кампании - пакет из 1000 </a:t>
                      </a:r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минут</a:t>
                      </a:r>
                      <a:r>
                        <a:rPr lang="ru-RU" sz="1200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1,2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Голосовые кампании - пакет из дополнительных 1000 </a:t>
                      </a:r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минут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0,66 </a:t>
                      </a:r>
                      <a:r>
                        <a:rPr lang="ru-RU" sz="1200" kern="1200" baseline="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660,83 </a:t>
                      </a:r>
                      <a:r>
                        <a:rPr lang="ru-RU" sz="1200" kern="1200" baseline="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4131313"/>
                  </a:ext>
                </a:extLst>
              </a:tr>
              <a:tr h="31374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Голосовые кампании - пакет из 5000 </a:t>
                      </a:r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минут</a:t>
                      </a:r>
                      <a:r>
                        <a:rPr lang="ru-RU" sz="1200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1,2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Голосовые кампании - пакет из дополнительных 1000 </a:t>
                      </a:r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минут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0,59 </a:t>
                      </a:r>
                      <a:r>
                        <a:rPr lang="ru-RU" sz="1200" kern="1200" baseline="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599,83 </a:t>
                      </a:r>
                      <a:r>
                        <a:rPr lang="ru-RU" sz="1200" kern="1200" baseline="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4710884"/>
                  </a:ext>
                </a:extLst>
              </a:tr>
              <a:tr h="31374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Голосовые кампании - пакет из 10000 </a:t>
                      </a:r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минут</a:t>
                      </a:r>
                      <a:r>
                        <a:rPr lang="ru-RU" sz="1200" kern="1200" baseline="300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1,2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Голосовые кампании - пакет из дополнительных 1000 </a:t>
                      </a:r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минут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0,53 </a:t>
                      </a:r>
                      <a:r>
                        <a:rPr lang="ru-RU" sz="1200" kern="1200" baseline="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ru-RU" sz="12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538,83 </a:t>
                      </a:r>
                      <a:r>
                        <a:rPr lang="ru-RU" sz="1200" kern="1200" baseline="0" noProof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₽</a:t>
                      </a:r>
                      <a:endParaRPr lang="ru-RU" sz="1200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7366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44728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 hidden="1"/>
          <p:cNvGraphicFramePr>
            <a:graphicFrameLocks noChangeAspect="1"/>
          </p:cNvGraphicFramePr>
          <p:nvPr>
            <p:custDataLst>
              <p:tags r:id="rId2"/>
            </p:custDataLst>
            <p:extLst/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62" name="Слайд think-cell" r:id="rId6" imgW="463" imgH="464" progId="TCLayout.ActiveDocument.1">
                  <p:embed/>
                </p:oleObj>
              </mc:Choice>
              <mc:Fallback>
                <p:oleObj name="Слайд think-cell" r:id="rId6" imgW="463" imgH="464" progId="TCLayout.ActiveDocument.1">
                  <p:embed/>
                  <p:pic>
                    <p:nvPicPr>
                      <p:cNvPr id="5" name="Объект 4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Прямоугольник 5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ru-RU" sz="3100" dirty="0" err="1" smtClean="0">
              <a:latin typeface="Beeline Sans" panose="020B0500040202020204" pitchFamily="34" charset="-52"/>
              <a:ea typeface="Arial" charset="0"/>
              <a:cs typeface="Arial" charset="0"/>
              <a:sym typeface="Beeline Sans" panose="020B0500040202020204" pitchFamily="34" charset="-52"/>
            </a:endParaRP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841DDC0-0D30-41A1-464B-2D76EA3D2A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902623"/>
              </p:ext>
            </p:extLst>
          </p:nvPr>
        </p:nvGraphicFramePr>
        <p:xfrm>
          <a:off x="428015" y="689374"/>
          <a:ext cx="10834343" cy="3972205"/>
        </p:xfrm>
        <a:graphic>
          <a:graphicData uri="http://schemas.openxmlformats.org/drawingml/2006/table">
            <a:tbl>
              <a:tblPr/>
              <a:tblGrid>
                <a:gridCol w="2989542">
                  <a:extLst>
                    <a:ext uri="{9D8B030D-6E8A-4147-A177-3AD203B41FA5}">
                      <a16:colId xmlns:a16="http://schemas.microsoft.com/office/drawing/2014/main" val="4020057709"/>
                    </a:ext>
                  </a:extLst>
                </a:gridCol>
                <a:gridCol w="984914">
                  <a:extLst>
                    <a:ext uri="{9D8B030D-6E8A-4147-A177-3AD203B41FA5}">
                      <a16:colId xmlns:a16="http://schemas.microsoft.com/office/drawing/2014/main" val="1703498719"/>
                    </a:ext>
                  </a:extLst>
                </a:gridCol>
                <a:gridCol w="984914">
                  <a:extLst>
                    <a:ext uri="{9D8B030D-6E8A-4147-A177-3AD203B41FA5}">
                      <a16:colId xmlns:a16="http://schemas.microsoft.com/office/drawing/2014/main" val="1661390867"/>
                    </a:ext>
                  </a:extLst>
                </a:gridCol>
                <a:gridCol w="1850443">
                  <a:extLst>
                    <a:ext uri="{9D8B030D-6E8A-4147-A177-3AD203B41FA5}">
                      <a16:colId xmlns:a16="http://schemas.microsoft.com/office/drawing/2014/main" val="3461894997"/>
                    </a:ext>
                  </a:extLst>
                </a:gridCol>
                <a:gridCol w="1711163">
                  <a:extLst>
                    <a:ext uri="{9D8B030D-6E8A-4147-A177-3AD203B41FA5}">
                      <a16:colId xmlns:a16="http://schemas.microsoft.com/office/drawing/2014/main" val="3917706368"/>
                    </a:ext>
                  </a:extLst>
                </a:gridCol>
                <a:gridCol w="1080076">
                  <a:extLst>
                    <a:ext uri="{9D8B030D-6E8A-4147-A177-3AD203B41FA5}">
                      <a16:colId xmlns:a16="http://schemas.microsoft.com/office/drawing/2014/main" val="2506371424"/>
                    </a:ext>
                  </a:extLst>
                </a:gridCol>
                <a:gridCol w="1233291">
                  <a:extLst>
                    <a:ext uri="{9D8B030D-6E8A-4147-A177-3AD203B41FA5}">
                      <a16:colId xmlns:a16="http://schemas.microsoft.com/office/drawing/2014/main" val="782720717"/>
                    </a:ext>
                  </a:extLst>
                </a:gridCol>
              </a:tblGrid>
              <a:tr h="876959">
                <a:tc>
                  <a:txBody>
                    <a:bodyPr/>
                    <a:lstStyle>
                      <a:lvl1pPr marL="0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1pPr>
                      <a:lvl2pPr marL="457155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2pPr>
                      <a:lvl3pPr marL="914309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3pPr>
                      <a:lvl4pPr marL="1371464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4pPr>
                      <a:lvl5pPr marL="1828618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5pPr>
                      <a:lvl6pPr marL="2285774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6pPr>
                      <a:lvl7pPr marL="2742926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7pPr>
                      <a:lvl8pPr marL="3200080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8pPr>
                      <a:lvl9pPr marL="3657235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9pPr>
                    </a:lstStyle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Название </a:t>
                      </a:r>
                      <a:r>
                        <a:rPr lang="ru-RU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пакета</a:t>
                      </a:r>
                      <a:endParaRPr lang="ru-RU" sz="1000" b="1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9B1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Включённых </a:t>
                      </a:r>
                      <a:r>
                        <a:rPr lang="ru-RU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/>
                      </a:r>
                      <a:br>
                        <a:rPr lang="ru-RU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</a:br>
                      <a:r>
                        <a:rPr lang="ru-RU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минут</a:t>
                      </a:r>
                      <a:endParaRPr lang="ru-RU" sz="1000" b="1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9B1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Максимальное количество доступных роботов</a:t>
                      </a:r>
                      <a:r>
                        <a:rPr lang="ru-RU" sz="1000" b="0" i="0" u="none" strike="noStrike" baseline="300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1</a:t>
                      </a:r>
                      <a:endParaRPr lang="ru-RU" sz="1000" b="1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9B1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Стоимость пакета</a:t>
                      </a:r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 </a:t>
                      </a:r>
                      <a:r>
                        <a:rPr lang="ru-RU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(без учёта НДС**), руб. в месяц</a:t>
                      </a:r>
                      <a:endParaRPr lang="ru-RU" sz="1000" b="1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9B1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Стоимость минуты внутри </a:t>
                      </a:r>
                      <a:br>
                        <a:rPr lang="ru-RU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</a:br>
                      <a:r>
                        <a:rPr lang="ru-RU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пакета</a:t>
                      </a:r>
                      <a:r>
                        <a:rPr lang="ru-RU" sz="1000" b="1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 </a:t>
                      </a:r>
                      <a:r>
                        <a:rPr lang="ru-RU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(без учёта НДС**), руб</a:t>
                      </a:r>
                      <a:r>
                        <a:rPr lang="ru-RU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.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9B1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Срок действия пакета</a:t>
                      </a:r>
                      <a:endParaRPr lang="ru-RU" sz="1000" b="1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9B1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Стоимость минуты</a:t>
                      </a:r>
                      <a:r>
                        <a:rPr lang="ru-RU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 </a:t>
                      </a:r>
                      <a:br>
                        <a:rPr lang="ru-RU" sz="10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</a:br>
                      <a:r>
                        <a:rPr lang="ru-RU" sz="1000" b="1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вызова</a:t>
                      </a:r>
                      <a:r>
                        <a:rPr lang="ru-RU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, руб.</a:t>
                      </a:r>
                      <a:endParaRPr lang="ru-RU" sz="1000" b="1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9B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606876"/>
                  </a:ext>
                </a:extLst>
              </a:tr>
              <a:tr h="268876">
                <a:tc gridSpan="6"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Голосовой робот в ОАТС – Основные пакеты минут</a:t>
                      </a:r>
                      <a:endParaRPr lang="ru-RU" sz="1000" b="1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D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ru-RU" sz="12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D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ru-RU" sz="12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D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ru-RU" sz="12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D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ru-RU" sz="12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DFF"/>
                    </a:solidFill>
                  </a:tcPr>
                </a:tc>
                <a:tc rowSpan="12"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Определяется</a:t>
                      </a:r>
                      <a:r>
                        <a:rPr lang="ru-RU" sz="10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 в соответствии </a:t>
                      </a:r>
                      <a:br>
                        <a:rPr lang="ru-RU" sz="10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</a:br>
                      <a:r>
                        <a:rPr lang="ru-RU" sz="1000" b="0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с условиями тарифного плана абонентского номера, подключённого в ОАТС</a:t>
                      </a:r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F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787071"/>
                  </a:ext>
                </a:extLst>
              </a:tr>
              <a:tr h="253938">
                <a:tc>
                  <a:txBody>
                    <a:bodyPr/>
                    <a:lstStyle>
                      <a:lvl1pPr marL="0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1pPr>
                      <a:lvl2pPr marL="457155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2pPr>
                      <a:lvl3pPr marL="914309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3pPr>
                      <a:lvl4pPr marL="1371464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4pPr>
                      <a:lvl5pPr marL="1828618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5pPr>
                      <a:lvl6pPr marL="2285774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6pPr>
                      <a:lvl7pPr marL="2742926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7pPr>
                      <a:lvl8pPr marL="3200080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8pPr>
                      <a:lvl9pPr marL="3657235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9pPr>
                    </a:lstStyle>
                    <a:p>
                      <a:pPr algn="l" rtl="0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Голосовой робот 2 000 мин (</a:t>
                      </a:r>
                      <a:r>
                        <a:rPr lang="ru-RU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2 робота)</a:t>
                      </a:r>
                      <a:r>
                        <a:rPr lang="ru-RU" sz="1000" b="0" i="0" u="none" strike="noStrike" baseline="300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1,2,3</a:t>
                      </a:r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2 000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2</a:t>
                      </a:r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7 000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3,50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30 </a:t>
                      </a:r>
                    </a:p>
                    <a:p>
                      <a:pPr algn="ctr" fontAlgn="ctr"/>
                      <a:r>
                        <a:rPr lang="ru-RU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календарных дней</a:t>
                      </a:r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1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5540743"/>
                  </a:ext>
                </a:extLst>
              </a:tr>
              <a:tr h="253938">
                <a:tc>
                  <a:txBody>
                    <a:bodyPr/>
                    <a:lstStyle>
                      <a:lvl1pPr marL="0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1pPr>
                      <a:lvl2pPr marL="457155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2pPr>
                      <a:lvl3pPr marL="914309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3pPr>
                      <a:lvl4pPr marL="1371464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4pPr>
                      <a:lvl5pPr marL="1828618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5pPr>
                      <a:lvl6pPr marL="2285774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6pPr>
                      <a:lvl7pPr marL="2742926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7pPr>
                      <a:lvl8pPr marL="3200080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8pPr>
                      <a:lvl9pPr marL="3657235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9pPr>
                    </a:lstStyle>
                    <a:p>
                      <a:pPr algn="l" rtl="0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Голосовой робот 5 000 мин (5 </a:t>
                      </a:r>
                      <a:r>
                        <a:rPr lang="ru-RU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роботов)</a:t>
                      </a:r>
                      <a:r>
                        <a:rPr lang="ru-RU" sz="1000" b="0" i="0" u="none" strike="noStrike" baseline="300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1,2,3</a:t>
                      </a:r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5 000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5</a:t>
                      </a:r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17 000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3,40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0450181"/>
                  </a:ext>
                </a:extLst>
              </a:tr>
              <a:tr h="253938">
                <a:tc>
                  <a:txBody>
                    <a:bodyPr/>
                    <a:lstStyle>
                      <a:lvl1pPr marL="0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1pPr>
                      <a:lvl2pPr marL="457155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2pPr>
                      <a:lvl3pPr marL="914309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3pPr>
                      <a:lvl4pPr marL="1371464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4pPr>
                      <a:lvl5pPr marL="1828618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5pPr>
                      <a:lvl6pPr marL="2285774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6pPr>
                      <a:lvl7pPr marL="2742926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7pPr>
                      <a:lvl8pPr marL="3200080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8pPr>
                      <a:lvl9pPr marL="3657235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9pPr>
                    </a:lstStyle>
                    <a:p>
                      <a:pPr algn="l" rtl="0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Голосовой робот 10 000 мин (10 </a:t>
                      </a:r>
                      <a:r>
                        <a:rPr lang="ru-RU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роботов)</a:t>
                      </a:r>
                      <a:r>
                        <a:rPr lang="ru-RU" sz="1000" b="0" i="0" u="none" strike="noStrike" baseline="300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1,2,3</a:t>
                      </a:r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10 000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10</a:t>
                      </a:r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33 000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3,30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348793"/>
                  </a:ext>
                </a:extLst>
              </a:tr>
              <a:tr h="253938">
                <a:tc>
                  <a:txBody>
                    <a:bodyPr/>
                    <a:lstStyle>
                      <a:lvl1pPr marL="0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1pPr>
                      <a:lvl2pPr marL="457155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2pPr>
                      <a:lvl3pPr marL="914309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3pPr>
                      <a:lvl4pPr marL="1371464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4pPr>
                      <a:lvl5pPr marL="1828618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5pPr>
                      <a:lvl6pPr marL="2285774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6pPr>
                      <a:lvl7pPr marL="2742926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7pPr>
                      <a:lvl8pPr marL="3200080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8pPr>
                      <a:lvl9pPr marL="3657235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9pPr>
                    </a:lstStyle>
                    <a:p>
                      <a:pPr algn="l" rtl="0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Голосовой робот 15 000 мин (10 </a:t>
                      </a:r>
                      <a:r>
                        <a:rPr lang="ru-RU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роботов)</a:t>
                      </a:r>
                      <a:r>
                        <a:rPr lang="ru-RU" sz="1000" b="0" i="0" u="none" strike="noStrike" baseline="300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1,2,3</a:t>
                      </a:r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15 000</a:t>
                      </a:r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10</a:t>
                      </a:r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48 000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3,20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621230"/>
                  </a:ext>
                </a:extLst>
              </a:tr>
              <a:tr h="253938">
                <a:tc>
                  <a:txBody>
                    <a:bodyPr/>
                    <a:lstStyle>
                      <a:lvl1pPr marL="0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1pPr>
                      <a:lvl2pPr marL="457155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2pPr>
                      <a:lvl3pPr marL="914309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3pPr>
                      <a:lvl4pPr marL="1371464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4pPr>
                      <a:lvl5pPr marL="1828618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5pPr>
                      <a:lvl6pPr marL="2285774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6pPr>
                      <a:lvl7pPr marL="2742926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7pPr>
                      <a:lvl8pPr marL="3200080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8pPr>
                      <a:lvl9pPr marL="3657235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9pPr>
                    </a:lstStyle>
                    <a:p>
                      <a:pPr algn="l" rtl="0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Голосовой робот 20 000 мин (15 </a:t>
                      </a:r>
                      <a:r>
                        <a:rPr lang="ru-RU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роботов)</a:t>
                      </a:r>
                      <a:r>
                        <a:rPr lang="ru-RU" sz="1000" b="0" i="0" u="none" strike="noStrike" baseline="300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1,2,3</a:t>
                      </a:r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20 000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15</a:t>
                      </a:r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62 000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3,10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513824"/>
                  </a:ext>
                </a:extLst>
              </a:tr>
              <a:tr h="253938">
                <a:tc>
                  <a:txBody>
                    <a:bodyPr/>
                    <a:lstStyle>
                      <a:lvl1pPr marL="0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1pPr>
                      <a:lvl2pPr marL="457155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2pPr>
                      <a:lvl3pPr marL="914309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3pPr>
                      <a:lvl4pPr marL="1371464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4pPr>
                      <a:lvl5pPr marL="1828618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5pPr>
                      <a:lvl6pPr marL="2285774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6pPr>
                      <a:lvl7pPr marL="2742926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7pPr>
                      <a:lvl8pPr marL="3200080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8pPr>
                      <a:lvl9pPr marL="3657235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9pPr>
                    </a:lstStyle>
                    <a:p>
                      <a:pPr algn="l" rtl="0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Голосовой робот 40 000 мин (20 </a:t>
                      </a:r>
                      <a:r>
                        <a:rPr lang="ru-RU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роботов)</a:t>
                      </a:r>
                      <a:r>
                        <a:rPr lang="ru-RU" sz="1000" b="0" i="0" u="none" strike="noStrike" baseline="300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1,2,3</a:t>
                      </a:r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40 000</a:t>
                      </a:r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20</a:t>
                      </a:r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120 000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3,00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3145189"/>
                  </a:ext>
                </a:extLst>
              </a:tr>
              <a:tr h="253938">
                <a:tc>
                  <a:txBody>
                    <a:bodyPr/>
                    <a:lstStyle>
                      <a:lvl1pPr marL="0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1pPr>
                      <a:lvl2pPr marL="457155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2pPr>
                      <a:lvl3pPr marL="914309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3pPr>
                      <a:lvl4pPr marL="1371464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4pPr>
                      <a:lvl5pPr marL="1828618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5pPr>
                      <a:lvl6pPr marL="2285774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6pPr>
                      <a:lvl7pPr marL="2742926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7pPr>
                      <a:lvl8pPr marL="3200080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8pPr>
                      <a:lvl9pPr marL="3657235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9pPr>
                    </a:lstStyle>
                    <a:p>
                      <a:pPr algn="l" rtl="0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Голосовой робот 50 000 мин (20 </a:t>
                      </a:r>
                      <a:r>
                        <a:rPr lang="ru-RU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роботов)</a:t>
                      </a:r>
                      <a:r>
                        <a:rPr lang="ru-RU" sz="1000" b="0" i="0" u="none" strike="noStrike" baseline="300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1,2,3</a:t>
                      </a:r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50 000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20</a:t>
                      </a:r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150 000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3,00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2769845"/>
                  </a:ext>
                </a:extLst>
              </a:tr>
              <a:tr h="268876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Голосовой робот </a:t>
                      </a:r>
                      <a:r>
                        <a:rPr lang="ru-RU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в ОАТС</a:t>
                      </a:r>
                      <a:r>
                        <a:rPr lang="ru-RU" sz="10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 – Дополнительные пакет</a:t>
                      </a:r>
                      <a:r>
                        <a:rPr lang="ru-RU" sz="1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ы</a:t>
                      </a:r>
                      <a:r>
                        <a:rPr lang="ru-RU" sz="10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 минут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1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9651448"/>
                  </a:ext>
                </a:extLst>
              </a:tr>
              <a:tr h="272052">
                <a:tc>
                  <a:txBody>
                    <a:bodyPr/>
                    <a:lstStyle>
                      <a:lvl1pPr marL="0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1pPr>
                      <a:lvl2pPr marL="457155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2pPr>
                      <a:lvl3pPr marL="914309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3pPr>
                      <a:lvl4pPr marL="1371464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4pPr>
                      <a:lvl5pPr marL="1828618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5pPr>
                      <a:lvl6pPr marL="2285774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6pPr>
                      <a:lvl7pPr marL="2742926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7pPr>
                      <a:lvl8pPr marL="3200080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8pPr>
                      <a:lvl9pPr marL="3657235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9pPr>
                    </a:lstStyle>
                    <a:p>
                      <a:pPr algn="l" rtl="0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Голосовой робот дополнительные 1 000 </a:t>
                      </a:r>
                      <a:r>
                        <a:rPr lang="ru-RU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мин</a:t>
                      </a:r>
                      <a:r>
                        <a:rPr lang="ru-RU" sz="1000" b="0" i="0" u="none" strike="noStrike" baseline="300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1,2,3,4</a:t>
                      </a:r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1 000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В соответствии с основным пакетом минут</a:t>
                      </a:r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3 500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3,5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</a:rPr>
                        <a:t>До конца срока действия основного пакета минут</a:t>
                      </a:r>
                      <a:endParaRPr lang="ru-RU" sz="1000" b="0" i="0" u="none" strike="noStrike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1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5230723"/>
                  </a:ext>
                </a:extLst>
              </a:tr>
              <a:tr h="253938">
                <a:tc>
                  <a:txBody>
                    <a:bodyPr/>
                    <a:lstStyle>
                      <a:lvl1pPr marL="0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1pPr>
                      <a:lvl2pPr marL="457155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2pPr>
                      <a:lvl3pPr marL="914309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3pPr>
                      <a:lvl4pPr marL="1371464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4pPr>
                      <a:lvl5pPr marL="1828618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5pPr>
                      <a:lvl6pPr marL="2285774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6pPr>
                      <a:lvl7pPr marL="2742926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7pPr>
                      <a:lvl8pPr marL="3200080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8pPr>
                      <a:lvl9pPr marL="3657235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9pPr>
                    </a:lstStyle>
                    <a:p>
                      <a:pPr algn="l" rtl="0" fontAlgn="ctr"/>
                      <a:r>
                        <a:rPr lang="ru-RU" sz="10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Beeline Sans" panose="020B0500040202020204" pitchFamily="34" charset="0"/>
                        </a:rPr>
                        <a:t>Голосовой робот дополнительные 5 000 </a:t>
                      </a:r>
                      <a:r>
                        <a:rPr lang="ru-RU" sz="1000" b="0" i="0" u="none" strike="noStrike" dirty="0" smtClean="0">
                          <a:solidFill>
                            <a:sysClr val="windowText" lastClr="000000"/>
                          </a:solidFill>
                          <a:effectLst/>
                          <a:latin typeface="Beeline Sans" panose="020B0500040202020204" pitchFamily="34" charset="0"/>
                        </a:rPr>
                        <a:t>мин</a:t>
                      </a:r>
                      <a:r>
                        <a:rPr lang="ru-RU" sz="1000" b="0" i="0" u="none" strike="noStrike" baseline="30000" dirty="0" smtClean="0">
                          <a:solidFill>
                            <a:sysClr val="windowText" lastClr="000000"/>
                          </a:solidFill>
                          <a:effectLst/>
                          <a:latin typeface="Beeline Sans" panose="020B0500040202020204" pitchFamily="34" charset="0"/>
                        </a:rPr>
                        <a:t>1,2,3,4</a:t>
                      </a:r>
                      <a:endParaRPr lang="ru-RU" sz="10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>
                          <a:solidFill>
                            <a:sysClr val="windowText" lastClr="000000"/>
                          </a:solidFill>
                          <a:effectLst/>
                          <a:latin typeface="Beeline Sans" panose="020B0500040202020204" pitchFamily="34" charset="0"/>
                        </a:rPr>
                        <a:t>5 000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0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Beeline Sans" panose="020B0500040202020204" pitchFamily="34" charset="0"/>
                        </a:rPr>
                        <a:t>17 000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Beeline Sans" panose="020B0500040202020204" pitchFamily="34" charset="0"/>
                        </a:rPr>
                        <a:t>3,4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1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ru-RU" sz="1100" b="0" i="0" u="none" strike="noStrike" kern="1200" dirty="0">
                        <a:solidFill>
                          <a:sysClr val="windowText" lastClr="000000"/>
                        </a:solidFill>
                        <a:effectLst/>
                        <a:latin typeface="Beeline Sans" panose="020B0500040202020204" pitchFamily="34" charset="0"/>
                        <a:ea typeface="+mn-ea"/>
                        <a:cs typeface="+mn-cs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8618839"/>
                  </a:ext>
                </a:extLst>
              </a:tr>
              <a:tr h="253938">
                <a:tc>
                  <a:txBody>
                    <a:bodyPr/>
                    <a:lstStyle>
                      <a:lvl1pPr marL="0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1pPr>
                      <a:lvl2pPr marL="457155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2pPr>
                      <a:lvl3pPr marL="914309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3pPr>
                      <a:lvl4pPr marL="1371464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4pPr>
                      <a:lvl5pPr marL="1828618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5pPr>
                      <a:lvl6pPr marL="2285774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6pPr>
                      <a:lvl7pPr marL="2742926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7pPr>
                      <a:lvl8pPr marL="3200080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8pPr>
                      <a:lvl9pPr marL="3657235" algn="l" defTabSz="914309" rtl="0" eaLnBrk="1" latinLnBrk="0" hangingPunct="1">
                        <a:defRPr sz="1900" kern="1200">
                          <a:solidFill>
                            <a:schemeClr val="tx1"/>
                          </a:solidFill>
                          <a:latin typeface="Beeline Sans"/>
                        </a:defRPr>
                      </a:lvl9pPr>
                    </a:lstStyle>
                    <a:p>
                      <a:pPr algn="l" rtl="0" fontAlgn="ctr"/>
                      <a:r>
                        <a:rPr lang="ru-RU" sz="10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Beeline Sans" panose="020B0500040202020204" pitchFamily="34" charset="0"/>
                        </a:rPr>
                        <a:t>Голосовой робот дополнительные 10 000 </a:t>
                      </a:r>
                      <a:r>
                        <a:rPr lang="ru-RU" sz="1000" b="0" i="0" u="none" strike="noStrike" dirty="0" smtClean="0">
                          <a:solidFill>
                            <a:sysClr val="windowText" lastClr="000000"/>
                          </a:solidFill>
                          <a:effectLst/>
                          <a:latin typeface="Beeline Sans" panose="020B0500040202020204" pitchFamily="34" charset="0"/>
                        </a:rPr>
                        <a:t>мин</a:t>
                      </a:r>
                      <a:r>
                        <a:rPr lang="ru-RU" sz="1000" b="0" i="0" u="none" strike="noStrike" baseline="30000" dirty="0" smtClean="0">
                          <a:solidFill>
                            <a:sysClr val="windowText" lastClr="000000"/>
                          </a:solidFill>
                          <a:effectLst/>
                          <a:latin typeface="Beeline Sans" panose="020B0500040202020204" pitchFamily="34" charset="0"/>
                        </a:rPr>
                        <a:t>1,2,3,4</a:t>
                      </a:r>
                      <a:endParaRPr lang="ru-RU" sz="10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Beeline Sans" panose="020B0500040202020204" pitchFamily="34" charset="0"/>
                        </a:rPr>
                        <a:t>10 000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0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Beeline Sans" panose="020B0500040202020204" pitchFamily="34" charset="0"/>
                        </a:rPr>
                        <a:t>33 000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Beeline Sans" panose="020B0500040202020204" pitchFamily="34" charset="0"/>
                        </a:rPr>
                        <a:t>3,3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1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Beeline Sans" panose="020B050004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616811"/>
                  </a:ext>
                </a:extLst>
              </a:tr>
            </a:tbl>
          </a:graphicData>
        </a:graphic>
      </p:graphicFrame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1293451-55F0-1A36-F474-520D3BD85C64}"/>
              </a:ext>
            </a:extLst>
          </p:cNvPr>
          <p:cNvSpPr/>
          <p:nvPr/>
        </p:nvSpPr>
        <p:spPr>
          <a:xfrm>
            <a:off x="428015" y="4695071"/>
            <a:ext cx="10834345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 algn="just">
              <a:buAutoNum type="arabicPeriod"/>
            </a:pPr>
            <a:r>
              <a:rPr lang="ru-RU" sz="1000" spc="-5" dirty="0">
                <a:cs typeface="OfficinaSerifBookCTT"/>
              </a:rPr>
              <a:t>«Робот» - созданный с помощью ПО Правообладателя (ООО «</a:t>
            </a:r>
            <a:r>
              <a:rPr lang="ru-RU" sz="1000" spc="-5" dirty="0" err="1">
                <a:cs typeface="OfficinaSerifBookCTT"/>
              </a:rPr>
              <a:t>Таргет</a:t>
            </a:r>
            <a:r>
              <a:rPr lang="ru-RU" sz="1000" spc="-5" dirty="0">
                <a:cs typeface="OfficinaSerifBookCTT"/>
              </a:rPr>
              <a:t> Плюс», ИНН: 2901292779) программный оператор, инициирующий звонки в рамках одной соединительной линии, и ведущий диалог с вызываемыми абонентами. с использованием </a:t>
            </a:r>
            <a:r>
              <a:rPr lang="ru-RU" sz="1000" spc="-5" dirty="0" smtClean="0">
                <a:cs typeface="OfficinaSerifBookCTT"/>
              </a:rPr>
              <a:t>компонентов:</a:t>
            </a:r>
            <a:r>
              <a:rPr lang="en-US" sz="1000" spc="-5" dirty="0" smtClean="0">
                <a:cs typeface="OfficinaSerifBookCTT"/>
              </a:rPr>
              <a:t> TTS </a:t>
            </a:r>
            <a:r>
              <a:rPr lang="en-US" sz="1000" spc="-5" dirty="0">
                <a:cs typeface="OfficinaSerifBookCTT"/>
              </a:rPr>
              <a:t>(Text To Speech) – </a:t>
            </a:r>
            <a:r>
              <a:rPr lang="ru-RU" sz="1000" spc="-5" dirty="0">
                <a:cs typeface="OfficinaSerifBookCTT"/>
              </a:rPr>
              <a:t>преобразование текста в </a:t>
            </a:r>
            <a:r>
              <a:rPr lang="ru-RU" sz="1000" spc="-5" dirty="0" smtClean="0">
                <a:cs typeface="OfficinaSerifBookCTT"/>
              </a:rPr>
              <a:t>речь, </a:t>
            </a:r>
            <a:r>
              <a:rPr lang="en-US" sz="1000" spc="-5" dirty="0" smtClean="0">
                <a:cs typeface="OfficinaSerifBookCTT"/>
              </a:rPr>
              <a:t>ASR </a:t>
            </a:r>
            <a:r>
              <a:rPr lang="en-US" sz="1000" spc="-5" dirty="0">
                <a:cs typeface="OfficinaSerifBookCTT"/>
              </a:rPr>
              <a:t>(Automatic Speech Recognition) – </a:t>
            </a:r>
            <a:r>
              <a:rPr lang="ru-RU" sz="1000" spc="-5" dirty="0">
                <a:cs typeface="OfficinaSerifBookCTT"/>
              </a:rPr>
              <a:t>преобразование речи в </a:t>
            </a:r>
            <a:r>
              <a:rPr lang="ru-RU" sz="1000" spc="-5" dirty="0" smtClean="0">
                <a:cs typeface="OfficinaSerifBookCTT"/>
              </a:rPr>
              <a:t>текст, </a:t>
            </a:r>
            <a:r>
              <a:rPr lang="en-US" sz="1000" spc="-5" dirty="0" smtClean="0">
                <a:cs typeface="OfficinaSerifBookCTT"/>
              </a:rPr>
              <a:t>NLU </a:t>
            </a:r>
            <a:r>
              <a:rPr lang="en-US" sz="1000" spc="-5" dirty="0">
                <a:cs typeface="OfficinaSerifBookCTT"/>
              </a:rPr>
              <a:t>(Natural Language Processing) – </a:t>
            </a:r>
            <a:r>
              <a:rPr lang="ru-RU" sz="1000" spc="-5" dirty="0">
                <a:cs typeface="OfficinaSerifBookCTT"/>
              </a:rPr>
              <a:t>обработка естественного языка.</a:t>
            </a:r>
          </a:p>
          <a:p>
            <a:pPr marL="228600" indent="-228600" algn="just" defTabSz="914400">
              <a:buAutoNum type="arabicPeriod"/>
            </a:pPr>
            <a:r>
              <a:rPr lang="ru-RU" sz="1000" spc="-5" dirty="0" smtClean="0">
                <a:cs typeface="OfficinaSerifBookCTT"/>
              </a:rPr>
              <a:t>За </a:t>
            </a:r>
            <a:r>
              <a:rPr lang="ru-RU" sz="1000" spc="-5" dirty="0">
                <a:cs typeface="OfficinaSerifBookCTT"/>
              </a:rPr>
              <a:t>оказанные услуги Оператор ежемесячно</a:t>
            </a:r>
            <a:r>
              <a:rPr lang="en-US" sz="1000" spc="-5" dirty="0">
                <a:cs typeface="OfficinaSerifBookCTT"/>
              </a:rPr>
              <a:t> </a:t>
            </a:r>
            <a:r>
              <a:rPr lang="ru-RU" sz="1000" spc="-5" dirty="0">
                <a:cs typeface="OfficinaSerifBookCTT"/>
              </a:rPr>
              <a:t>(по истечении календарного месяца)</a:t>
            </a:r>
            <a:r>
              <a:rPr lang="en-US" sz="1000" spc="-5" dirty="0">
                <a:cs typeface="OfficinaSerifBookCTT"/>
              </a:rPr>
              <a:t> </a:t>
            </a:r>
            <a:r>
              <a:rPr lang="ru-RU" sz="1000" spc="-5" dirty="0">
                <a:cs typeface="OfficinaSerifBookCTT"/>
              </a:rPr>
              <a:t>выставляет Абоненту </a:t>
            </a:r>
            <a:r>
              <a:rPr lang="ru-RU" sz="1000" spc="-5" dirty="0" smtClean="0">
                <a:cs typeface="OfficinaSerifBookCTT"/>
              </a:rPr>
              <a:t>сч</a:t>
            </a:r>
            <a:r>
              <a:rPr lang="ru-RU" sz="1000" spc="-5" dirty="0">
                <a:cs typeface="OfficinaSerifBookCTT"/>
              </a:rPr>
              <a:t>ё</a:t>
            </a:r>
            <a:r>
              <a:rPr lang="ru-RU" sz="1000" spc="-5" dirty="0" smtClean="0">
                <a:cs typeface="OfficinaSerifBookCTT"/>
              </a:rPr>
              <a:t>т </a:t>
            </a:r>
            <a:r>
              <a:rPr lang="ru-RU" sz="1000" spc="-5" dirty="0">
                <a:cs typeface="OfficinaSerifBookCTT"/>
              </a:rPr>
              <a:t>в соответствии с действующими тарифами Оператора.</a:t>
            </a:r>
            <a:r>
              <a:rPr lang="en-US" sz="1000" spc="-5" dirty="0">
                <a:cs typeface="OfficinaSerifBookCTT"/>
              </a:rPr>
              <a:t> </a:t>
            </a:r>
            <a:endParaRPr lang="ru-RU" sz="1000" spc="-5" dirty="0">
              <a:cs typeface="OfficinaSerifBookCTT"/>
            </a:endParaRPr>
          </a:p>
          <a:p>
            <a:pPr marL="228600" indent="-228600" algn="just">
              <a:buAutoNum type="arabicPeriod"/>
            </a:pPr>
            <a:r>
              <a:rPr lang="ru-RU" sz="1000" spc="-5" dirty="0">
                <a:cs typeface="OfficinaSerifBookCTT"/>
              </a:rPr>
              <a:t>Период действия </a:t>
            </a:r>
            <a:r>
              <a:rPr lang="ru-RU" sz="1000" spc="-5" dirty="0" smtClean="0">
                <a:cs typeface="OfficinaSerifBookCTT"/>
              </a:rPr>
              <a:t>подключённого пакета </a:t>
            </a:r>
            <a:r>
              <a:rPr lang="ru-RU" sz="1000" spc="-5" dirty="0">
                <a:cs typeface="OfficinaSerifBookCTT"/>
              </a:rPr>
              <a:t>минут </a:t>
            </a:r>
            <a:r>
              <a:rPr lang="ru-RU" sz="1000" spc="-5" dirty="0" smtClean="0">
                <a:cs typeface="OfficinaSerifBookCTT"/>
              </a:rPr>
              <a:t>услуги Голосовой робот в ОАТС составляет </a:t>
            </a:r>
            <a:r>
              <a:rPr lang="ru-RU" sz="1000" spc="-5" dirty="0">
                <a:cs typeface="OfficinaSerifBookCTT"/>
              </a:rPr>
              <a:t>30 календарных дней. </a:t>
            </a:r>
            <a:r>
              <a:rPr lang="ru-RU" sz="1000" spc="-5" dirty="0" smtClean="0">
                <a:cs typeface="OfficinaSerifBookCTT"/>
              </a:rPr>
              <a:t>В </a:t>
            </a:r>
            <a:r>
              <a:rPr lang="ru-RU" sz="1000" spc="-5" dirty="0">
                <a:cs typeface="OfficinaSerifBookCTT"/>
              </a:rPr>
              <a:t>случае использования неполных минут осуществляется округление в большую сторону до минуты. В случае неиспользования включённых минут полностью или частично до конца срока действия пакета, неиспользованные </a:t>
            </a:r>
            <a:r>
              <a:rPr lang="ru-RU" sz="1000" spc="-5" dirty="0" smtClean="0">
                <a:cs typeface="OfficinaSerifBookCTT"/>
              </a:rPr>
              <a:t>минуты не переносятся на следующий месяц и не подлежат компенсации</a:t>
            </a:r>
            <a:r>
              <a:rPr lang="ru-RU" sz="1000" spc="-5" dirty="0">
                <a:cs typeface="OfficinaSerifBookCTT"/>
              </a:rPr>
              <a:t>.</a:t>
            </a:r>
          </a:p>
          <a:p>
            <a:pPr marL="228600" indent="-228600" algn="just">
              <a:buAutoNum type="arabicPeriod"/>
            </a:pPr>
            <a:r>
              <a:rPr lang="ru-RU" sz="1000" spc="-5" dirty="0">
                <a:cs typeface="OfficinaSerifBookCTT"/>
              </a:rPr>
              <a:t>Начисляется разово за каждый дополнительный пакет по исчерпании включённых минут основного пакета. </a:t>
            </a:r>
          </a:p>
          <a:p>
            <a:pPr algn="just"/>
            <a:r>
              <a:rPr lang="ru-RU" sz="1000" spc="-5" dirty="0">
                <a:cs typeface="OfficinaSerifBookCTT"/>
              </a:rPr>
              <a:t>* Тарифы </a:t>
            </a:r>
            <a:r>
              <a:rPr lang="ru-RU" sz="1000" spc="-5" dirty="0" smtClean="0">
                <a:cs typeface="OfficinaSerifBookCTT"/>
              </a:rPr>
              <a:t>включают в себя </a:t>
            </a:r>
            <a:r>
              <a:rPr lang="ru-RU" sz="1000" spc="-5" dirty="0">
                <a:cs typeface="OfficinaSerifBookCTT"/>
              </a:rPr>
              <a:t>только стоимость пакета минут сервиса Голосовой робот в ОАТС без учёта </a:t>
            </a:r>
            <a:r>
              <a:rPr lang="ru-RU" sz="1000" spc="-5" dirty="0" smtClean="0">
                <a:cs typeface="OfficinaSerifBookCTT"/>
              </a:rPr>
              <a:t>стоимости минуты вызова по тарифному плану абонентского номера, подключенного к услуге ОАТС.</a:t>
            </a:r>
            <a:endParaRPr lang="ru-RU" sz="1000" strike="sngStrike" spc="-5" dirty="0">
              <a:cs typeface="OfficinaSerifBookCTT"/>
            </a:endParaRPr>
          </a:p>
          <a:p>
            <a:pPr algn="just" defTabSz="914400"/>
            <a:r>
              <a:rPr lang="ru-RU" sz="1000" spc="-5" dirty="0">
                <a:cs typeface="OfficinaSerifBookCTT"/>
              </a:rPr>
              <a:t>** НДС не применяется на основании пп.26 ч.2 ст.149 НК РФ. Стоимость не включает в себя надбавку к тарифам в размере 1,2%.</a:t>
            </a:r>
          </a:p>
        </p:txBody>
      </p:sp>
    </p:spTree>
    <p:extLst>
      <p:ext uri="{BB962C8B-B14F-4D97-AF65-F5344CB8AC3E}">
        <p14:creationId xmlns:p14="http://schemas.microsoft.com/office/powerpoint/2010/main" val="396089568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1EDA0AC-921D-4240-B96C-50D453752670}" type="slidenum">
              <a:rPr lang="ru-RU" smtClean="0"/>
              <a:pPr/>
              <a:t>14</a:t>
            </a:fld>
            <a:endParaRPr lang="ru-RU" dirty="0"/>
          </a:p>
        </p:txBody>
      </p:sp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34347"/>
              </p:ext>
            </p:extLst>
          </p:nvPr>
        </p:nvGraphicFramePr>
        <p:xfrm>
          <a:off x="627342" y="536647"/>
          <a:ext cx="10589825" cy="5535360"/>
        </p:xfrm>
        <a:graphic>
          <a:graphicData uri="http://schemas.openxmlformats.org/drawingml/2006/table">
            <a:tbl>
              <a:tblPr firstRow="1" bandRow="1"/>
              <a:tblGrid>
                <a:gridCol w="2689723">
                  <a:extLst>
                    <a:ext uri="{9D8B030D-6E8A-4147-A177-3AD203B41FA5}">
                      <a16:colId xmlns:a16="http://schemas.microsoft.com/office/drawing/2014/main" val="1238850137"/>
                    </a:ext>
                  </a:extLst>
                </a:gridCol>
                <a:gridCol w="2533770">
                  <a:extLst>
                    <a:ext uri="{9D8B030D-6E8A-4147-A177-3AD203B41FA5}">
                      <a16:colId xmlns:a16="http://schemas.microsoft.com/office/drawing/2014/main" val="3410088306"/>
                    </a:ext>
                  </a:extLst>
                </a:gridCol>
                <a:gridCol w="1458548">
                  <a:extLst>
                    <a:ext uri="{9D8B030D-6E8A-4147-A177-3AD203B41FA5}">
                      <a16:colId xmlns:a16="http://schemas.microsoft.com/office/drawing/2014/main" val="3846455358"/>
                    </a:ext>
                  </a:extLst>
                </a:gridCol>
                <a:gridCol w="1302595">
                  <a:extLst>
                    <a:ext uri="{9D8B030D-6E8A-4147-A177-3AD203B41FA5}">
                      <a16:colId xmlns:a16="http://schemas.microsoft.com/office/drawing/2014/main" val="2957480929"/>
                    </a:ext>
                  </a:extLst>
                </a:gridCol>
                <a:gridCol w="2605189">
                  <a:extLst>
                    <a:ext uri="{9D8B030D-6E8A-4147-A177-3AD203B41FA5}">
                      <a16:colId xmlns:a16="http://schemas.microsoft.com/office/drawing/2014/main" val="1037862159"/>
                    </a:ext>
                  </a:extLst>
                </a:gridCol>
              </a:tblGrid>
              <a:tr h="218054">
                <a:tc gridSpan="5"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Основной </a:t>
                      </a:r>
                      <a:r>
                        <a:rPr lang="ru-RU" sz="10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пакет</a:t>
                      </a:r>
                      <a:endParaRPr lang="ru-RU" sz="1000" b="1" i="0" u="none" strike="noStrike" kern="1200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  <a:ea typeface="+mn-ea"/>
                        <a:cs typeface="+mn-cs"/>
                      </a:endParaRPr>
                    </a:p>
                  </a:txBody>
                  <a:tcPr marL="57701" marR="57701" marT="28851" marB="28851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300038"/>
                  </a:ext>
                </a:extLst>
              </a:tr>
              <a:tr h="23528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Название ПО, количество Пользователей 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701" marR="57701" marT="28851" marB="28851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Срок лицензии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Принцип начисления оплаты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Периодичность оплаты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Стоимость</a:t>
                      </a:r>
                      <a:r>
                        <a:rPr lang="ru-RU" sz="1000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, (</a:t>
                      </a:r>
                      <a:r>
                        <a:rPr lang="ru-RU" sz="1000" dirty="0" smtClean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НДС* </a:t>
                      </a:r>
                      <a:r>
                        <a:rPr lang="ru-RU" sz="1000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не облагается)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674874"/>
                  </a:ext>
                </a:extLst>
              </a:tr>
              <a:tr h="235285">
                <a:tc grid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Колл</a:t>
                      </a:r>
                      <a:r>
                        <a:rPr lang="ru-RU" sz="10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-центр </a:t>
                      </a:r>
                      <a:r>
                        <a:rPr lang="en-US" sz="10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PRO </a:t>
                      </a:r>
                      <a:r>
                        <a:rPr lang="ru-RU" sz="10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в Облачной АТС</a:t>
                      </a:r>
                      <a:endParaRPr lang="ru-RU" sz="1000" b="1" i="0" u="none" strike="noStrike" kern="1200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  <a:ea typeface="+mn-ea"/>
                        <a:cs typeface="+mn-cs"/>
                      </a:endParaRPr>
                    </a:p>
                  </a:txBody>
                  <a:tcPr marL="57701" marR="57701" marT="28851" marB="28851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5683815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«</a:t>
                      </a:r>
                      <a:r>
                        <a:rPr lang="ru-RU" sz="1000" dirty="0" err="1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Колл</a:t>
                      </a:r>
                      <a:r>
                        <a:rPr lang="ru-RU" sz="1000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-центр </a:t>
                      </a:r>
                      <a:r>
                        <a:rPr lang="ru-RU" sz="1000" dirty="0" err="1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Pro</a:t>
                      </a:r>
                      <a:r>
                        <a:rPr lang="ru-RU" sz="1000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»,  1 Пользователь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8049" marR="28049" marT="6011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 календарный день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Ежедневно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smtClean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Ежемесячно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150 ₽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522487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 календарных месяца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Разово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Каждые 3 мес.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8 700 ₽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9252894"/>
                  </a:ext>
                </a:extLst>
              </a:tr>
              <a:tr h="129387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 календарных месяцев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Разово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Каждые 6 мес.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15 600 ₽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7056916"/>
                  </a:ext>
                </a:extLst>
              </a:tr>
              <a:tr h="12421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 календарных месяцев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Разово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Ежегодно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28 800 ₽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1085300"/>
                  </a:ext>
                </a:extLst>
              </a:tr>
              <a:tr h="180000">
                <a:tc gridSpan="5"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Функциональные </a:t>
                      </a:r>
                      <a:r>
                        <a:rPr lang="ru-RU" sz="1000" b="1" dirty="0" smtClean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возможности </a:t>
                      </a:r>
                      <a:r>
                        <a:rPr lang="ru-RU" sz="1000" b="1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Колл</a:t>
                      </a:r>
                      <a:r>
                        <a:rPr lang="ru-RU" sz="10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-центр </a:t>
                      </a:r>
                      <a:r>
                        <a:rPr lang="en-US" sz="10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PRO</a:t>
                      </a:r>
                      <a:r>
                        <a:rPr lang="ru-RU" sz="1000" b="1" dirty="0" smtClean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, </a:t>
                      </a:r>
                      <a:r>
                        <a:rPr lang="ru-RU" sz="1000" b="1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входящие в основной пакет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701" marR="57701" marT="28851" marB="28851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0516859"/>
                  </a:ext>
                </a:extLst>
              </a:tr>
              <a:tr h="208800">
                <a:tc gridSpan="2">
                  <a:txBody>
                    <a:bodyPr/>
                    <a:lstStyle/>
                    <a:p>
                      <a:pPr marL="0" indent="0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Приём входящих звонков, совершение исходящих звонков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8049" marR="28049" marT="6011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+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701" marR="57701" marT="28851" marB="28851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905786"/>
                  </a:ext>
                </a:extLst>
              </a:tr>
              <a:tr h="208800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Возможность совершения 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повторных попыток звонков по контактам в количестве 5 попыток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8049" marR="28049" marT="6011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+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701" marR="57701" marT="28851" marB="28851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0633639"/>
                  </a:ext>
                </a:extLst>
              </a:tr>
              <a:tr h="208800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Запись и хранение звонков на срок 6 месяцев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8049" marR="28049" marT="6011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+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701" marR="57701" marT="28851" marB="28851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868465"/>
                  </a:ext>
                </a:extLst>
              </a:tr>
              <a:tr h="208800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Графические отчёты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8049" marR="28049" marT="6011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+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701" marR="57701" marT="28851" marB="28851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2591655"/>
                  </a:ext>
                </a:extLst>
              </a:tr>
              <a:tr h="208800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Прием заявок из различных источников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8049" marR="28049" marT="6011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+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701" marR="57701" marT="28851" marB="28851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1545254"/>
                  </a:ext>
                </a:extLst>
              </a:tr>
              <a:tr h="208800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Интеграция с 1 учётной записью конкретной CRM-системы (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AmoCRM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, </a:t>
                      </a:r>
                      <a:r>
                        <a:rPr lang="en-US" sz="1000" dirty="0" err="1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Bitrix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24 и др.)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8049" marR="28049" marT="6011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+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701" marR="57701" marT="28851" marB="28851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005869"/>
                  </a:ext>
                </a:extLst>
              </a:tr>
              <a:tr h="208800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Предиктивный </a:t>
                      </a:r>
                      <a:r>
                        <a:rPr lang="ru-RU" sz="1000" dirty="0" smtClean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и прогрессивный </a:t>
                      </a:r>
                      <a:r>
                        <a:rPr lang="ru-RU" sz="1000" dirty="0" err="1" smtClean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обзвон</a:t>
                      </a:r>
                      <a:r>
                        <a:rPr lang="ru-RU" sz="1000" dirty="0" smtClean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(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диалер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)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8049" marR="28049" marT="6011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+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701" marR="57701" marT="28851" marB="28851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5049565"/>
                  </a:ext>
                </a:extLst>
              </a:tr>
              <a:tr h="208800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Хранение данных и баз контактов на срок 6 месяцев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8049" marR="28049" marT="6011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+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701" marR="57701" marT="28851" marB="28851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791129"/>
                  </a:ext>
                </a:extLst>
              </a:tr>
              <a:tr h="208800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Сценарии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обзвона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(правила обработки звонков, создание скриптов для операторов, возможность заполнения результатов звонка).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8049" marR="28049" marT="6011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+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701" marR="57701" marT="28851" marB="28851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134938"/>
                  </a:ext>
                </a:extLst>
              </a:tr>
              <a:tr h="208800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Количество проектов (предиктивный и прогрессивный </a:t>
                      </a: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обзвон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) 50 шт.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8049" marR="28049" marT="6011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+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701" marR="57701" marT="28851" marB="28851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358914"/>
                  </a:ext>
                </a:extLst>
              </a:tr>
              <a:tr h="208800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Возможность хранения и обработки базы контактов в количестве до 1 млн. контактов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8049" marR="28049" marT="6011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+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701" marR="57701" marT="28851" marB="28851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5341600"/>
                  </a:ext>
                </a:extLst>
              </a:tr>
              <a:tr h="208800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Поиск дублей контактов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8049" marR="28049" marT="6011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+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701" marR="57701" marT="28851" marB="28851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270873"/>
                  </a:ext>
                </a:extLst>
              </a:tr>
              <a:tr h="208800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Установка событий и напоминаний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8049" marR="28049" marT="6011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+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701" marR="57701" marT="28851" marB="28851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0598461"/>
                  </a:ext>
                </a:extLst>
              </a:tr>
              <a:tr h="208800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Рабочее место оператора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8049" marR="28049" marT="6011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+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701" marR="57701" marT="28851" marB="28851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252505"/>
                  </a:ext>
                </a:extLst>
              </a:tr>
              <a:tr h="208800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 err="1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Геймификация</a:t>
                      </a: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 KPI **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8049" marR="28049" marT="6011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+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7701" marR="57701" marT="28851" marB="28851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9443976"/>
                  </a:ext>
                </a:extLst>
              </a:tr>
            </a:tbl>
          </a:graphicData>
        </a:graphic>
      </p:graphicFrame>
      <p:sp>
        <p:nvSpPr>
          <p:cNvPr id="12" name="Прямоугольник 11"/>
          <p:cNvSpPr/>
          <p:nvPr/>
        </p:nvSpPr>
        <p:spPr>
          <a:xfrm>
            <a:off x="627342" y="6073521"/>
            <a:ext cx="1080265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ru-RU" sz="900" dirty="0">
                <a:latin typeface="Beeline Sans" panose="020B0500040202020204" pitchFamily="34" charset="-52"/>
                <a:ea typeface="Times New Roman" panose="02020603050405020304" pitchFamily="18" charset="0"/>
              </a:rPr>
              <a:t>* </a:t>
            </a:r>
            <a:r>
              <a:rPr lang="ru-RU" sz="900" spc="-5" dirty="0">
                <a:cs typeface="OfficinaSerifBookCTT"/>
              </a:rPr>
              <a:t>Предоставляется на основании </a:t>
            </a:r>
            <a:r>
              <a:rPr lang="ru-RU" sz="900" spc="-5" dirty="0" err="1">
                <a:cs typeface="OfficinaSerifBookCTT"/>
              </a:rPr>
              <a:t>сублицензирования</a:t>
            </a:r>
            <a:r>
              <a:rPr lang="ru-RU" sz="900" spc="-5" dirty="0">
                <a:cs typeface="OfficinaSerifBookCTT"/>
              </a:rPr>
              <a:t> прав на использование ПО. Стоимость указана без учёта НДС. Стоимость лицензии не облагается НДС на основании пп.26 ч.2 ст.149 НК РФ.</a:t>
            </a:r>
          </a:p>
          <a:p>
            <a:pPr algn="just">
              <a:spcAft>
                <a:spcPts val="0"/>
              </a:spcAft>
            </a:pPr>
            <a:r>
              <a:rPr lang="ru-RU" sz="900" spc="-5" dirty="0">
                <a:cs typeface="OfficinaSerifBookCTT"/>
              </a:rPr>
              <a:t>** Визуализация </a:t>
            </a:r>
            <a:r>
              <a:rPr lang="en-US" sz="900" spc="-5" dirty="0">
                <a:cs typeface="OfficinaSerifBookCTT"/>
              </a:rPr>
              <a:t>KPI </a:t>
            </a:r>
            <a:r>
              <a:rPr lang="ru-RU" sz="900" spc="-5" dirty="0">
                <a:cs typeface="OfficinaSerifBookCTT"/>
              </a:rPr>
              <a:t>оператора для повышения </a:t>
            </a:r>
            <a:r>
              <a:rPr lang="ru-RU" sz="900" spc="-5" dirty="0" err="1">
                <a:cs typeface="OfficinaSerifBookCTT"/>
              </a:rPr>
              <a:t>вовлечённости</a:t>
            </a:r>
            <a:r>
              <a:rPr lang="ru-RU" sz="900" spc="-5" dirty="0">
                <a:cs typeface="OfficinaSerifBookCTT"/>
              </a:rPr>
              <a:t> оператора.</a:t>
            </a:r>
          </a:p>
        </p:txBody>
      </p:sp>
    </p:spTree>
    <p:extLst>
      <p:ext uri="{BB962C8B-B14F-4D97-AF65-F5344CB8AC3E}">
        <p14:creationId xmlns:p14="http://schemas.microsoft.com/office/powerpoint/2010/main" val="2520655094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1EDA0AC-921D-4240-B96C-50D453752670}" type="slidenum">
              <a:rPr lang="ru-RU" smtClean="0"/>
              <a:pPr/>
              <a:t>15</a:t>
            </a:fld>
            <a:endParaRPr lang="ru-RU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070395"/>
              </p:ext>
            </p:extLst>
          </p:nvPr>
        </p:nvGraphicFramePr>
        <p:xfrm>
          <a:off x="362574" y="639890"/>
          <a:ext cx="10917653" cy="5397597"/>
        </p:xfrm>
        <a:graphic>
          <a:graphicData uri="http://schemas.openxmlformats.org/drawingml/2006/table">
            <a:tbl>
              <a:tblPr firstRow="1" bandRow="1"/>
              <a:tblGrid>
                <a:gridCol w="5993579">
                  <a:extLst>
                    <a:ext uri="{9D8B030D-6E8A-4147-A177-3AD203B41FA5}">
                      <a16:colId xmlns:a16="http://schemas.microsoft.com/office/drawing/2014/main" val="3471521845"/>
                    </a:ext>
                  </a:extLst>
                </a:gridCol>
                <a:gridCol w="3157136">
                  <a:extLst>
                    <a:ext uri="{9D8B030D-6E8A-4147-A177-3AD203B41FA5}">
                      <a16:colId xmlns:a16="http://schemas.microsoft.com/office/drawing/2014/main" val="3522699427"/>
                    </a:ext>
                  </a:extLst>
                </a:gridCol>
                <a:gridCol w="1766938">
                  <a:extLst>
                    <a:ext uri="{9D8B030D-6E8A-4147-A177-3AD203B41FA5}">
                      <a16:colId xmlns:a16="http://schemas.microsoft.com/office/drawing/2014/main" val="4000090619"/>
                    </a:ext>
                  </a:extLst>
                </a:gridCol>
              </a:tblGrid>
              <a:tr h="266043">
                <a:tc gridSpan="3">
                  <a:txBody>
                    <a:bodyPr/>
                    <a:lstStyle/>
                    <a:p>
                      <a:pPr marL="0" indent="18034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Дополнительный функционал </a:t>
                      </a:r>
                      <a:r>
                        <a:rPr lang="ru-RU" sz="10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ПО</a:t>
                      </a:r>
                      <a:r>
                        <a:rPr lang="en-US" sz="10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**</a:t>
                      </a:r>
                      <a:r>
                        <a:rPr lang="ru-RU" sz="10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000" b="1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Колл</a:t>
                      </a:r>
                      <a:r>
                        <a:rPr lang="ru-RU" sz="10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-центр </a:t>
                      </a:r>
                      <a:r>
                        <a:rPr lang="en-US" sz="10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PRO </a:t>
                      </a:r>
                      <a:r>
                        <a:rPr lang="ru-RU" sz="10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в ОАТС</a:t>
                      </a:r>
                      <a:endParaRPr lang="ru-RU" sz="1000" b="1" i="0" u="none" strike="noStrike" kern="1200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6023645"/>
                  </a:ext>
                </a:extLst>
              </a:tr>
              <a:tr h="319893">
                <a:tc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Описание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Оплата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Стоимость</a:t>
                      </a:r>
                      <a:r>
                        <a:rPr lang="ru-RU" sz="1000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, (НДС* не облагается)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895" marR="53895" marT="26948" marB="26948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0327236"/>
                  </a:ext>
                </a:extLst>
              </a:tr>
              <a:tr h="1662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Объем данных. Выделенный сервер на срок 6 календарных месяцев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199" marR="26199" marT="5614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единовременно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895" marR="53895" marT="26948" marB="26948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540 000 ₽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8636459"/>
                  </a:ext>
                </a:extLst>
              </a:tr>
              <a:tr h="1662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Объем данных. Хранение контактов +1 млн. контактов на срок 12 календарных месяцев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199" marR="26199" marT="5614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единовременно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895" marR="53895" marT="26948" marB="26948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50 000 ₽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8428247"/>
                  </a:ext>
                </a:extLst>
              </a:tr>
              <a:tr h="1662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Объем данных. Хранение контактов +1 млн. контактов на срок 6 календарных месяцев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199" marR="26199" marT="5614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единовременно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895" marR="53895" marT="26948" marB="26948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30 000 ₽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4260643"/>
                  </a:ext>
                </a:extLst>
              </a:tr>
              <a:tr h="4195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Объем данных. Хранение записей разговоров и статистики активности по контактам на срок 6 календарных месяцев в дополнение к  базовому сроку 6 календарных мес. (Хранение 12 календарных месяцев)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199" marR="26199" marT="5614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единовременно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895" marR="53895" marT="26948" marB="26948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20 000 ₽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7992359"/>
                  </a:ext>
                </a:extLst>
              </a:tr>
              <a:tr h="4195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Объем данных. Хранение записей разговоров и статистики активности по контактам на срок 12 календарных месяцев в дополнение к  базовому сроку 6 календарных мес. (Хранение 18 календарных месяцев)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199" marR="26199" marT="5614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единовременно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895" marR="53895" marT="26948" marB="26948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30 000 ₽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5912144"/>
                  </a:ext>
                </a:extLst>
              </a:tr>
              <a:tr h="4195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Объем данных. Хранение записей разговоров и статистики активности по контактам на срок 18 календарных месяцев в дополнение к  базовому сроку 6 календарных мес. (Хранение 24 календарных месяцев)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199" marR="26199" marT="5614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единовременно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895" marR="53895" marT="26948" marB="26948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40 000 ₽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0179452"/>
                  </a:ext>
                </a:extLst>
              </a:tr>
              <a:tr h="25067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Телефония. Подключение к ПО 1 (одной) дополнительной телефонии Клиента по технологии SIP-транка без авторизации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199" marR="26199" marT="5614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единовременно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895" marR="53895" marT="26948" marB="26948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10 000 ₽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6202391"/>
                  </a:ext>
                </a:extLst>
              </a:tr>
              <a:tr h="1662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Абонентская плата за функцию учёта только фактически звонящих Пользователей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199" marR="26199" marT="5614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единовременно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895" marR="53895" marT="26948" marB="26948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10 000 ₽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6158657"/>
                  </a:ext>
                </a:extLst>
              </a:tr>
              <a:tr h="25067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Телефония. Подключение к ПО 1 (одной) дополнительной телефонии Клиента по технологии SIP-транк с авторизацией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199" marR="26199" marT="5614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единовременно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895" marR="53895" marT="26948" marB="26948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2 000 ₽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411291"/>
                  </a:ext>
                </a:extLst>
              </a:tr>
              <a:tr h="10677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Телефония. Подключение входящего номера Клиента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199" marR="26199" marT="5614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единовременно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895" marR="53895" marT="26948" marB="26948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1 000 ₽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6859434"/>
                  </a:ext>
                </a:extLst>
              </a:tr>
              <a:tr h="1662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Проекты. Дополнительные проекты сверх базовых 50 проектов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199" marR="26199" marT="5614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ежемесячно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895" marR="53895" marT="26948" marB="26948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1 000 ₽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350474"/>
                  </a:ext>
                </a:extLst>
              </a:tr>
              <a:tr h="1662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Проекты. Дополнительные попытки повторных звонков (1 шт.) сверх базовых 5 попыток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199" marR="26199" marT="5614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ежемесячно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895" marR="53895" marT="26948" marB="26948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2 000 ₽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6394328"/>
                  </a:ext>
                </a:extLst>
              </a:tr>
              <a:tr h="1662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Настройки безопасности и конфиденциальности при работе в ПО с CRM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199" marR="26199" marT="5614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ежемесячно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895" marR="53895" marT="26948" marB="26948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 </a:t>
                      </a: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000 ₽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1375843"/>
                  </a:ext>
                </a:extLst>
              </a:tr>
              <a:tr h="1662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Множественная интеграция с CRM (использование нескольких аккаунтов CRM)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199" marR="26199" marT="5614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ежемесячно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895" marR="53895" marT="26948" marB="26948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5 000 ₽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619558"/>
                  </a:ext>
                </a:extLst>
              </a:tr>
              <a:tr h="10677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Интеграция iFrame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199" marR="26199" marT="5614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ежемесячно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895" marR="53895" marT="26948" marB="26948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5 000 ₽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8298913"/>
                  </a:ext>
                </a:extLst>
              </a:tr>
              <a:tr h="10677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Запись разговоров в стерео-формате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199" marR="26199" marT="5614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ежемесячно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895" marR="53895" marT="26948" marB="26948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3 000 ₽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723755"/>
                  </a:ext>
                </a:extLst>
              </a:tr>
              <a:tr h="10677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Телефония. Подключение технологии SIP URI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199" marR="26199" marT="5614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ежемесячно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895" marR="53895" marT="26948" marB="26948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2 000 ₽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0105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1365917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1EDA0AC-921D-4240-B96C-50D453752670}" type="slidenum">
              <a:rPr lang="ru-RU" smtClean="0"/>
              <a:pPr/>
              <a:t>16</a:t>
            </a:fld>
            <a:endParaRPr lang="ru-RU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091184"/>
              </p:ext>
            </p:extLst>
          </p:nvPr>
        </p:nvGraphicFramePr>
        <p:xfrm>
          <a:off x="376238" y="669829"/>
          <a:ext cx="10917653" cy="1598778"/>
        </p:xfrm>
        <a:graphic>
          <a:graphicData uri="http://schemas.openxmlformats.org/drawingml/2006/table">
            <a:tbl>
              <a:tblPr firstRow="1" bandRow="1"/>
              <a:tblGrid>
                <a:gridCol w="5993579">
                  <a:extLst>
                    <a:ext uri="{9D8B030D-6E8A-4147-A177-3AD203B41FA5}">
                      <a16:colId xmlns:a16="http://schemas.microsoft.com/office/drawing/2014/main" val="2213881184"/>
                    </a:ext>
                  </a:extLst>
                </a:gridCol>
                <a:gridCol w="3157136">
                  <a:extLst>
                    <a:ext uri="{9D8B030D-6E8A-4147-A177-3AD203B41FA5}">
                      <a16:colId xmlns:a16="http://schemas.microsoft.com/office/drawing/2014/main" val="2821668113"/>
                    </a:ext>
                  </a:extLst>
                </a:gridCol>
                <a:gridCol w="1766938">
                  <a:extLst>
                    <a:ext uri="{9D8B030D-6E8A-4147-A177-3AD203B41FA5}">
                      <a16:colId xmlns:a16="http://schemas.microsoft.com/office/drawing/2014/main" val="3980402313"/>
                    </a:ext>
                  </a:extLst>
                </a:gridCol>
              </a:tblGrid>
              <a:tr h="236104">
                <a:tc gridSpan="3">
                  <a:txBody>
                    <a:bodyPr/>
                    <a:lstStyle/>
                    <a:p>
                      <a:pPr marL="0" indent="18034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Дополнительный функционал </a:t>
                      </a:r>
                      <a:r>
                        <a:rPr lang="ru-RU" sz="10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ПО</a:t>
                      </a:r>
                      <a:r>
                        <a:rPr lang="en-US" sz="10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**</a:t>
                      </a:r>
                      <a:r>
                        <a:rPr lang="ru-RU" sz="10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000" b="1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Колл</a:t>
                      </a:r>
                      <a:r>
                        <a:rPr lang="ru-RU" sz="10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-центр </a:t>
                      </a:r>
                      <a:r>
                        <a:rPr lang="en-US" sz="10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PRO </a:t>
                      </a:r>
                      <a:r>
                        <a:rPr lang="ru-RU" sz="10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в</a:t>
                      </a:r>
                      <a:r>
                        <a:rPr lang="ru-RU" sz="1000" b="1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Beeline Sans" panose="020B0500040202020204" pitchFamily="34" charset="0"/>
                          <a:ea typeface="+mn-ea"/>
                          <a:cs typeface="+mn-cs"/>
                        </a:rPr>
                        <a:t> ОАТС</a:t>
                      </a:r>
                      <a:endParaRPr lang="ru-RU" sz="1000" b="1" i="0" u="none" strike="noStrike" kern="1200" dirty="0">
                        <a:solidFill>
                          <a:schemeClr val="tx1"/>
                        </a:solidFill>
                        <a:effectLst/>
                        <a:latin typeface="Beeline Sans" panose="020B0500040202020204" pitchFamily="34" charset="0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7244842"/>
                  </a:ext>
                </a:extLst>
              </a:tr>
              <a:tr h="275678">
                <a:tc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Описание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Оплата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180340"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Стоимость</a:t>
                      </a:r>
                      <a:r>
                        <a:rPr lang="ru-RU" sz="1000" dirty="0"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</a:rPr>
                        <a:t>, (НДС* не облагается)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895" marR="53895" marT="26948" marB="26948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2320438"/>
                  </a:ext>
                </a:extLst>
              </a:tr>
              <a:tr h="1662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Телефония. Подключение 1 (одной) сторонней АТС и/или телефонии Клиента. Оплата за фактический объём исходящих минут, проходящий через ПО. Стоимость 1 минуты.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199" marR="26199" marT="5614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ежемесячно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895" marR="53895" marT="26948" marB="26948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0,25 ₽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6057270"/>
                  </a:ext>
                </a:extLst>
              </a:tr>
              <a:tr h="1662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Телефония. Абонентская плата за входящий номер Клиента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199" marR="26199" marT="5614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ежемесячно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895" marR="53895" marT="26948" marB="26948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500 ₽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8797545"/>
                  </a:ext>
                </a:extLst>
              </a:tr>
              <a:tr h="1662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Суфлирование (на администратора)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199" marR="26199" marT="5614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ежемесячно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895" marR="53895" marT="26948" marB="26948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1 000 ₽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1837995"/>
                  </a:ext>
                </a:extLst>
              </a:tr>
              <a:tr h="16622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Гостевой доступ **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*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6199" marR="26199" marT="5614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ежемесячно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53895" marR="53895" marT="26948" marB="26948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solidFill>
                            <a:srgbClr val="000000"/>
                          </a:solidFill>
                          <a:effectLst/>
                          <a:latin typeface="Beeline Sans" panose="020B0500040202020204" pitchFamily="34" charset="-52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800 ₽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7012312"/>
                  </a:ext>
                </a:extLst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376237" y="2427081"/>
            <a:ext cx="1091765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ru-RU" sz="900" dirty="0">
                <a:ea typeface="Times New Roman" panose="02020603050405020304" pitchFamily="18" charset="0"/>
              </a:rPr>
              <a:t>* Предоставляется на основании </a:t>
            </a:r>
            <a:r>
              <a:rPr lang="ru-RU" sz="900" dirty="0" err="1">
                <a:ea typeface="Times New Roman" panose="02020603050405020304" pitchFamily="18" charset="0"/>
              </a:rPr>
              <a:t>сублицензирования</a:t>
            </a:r>
            <a:r>
              <a:rPr lang="ru-RU" sz="900" dirty="0">
                <a:ea typeface="Times New Roman" panose="02020603050405020304" pitchFamily="18" charset="0"/>
              </a:rPr>
              <a:t> прав на использование ПО. Стоимость указана без учёта НДС. Стоимость лицензии не облагается НДС на основании пп.26 ч.2 ст.149 НК РФ.</a:t>
            </a:r>
          </a:p>
          <a:p>
            <a:pPr algn="just">
              <a:spcAft>
                <a:spcPts val="0"/>
              </a:spcAft>
            </a:pPr>
            <a:r>
              <a:rPr lang="ru-RU" sz="900" dirty="0">
                <a:ea typeface="Times New Roman" panose="02020603050405020304" pitchFamily="18" charset="0"/>
              </a:rPr>
              <a:t>** Дополнительный функционал ПО активируется Клиентом самостоятельно в личном кабинете Услуги «Колл-центр PRO» при условии приобретения лицензии из основного пакета. При активации Клиентом в личном кабинете ПО дополнительного функционала ПО к стоимости лицензии Основного пакета добавляется стоимость активированных дополнительных функций ПО.</a:t>
            </a:r>
          </a:p>
          <a:p>
            <a:pPr algn="just">
              <a:spcAft>
                <a:spcPts val="0"/>
              </a:spcAft>
            </a:pPr>
            <a:r>
              <a:rPr lang="ru-RU" sz="900" dirty="0">
                <a:ea typeface="Times New Roman" panose="02020603050405020304" pitchFamily="18" charset="0"/>
              </a:rPr>
              <a:t>*** Данный дополнительный функционал позволяет Клиенту предоставлять в течение срока действия лицензии доступ к ПО Пользователям Клиента с функционалом ограниченным только просмотром и выгрузкой отчётов из системы. При этом доступ к другим разделам в личном кабинете закрыт.</a:t>
            </a:r>
          </a:p>
          <a:p>
            <a:pPr algn="just">
              <a:spcAft>
                <a:spcPts val="0"/>
              </a:spcAft>
            </a:pPr>
            <a:endParaRPr lang="ru-RU" sz="900" dirty="0"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sz="900" dirty="0">
                <a:ea typeface="Times New Roman" panose="02020603050405020304" pitchFamily="18" charset="0"/>
              </a:rPr>
              <a:t> </a:t>
            </a:r>
          </a:p>
          <a:p>
            <a:pPr>
              <a:spcAft>
                <a:spcPts val="0"/>
              </a:spcAft>
            </a:pPr>
            <a:r>
              <a:rPr lang="ru-RU" sz="900" dirty="0">
                <a:ea typeface="Times New Roman" panose="02020603050405020304" pitchFamily="18" charset="0"/>
              </a:rPr>
              <a:t>  </a:t>
            </a:r>
          </a:p>
          <a:p>
            <a:pPr>
              <a:spcAft>
                <a:spcPts val="0"/>
              </a:spcAft>
            </a:pPr>
            <a:r>
              <a:rPr lang="ru-RU" sz="900" b="1" dirty="0" smtClean="0">
                <a:ea typeface="Times New Roman" panose="02020603050405020304" pitchFamily="18" charset="0"/>
              </a:rPr>
              <a:t>ПРИМЕЧАНИЯ:</a:t>
            </a:r>
            <a:endParaRPr lang="ru-RU" sz="900" dirty="0" smtClean="0"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ru-RU" sz="900" dirty="0">
                <a:solidFill>
                  <a:srgbClr val="000000"/>
                </a:solidFill>
                <a:latin typeface="Beeline Sans" panose="020B0500040202020204" pitchFamily="34" charset="-52"/>
                <a:ea typeface="Times New Roman" panose="02020603050405020304" pitchFamily="18" charset="0"/>
              </a:rPr>
              <a:t>Клиент имеет возможность подключения Услуги «Колл-центр Pro» для различного количества Пользователей без ограничений.</a:t>
            </a:r>
            <a:endParaRPr lang="ru-RU" sz="9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ru-RU" sz="900" dirty="0">
                <a:solidFill>
                  <a:srgbClr val="000000"/>
                </a:solidFill>
                <a:latin typeface="Beeline Sans" panose="020B0500040202020204" pitchFamily="34" charset="-52"/>
                <a:ea typeface="Times New Roman" panose="02020603050405020304" pitchFamily="18" charset="0"/>
              </a:rPr>
              <a:t>Тарификация за услугу </a:t>
            </a:r>
            <a:r>
              <a:rPr lang="ru-RU" sz="900" dirty="0">
                <a:latin typeface="Beeline Sans" panose="020B0500040202020204" pitchFamily="34" charset="-52"/>
                <a:ea typeface="Times New Roman" panose="02020603050405020304" pitchFamily="18" charset="0"/>
                <a:cs typeface="Segoe UI" panose="020B0502040204020203" pitchFamily="34" charset="0"/>
              </a:rPr>
              <a:t>начинается </a:t>
            </a:r>
            <a:r>
              <a:rPr lang="ru-RU" sz="900" b="1" dirty="0">
                <a:latin typeface="Beeline Sans" panose="020B0500040202020204" pitchFamily="34" charset="-52"/>
                <a:ea typeface="Times New Roman" panose="02020603050405020304" pitchFamily="18" charset="0"/>
                <a:cs typeface="Segoe UI" panose="020B0502040204020203" pitchFamily="34" charset="0"/>
              </a:rPr>
              <a:t>после совершения 20-го звонка</a:t>
            </a:r>
            <a:r>
              <a:rPr lang="ru-RU" sz="900" dirty="0">
                <a:latin typeface="Beeline Sans" panose="020B0500040202020204" pitchFamily="34" charset="-52"/>
                <a:ea typeface="Times New Roman" panose="02020603050405020304" pitchFamily="18" charset="0"/>
                <a:cs typeface="Segoe UI" panose="020B0502040204020203" pitchFamily="34" charset="0"/>
              </a:rPr>
              <a:t> с помощью услуги, а не с момента подключения.</a:t>
            </a:r>
            <a:endParaRPr lang="ru-RU" sz="9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ru-RU" sz="900" dirty="0">
                <a:solidFill>
                  <a:srgbClr val="000000"/>
                </a:solidFill>
                <a:latin typeface="Beeline Sans" panose="020B0500040202020204" pitchFamily="34" charset="-52"/>
                <a:ea typeface="Times New Roman" panose="02020603050405020304" pitchFamily="18" charset="0"/>
              </a:rPr>
              <a:t>Периодичность оплаты «ежемесячно» означает, что счёт на оплату стоимости лицензии на ПО будет выставляться по окончании каждого отчётного периода (1 календарный месяц), в котором Абонент использовал соответствующие лицензии на ПО за всех пользователей.</a:t>
            </a:r>
            <a:endParaRPr lang="ru-RU" sz="9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ru-RU" sz="900" dirty="0">
                <a:solidFill>
                  <a:srgbClr val="000000"/>
                </a:solidFill>
                <a:latin typeface="Beeline Sans" panose="020B0500040202020204" pitchFamily="34" charset="-52"/>
                <a:ea typeface="Times New Roman" panose="02020603050405020304" pitchFamily="18" charset="0"/>
              </a:rPr>
              <a:t>Периодичность оплаты «ежегодно», «каждые 3 мес.», «каждые 6 мес.» означает, что лицензии на ПО предоставляются с соответствующим сроком действия, для оплаты на будущий период необходимо приобрести лицензию на ПО на следующий период в интерфейсе ПО.</a:t>
            </a:r>
            <a:endParaRPr lang="ru-RU" sz="9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ru-RU" sz="900" dirty="0">
                <a:solidFill>
                  <a:srgbClr val="000000"/>
                </a:solidFill>
                <a:latin typeface="Beeline Sans" panose="020B0500040202020204" pitchFamily="34" charset="-52"/>
                <a:ea typeface="Times New Roman" panose="02020603050405020304" pitchFamily="18" charset="0"/>
              </a:rPr>
              <a:t>Принцип начисления оплаты «разово» означает, что начисления оплаты будет произведено единовременно в открытом расчётном периоде, при этом счёт на оплату стоимости лицензии на ПО будет выставлен по окончании первого отчётного периода (1 календарный месяц), в котором Абонент начал использование соответствующей лицензии на ПО.</a:t>
            </a:r>
            <a:endParaRPr lang="ru-RU" sz="9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ru-RU" sz="900" dirty="0">
                <a:solidFill>
                  <a:srgbClr val="000000"/>
                </a:solidFill>
                <a:latin typeface="Beeline Sans" panose="020B0500040202020204" pitchFamily="34" charset="-52"/>
                <a:ea typeface="Times New Roman" panose="02020603050405020304" pitchFamily="18" charset="0"/>
              </a:rPr>
              <a:t>Принцип начисления оплаты «ежедневно» означает, что </a:t>
            </a:r>
            <a:r>
              <a:rPr lang="ru-RU" sz="900" dirty="0" err="1">
                <a:solidFill>
                  <a:srgbClr val="000000"/>
                </a:solidFill>
                <a:latin typeface="Beeline Sans" panose="020B0500040202020204" pitchFamily="34" charset="-52"/>
                <a:ea typeface="Times New Roman" panose="02020603050405020304" pitchFamily="18" charset="0"/>
              </a:rPr>
              <a:t>билайн</a:t>
            </a:r>
            <a:r>
              <a:rPr lang="ru-RU" sz="900" dirty="0">
                <a:solidFill>
                  <a:srgbClr val="000000"/>
                </a:solidFill>
                <a:latin typeface="Beeline Sans" panose="020B0500040202020204" pitchFamily="34" charset="-52"/>
                <a:ea typeface="Times New Roman" panose="02020603050405020304" pitchFamily="18" charset="0"/>
              </a:rPr>
              <a:t> будет производить ежедневные начисления в открытом расчётном периоде за то количество лицензий (пользователей), которое будет использовано в данный календарный день месяца, при этом счёт на оплату стоимости лицензии на ПО будет выставляться по окончании отчётного периода (1 календарный месяц) за весь объём использованных лицензий.</a:t>
            </a:r>
            <a:endParaRPr lang="ru-RU" sz="9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9750225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Iy_36em8hzZ6.qpRZDzv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I_fmJVl67FplJf0rgs4w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I_fmJVl67FplJf0rgs4w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I_fmJVl67FplJf0rgs4w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I_fmJVl67FplJf0rgs4w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I_fmJVl67FplJf0rgs4w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I_fmJVl67FplJf0rgs4wA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I_fmJVl67FplJf0rgs4wA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I_fmJVl67FplJf0rgs4wA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I_fmJVl67FplJf0rgs4wA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I_fmJVl67FplJf0rgs4wA"/>
</p:tagLst>
</file>

<file path=ppt/theme/theme1.xml><?xml version="1.0" encoding="utf-8"?>
<a:theme xmlns:a="http://schemas.openxmlformats.org/drawingml/2006/main" name="Duotone. Title">
  <a:themeElements>
    <a:clrScheme name="Custom 24">
      <a:dk1>
        <a:srgbClr val="1E1E1E"/>
      </a:dk1>
      <a:lt1>
        <a:srgbClr val="FFFFFF"/>
      </a:lt1>
      <a:dk2>
        <a:srgbClr val="1E1E1E"/>
      </a:dk2>
      <a:lt2>
        <a:srgbClr val="F8F8F8"/>
      </a:lt2>
      <a:accent1>
        <a:srgbClr val="FFC800"/>
      </a:accent1>
      <a:accent2>
        <a:srgbClr val="F59B19"/>
      </a:accent2>
      <a:accent3>
        <a:srgbClr val="00C8F0"/>
      </a:accent3>
      <a:accent4>
        <a:srgbClr val="1EBEAA"/>
      </a:accent4>
      <a:accent5>
        <a:srgbClr val="0032FA"/>
      </a:accent5>
      <a:accent6>
        <a:srgbClr val="6332C8"/>
      </a:accent6>
      <a:hlink>
        <a:srgbClr val="F07300"/>
      </a:hlink>
      <a:folHlink>
        <a:srgbClr val="E5093B"/>
      </a:folHlink>
    </a:clrScheme>
    <a:fontScheme name="Custom 4">
      <a:majorFont>
        <a:latin typeface="Beeline Sans"/>
        <a:ea typeface=""/>
        <a:cs typeface=""/>
      </a:majorFont>
      <a:minorFont>
        <a:latin typeface="Beelin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50000"/>
          </a:schemeClr>
        </a:solidFill>
        <a:ln>
          <a:noFill/>
        </a:ln>
      </a:spPr>
      <a:bodyPr lIns="0" tIns="0" rIns="0" bIns="0" rtlCol="0" anchor="ctr"/>
      <a:lstStyle>
        <a:defPPr algn="ctr">
          <a:defRPr sz="1400" dirty="0" err="1" smtClean="0">
            <a:latin typeface="Arial" charset="0"/>
            <a:ea typeface="Arial" charset="0"/>
            <a:cs typeface="Arial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>
              <a:lumMod val="90000"/>
              <a:lumOff val="10000"/>
              <a:alpha val="2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efault Theme" id="{334D0C1A-514E-0440-A6C1-12D06AEE0E8F}" vid="{3D2ED8D7-6BB6-EE43-A177-AE2CD9A63D24}"/>
    </a:ext>
  </a:extLst>
</a:theme>
</file>

<file path=ppt/theme/theme2.xml><?xml version="1.0" encoding="utf-8"?>
<a:theme xmlns:a="http://schemas.openxmlformats.org/drawingml/2006/main" name="Duotone. Content">
  <a:themeElements>
    <a:clrScheme name="Custom 24">
      <a:dk1>
        <a:srgbClr val="1E1E1E"/>
      </a:dk1>
      <a:lt1>
        <a:srgbClr val="FFFFFF"/>
      </a:lt1>
      <a:dk2>
        <a:srgbClr val="1E1E1E"/>
      </a:dk2>
      <a:lt2>
        <a:srgbClr val="F8F8F8"/>
      </a:lt2>
      <a:accent1>
        <a:srgbClr val="FFC800"/>
      </a:accent1>
      <a:accent2>
        <a:srgbClr val="F59B19"/>
      </a:accent2>
      <a:accent3>
        <a:srgbClr val="00C8F0"/>
      </a:accent3>
      <a:accent4>
        <a:srgbClr val="1EBEAA"/>
      </a:accent4>
      <a:accent5>
        <a:srgbClr val="0032FA"/>
      </a:accent5>
      <a:accent6>
        <a:srgbClr val="6332C8"/>
      </a:accent6>
      <a:hlink>
        <a:srgbClr val="F07300"/>
      </a:hlink>
      <a:folHlink>
        <a:srgbClr val="E5093B"/>
      </a:folHlink>
    </a:clrScheme>
    <a:fontScheme name="Custom 4">
      <a:majorFont>
        <a:latin typeface="Beeline Sans"/>
        <a:ea typeface=""/>
        <a:cs typeface=""/>
      </a:majorFont>
      <a:minorFont>
        <a:latin typeface="Beelin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50000"/>
          </a:schemeClr>
        </a:solidFill>
        <a:ln>
          <a:noFill/>
        </a:ln>
      </a:spPr>
      <a:bodyPr lIns="0" tIns="0" rIns="0" bIns="0" rtlCol="0" anchor="ctr"/>
      <a:lstStyle>
        <a:defPPr algn="ctr">
          <a:defRPr sz="1400" dirty="0" err="1" smtClean="0">
            <a:latin typeface="Arial" charset="0"/>
            <a:ea typeface="Arial" charset="0"/>
            <a:cs typeface="Arial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>
              <a:lumMod val="90000"/>
              <a:lumOff val="10000"/>
              <a:alpha val="2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efault Theme" id="{334D0C1A-514E-0440-A6C1-12D06AEE0E8F}" vid="{3D2ED8D7-6BB6-EE43-A177-AE2CD9A63D2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41394</TotalTime>
  <Words>4206</Words>
  <Application>Microsoft Office PowerPoint</Application>
  <PresentationFormat>Произвольный</PresentationFormat>
  <Paragraphs>717</Paragraphs>
  <Slides>16</Slides>
  <Notes>10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2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8" baseType="lpstr">
      <vt:lpstr>Arial</vt:lpstr>
      <vt:lpstr>Arial Black</vt:lpstr>
      <vt:lpstr>Beeline Sans</vt:lpstr>
      <vt:lpstr>Beeline Sans V0.3 Black</vt:lpstr>
      <vt:lpstr>Beeline Sans V0.3 Regular</vt:lpstr>
      <vt:lpstr>Calibri</vt:lpstr>
      <vt:lpstr>OfficinaSerifBookCTT</vt:lpstr>
      <vt:lpstr>Segoe UI</vt:lpstr>
      <vt:lpstr>Times New Roman</vt:lpstr>
      <vt:lpstr>Duotone. Title</vt:lpstr>
      <vt:lpstr>Duotone. Content</vt:lpstr>
      <vt:lpstr>Слайд think-cell</vt:lpstr>
      <vt:lpstr>Тарифы на услугу Облачная АТС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administrator</cp:lastModifiedBy>
  <cp:revision>659</cp:revision>
  <cp:lastPrinted>2017-08-06T18:41:35Z</cp:lastPrinted>
  <dcterms:created xsi:type="dcterms:W3CDTF">2017-08-04T16:03:42Z</dcterms:created>
  <dcterms:modified xsi:type="dcterms:W3CDTF">2026-06-15T02:40:13Z</dcterms:modified>
</cp:coreProperties>
</file>